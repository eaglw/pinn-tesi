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5B907E-7D9E-48C9-B85B-D97ED318B6F1}">
  <a:tblStyle styleId="{A55B907E-7D9E-48C9-B85B-D97ED318B6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b78fc47f6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fb78fc47f6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1d7b711ac6137de6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1d7b711ac6137de6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maionese e qualche altra cosa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61bea7f3a4f8afa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61bea7f3a4f8afa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5ed231b9d621d0dd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h5ed231b9d621d0dd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7736fbc2b4c5ba4e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7736fbc2b4c5ba4e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Condensare con slide precedente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1d7b711ac6137de6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1d7b711ac6137de6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da inserire nel literature gap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1fb3df5526c250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1fb3df5526c250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da inserire nel literature gap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5ed231b9d621d0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h5ed231b9d621d0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61bea7f3a4f8afab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61bea7f3a4f8afab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Condensare tutto il concetto delle pinn: che cos ‘è loss e come si inserisce la fisica dentro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be9a665d1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be9a665d1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out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bae2b31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bae2b31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Appis black box, c’è il limite di estrapolare al di fuori del dominio dei punti usati per il training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b78fc47f6_2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b78fc47f6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1573e524d8e314cf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h1573e524d8e314cf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i="1" lang="it">
                <a:solidFill>
                  <a:schemeClr val="dk1"/>
                </a:solidFill>
              </a:rPr>
              <a:t>"Il punto di rottura rispetto al machine learning convenzionale è che non trattiamo la fisica come un dataset di training, ma come un vincolo strutturale all'interno della loss function. Grazie alla differenziazione automatica, la rete 'conosce' le derivate esatte della PDE. Questo permette di lavorare in contesti mesh-free e con pochissimi dati sperimentali."</a:t>
            </a:r>
            <a:endParaRPr i="1">
              <a:solidFill>
                <a:schemeClr val="dk1"/>
              </a:solidFill>
            </a:endParaRPr>
          </a:p>
          <a:p>
            <a:pPr indent="0" lvl="0" marL="0" rtl="0" algn="l">
              <a:lnSpc>
                <a:spcPct val="115000"/>
              </a:lnSpc>
              <a:spcBef>
                <a:spcPts val="1200"/>
              </a:spcBef>
              <a:spcAft>
                <a:spcPts val="1200"/>
              </a:spcAft>
              <a:buNone/>
            </a:pPr>
            <a:r>
              <a:rPr i="1" lang="it">
                <a:solidFill>
                  <a:schemeClr val="dk1"/>
                </a:solidFill>
              </a:rPr>
              <a:t>mi serve qyualcosa su automatic differtentiatio</a:t>
            </a:r>
            <a:endParaRPr i="1">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bb57816df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fbb57816df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a:solidFill>
                  <a:schemeClr val="dk1"/>
                </a:solidFill>
              </a:rPr>
              <a:t>paper di backpropagatoin proprio di hinton come reference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5985d31fa6a9914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h5985d31fa6a9914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bb57816df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fbb57816df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it">
                <a:solidFill>
                  <a:schemeClr val="dk1"/>
                </a:solidFill>
              </a:rPr>
              <a:t>tagliare proprio tutto da qua diciamo solo che esistono previous cases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fbe9a665d1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fbe9a665d1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fbb57816df_5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fbb57816df_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i="1" lang="it">
                <a:solidFill>
                  <a:schemeClr val="dk1"/>
                </a:solidFill>
              </a:rPr>
              <a:t>funziona, devo mettere dei risultati decenti. </a:t>
            </a:r>
            <a:endParaRPr i="1">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it">
                <a:solidFill>
                  <a:schemeClr val="dk1"/>
                </a:solidFill>
              </a:rPr>
              <a:t>"Il takeaway più forte è che la rete è riuscita a ricostruire fedelmente l'intero campo di pressione senza aver mai visto una singola misura di pressione, ma solo velocità sparse. Questo evidenzia il potenziale reale delle PINN: non semplici solutori per sostituire OpenFOAM o codici commerciali, ma strumenti potenti di data-assimilation e stima di grandezze latenti da misure sperimentali rumorose."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be9a665d1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be9a665d1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cose più leggibili</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fbb57816df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fbb57816df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fbb6856301_2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fbb6856301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 evitare problemi di convergenza derivanti dall'accoppiamento rigido di Navier-Stokes viscoelastico, gli autori disaccoppiano il problema: prima risolvono l'equazione costitutiva per identificare sforzi e modello reologico; poi congelano lo stress network e risolvono il bilancio della quantità di moto per ricavare pressione e viscosità del solvente. Anche qui, la conservazione della massa è garantita alla radice tramite la stream function $\psi$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h5985d31fa6a9914f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h5985d31fa6a9914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5985d31fa6a9914f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h5985d31fa6a9914f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h5ed231b9d621d0d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h5ed231b9d621d0d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1d7b711ac6137de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h1d7b711ac6137de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fbb6856301_29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fbb6856301_29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vero valore applicativo di ViscoelasticNet risiede nell'integrazione con tecniche come la micro-PIV. Sperimentalmente è facile misurare campi di velocità, ma quasi impossibile misurare direttamente il tensore degli sforzi polimerici o la pressione in geometrie complesse. Questo framework estrae la reologia direttamente dall'osservazione del moto, aprendo la strada alla caratterizzazione fluidodinamica in-situ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h5ed231b9d621d0dd_0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h5ed231b9d621d0dd_0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aumentare dimensioni numeri</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h1d7b711ac6137de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h1d7b711ac6137de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h4a5b233786fdcce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h4a5b233786fdcce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h5985d31fa6a9914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h5985d31fa6a9914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h5985d31fa6a991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h5985d31fa6a991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h5ed231b9d621d0dd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h5ed231b9d621d0dd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Valore di errore sulla convergenza di tutti i parametri su tutto il dominio tabella magari</a:t>
            </a:r>
            <a:endParaRPr/>
          </a:p>
          <a:p>
            <a:pPr indent="0" lvl="0" marL="0" rtl="0" algn="l">
              <a:spcBef>
                <a:spcPts val="0"/>
              </a:spcBef>
              <a:spcAft>
                <a:spcPts val="0"/>
              </a:spcAft>
              <a:buNone/>
            </a:pPr>
            <a:r>
              <a:rPr lang="it"/>
              <a:t>provare differenza tra mesh sui vari campi</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h5ed231b9d621d0dd_0_1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h5ed231b9d621d0dd_0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h5ed231b9d621d0dd_0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h5ed231b9d621d0dd_0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h5ed231b9d621d0dd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h5ed231b9d621d0dd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h5ed231b9d621d0dd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h5ed231b9d621d0dd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h1d7b711ac6137de6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h1d7b711ac6137de6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1d7b711ac6137de6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h1d7b711ac6137de6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Dare nome dei boundary e sul boundary dire cosa è imposto sotto forma di equazioni e a voce dico cosa rappresentano</a:t>
            </a:r>
            <a:endParaRPr/>
          </a:p>
          <a:p>
            <a:pPr indent="0" lvl="0" marL="0" rtl="0" algn="l">
              <a:spcBef>
                <a:spcPts val="0"/>
              </a:spcBef>
              <a:spcAft>
                <a:spcPts val="0"/>
              </a:spcAft>
              <a:buNone/>
            </a:pPr>
            <a:r>
              <a:rPr lang="it"/>
              <a:t>appis staged training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1d7b711ac6137de6_0_1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h1d7b711ac6137de6_0_1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h61bea7f3a4f8afa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h61bea7f3a4f8afa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4a5b233786fdcce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h4a5b233786fdcce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appendere errore assoluto solo relativo e zoommato</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h4a5b233786fdcc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h4a5b233786fdcc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h4a5b233786fdcce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h4a5b233786fdcce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h589d44c5cbc09595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h589d44c5cbc09595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h1d7b711ac6137de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h1d7b711ac6137de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h4a5b233786fdcce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h4a5b233786fdcce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4a5b233786fdcce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h4a5b233786fdcce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h1d7b711ac6137de6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h1d7b711ac6137de6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h1d7b711ac6137de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h1d7b711ac6137de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h748575b512b089a0_7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h748575b512b089a0_7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h748575b512b089a0_7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h748575b512b089a0_7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h4e80dd5925884b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h4e80dd5925884b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7736fbc2b4c5ba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h7736fbc2b4c5ba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h748575b512b089a0_7_1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h748575b512b089a0_7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fb78fc47f6_9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3fb78fc47f6_9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fb78fc47f6_8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fb78fc47f6_8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fbe9a665d1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fbe9a665d1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78fc47f6_15_0)">
  <p:cSld name="Generated (g3fb78fc47f6_15_0)">
    <p:spTree>
      <p:nvGrpSpPr>
        <p:cNvPr id="9" name="Shape 9"/>
        <p:cNvGrpSpPr/>
        <p:nvPr/>
      </p:nvGrpSpPr>
      <p:grpSpPr>
        <a:xfrm>
          <a:off x="0" y="0"/>
          <a:ext cx="0" cy="0"/>
          <a:chOff x="0" y="0"/>
          <a:chExt cx="0" cy="0"/>
        </a:xfrm>
      </p:grpSpPr>
      <p:sp>
        <p:nvSpPr>
          <p:cNvPr id="10" name="Google Shape;10;p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48575b512b089a0_28_0)">
  <p:cSld name="Generated (h748575b512b089a0_28_0)">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3.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27.jpg"/><Relationship Id="rId7"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74.gif"/></Relationships>
</file>

<file path=ppt/slides/_rels/slide16.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5.png"/><Relationship Id="rId13" Type="http://schemas.openxmlformats.org/officeDocument/2006/relationships/image" Target="../media/image34.png"/><Relationship Id="rId12" Type="http://schemas.openxmlformats.org/officeDocument/2006/relationships/image" Target="../media/image38.png"/><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30.png"/><Relationship Id="rId9" Type="http://schemas.openxmlformats.org/officeDocument/2006/relationships/image" Target="../media/image32.png"/><Relationship Id="rId15" Type="http://schemas.openxmlformats.org/officeDocument/2006/relationships/image" Target="../media/image41.png"/><Relationship Id="rId14" Type="http://schemas.openxmlformats.org/officeDocument/2006/relationships/image" Target="../media/image45.png"/><Relationship Id="rId16" Type="http://schemas.openxmlformats.org/officeDocument/2006/relationships/image" Target="../media/image39.png"/><Relationship Id="rId5" Type="http://schemas.openxmlformats.org/officeDocument/2006/relationships/image" Target="../media/image4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50.png"/><Relationship Id="rId5" Type="http://schemas.openxmlformats.org/officeDocument/2006/relationships/image" Target="../media/image49.png"/><Relationship Id="rId6" Type="http://schemas.openxmlformats.org/officeDocument/2006/relationships/image" Target="../media/image54.png"/><Relationship Id="rId7" Type="http://schemas.openxmlformats.org/officeDocument/2006/relationships/image" Target="../media/image6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8.png"/><Relationship Id="rId5" Type="http://schemas.openxmlformats.org/officeDocument/2006/relationships/image" Target="../media/image56.png"/><Relationship Id="rId6"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99.png"/><Relationship Id="rId5" Type="http://schemas.openxmlformats.org/officeDocument/2006/relationships/image" Target="../media/image57.png"/><Relationship Id="rId6" Type="http://schemas.openxmlformats.org/officeDocument/2006/relationships/image" Target="../media/image64.png"/><Relationship Id="rId7" Type="http://schemas.openxmlformats.org/officeDocument/2006/relationships/image" Target="../media/image63.png"/><Relationship Id="rId8" Type="http://schemas.openxmlformats.org/officeDocument/2006/relationships/image" Target="../media/image6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67.png"/><Relationship Id="rId5" Type="http://schemas.openxmlformats.org/officeDocument/2006/relationships/image" Target="../media/image6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10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110.png"/><Relationship Id="rId9" Type="http://schemas.openxmlformats.org/officeDocument/2006/relationships/image" Target="../media/image73.png"/><Relationship Id="rId5" Type="http://schemas.openxmlformats.org/officeDocument/2006/relationships/image" Target="../media/image76.png"/><Relationship Id="rId6" Type="http://schemas.openxmlformats.org/officeDocument/2006/relationships/image" Target="../media/image81.png"/><Relationship Id="rId7" Type="http://schemas.openxmlformats.org/officeDocument/2006/relationships/image" Target="../media/image79.png"/><Relationship Id="rId8" Type="http://schemas.openxmlformats.org/officeDocument/2006/relationships/image" Target="../media/image7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82.png"/><Relationship Id="rId4" Type="http://schemas.openxmlformats.org/officeDocument/2006/relationships/image" Target="../media/image78.png"/><Relationship Id="rId9" Type="http://schemas.openxmlformats.org/officeDocument/2006/relationships/image" Target="../media/image85.png"/><Relationship Id="rId5" Type="http://schemas.openxmlformats.org/officeDocument/2006/relationships/image" Target="../media/image83.png"/><Relationship Id="rId6" Type="http://schemas.openxmlformats.org/officeDocument/2006/relationships/image" Target="../media/image116.png"/><Relationship Id="rId7" Type="http://schemas.openxmlformats.org/officeDocument/2006/relationships/image" Target="../media/image80.png"/><Relationship Id="rId8" Type="http://schemas.openxmlformats.org/officeDocument/2006/relationships/image" Target="../media/image1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121.png"/><Relationship Id="rId5" Type="http://schemas.openxmlformats.org/officeDocument/2006/relationships/image" Target="../media/image84.png"/><Relationship Id="rId6" Type="http://schemas.openxmlformats.org/officeDocument/2006/relationships/image" Target="../media/image8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9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9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9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8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image" Target="../media/image10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1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82.png"/><Relationship Id="rId4" Type="http://schemas.openxmlformats.org/officeDocument/2006/relationships/image" Target="../media/image97.png"/><Relationship Id="rId5" Type="http://schemas.openxmlformats.org/officeDocument/2006/relationships/image" Target="../media/image123.png"/><Relationship Id="rId6" Type="http://schemas.openxmlformats.org/officeDocument/2006/relationships/image" Target="../media/image10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2.png"/><Relationship Id="rId4" Type="http://schemas.openxmlformats.org/officeDocument/2006/relationships/image" Target="../media/image9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9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82.png"/><Relationship Id="rId4" Type="http://schemas.openxmlformats.org/officeDocument/2006/relationships/image" Target="../media/image1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1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82.png"/><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102.png"/><Relationship Id="rId4" Type="http://schemas.openxmlformats.org/officeDocument/2006/relationships/image" Target="../media/image1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1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10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102.png"/><Relationship Id="rId4" Type="http://schemas.openxmlformats.org/officeDocument/2006/relationships/image" Target="../media/image10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115.png"/><Relationship Id="rId4" Type="http://schemas.openxmlformats.org/officeDocument/2006/relationships/image" Target="../media/image119.png"/><Relationship Id="rId5" Type="http://schemas.openxmlformats.org/officeDocument/2006/relationships/image" Target="../media/image117.png"/><Relationship Id="rId6" Type="http://schemas.openxmlformats.org/officeDocument/2006/relationships/image" Target="../media/image120.png"/><Relationship Id="rId7" Type="http://schemas.openxmlformats.org/officeDocument/2006/relationships/image" Target="../media/image1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2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grpSp>
        <p:nvGrpSpPr>
          <p:cNvPr id="57" name="Google Shape;57;p15"/>
          <p:cNvGrpSpPr/>
          <p:nvPr/>
        </p:nvGrpSpPr>
        <p:grpSpPr>
          <a:xfrm>
            <a:off x="0" y="0"/>
            <a:ext cx="9144000" cy="5143500"/>
            <a:chOff x="0" y="0"/>
            <a:chExt cx="9144000" cy="5143500"/>
          </a:xfrm>
        </p:grpSpPr>
        <p:sp>
          <p:nvSpPr>
            <p:cNvPr id="58" name="Google Shape;58;p15"/>
            <p:cNvSpPr/>
            <p:nvPr/>
          </p:nvSpPr>
          <p:spPr>
            <a:xfrm>
              <a:off x="0" y="0"/>
              <a:ext cx="9144000" cy="5143500"/>
            </a:xfrm>
            <a:prstGeom prst="rect">
              <a:avLst/>
            </a:prstGeom>
            <a:solidFill>
              <a:srgbClr val="0B0D1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5"/>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5"/>
            <p:cNvSpPr/>
            <p:nvPr/>
          </p:nvSpPr>
          <p:spPr>
            <a:xfrm>
              <a:off x="381000" y="38100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5"/>
            <p:cNvSpPr/>
            <p:nvPr/>
          </p:nvSpPr>
          <p:spPr>
            <a:xfrm rot="10800000">
              <a:off x="8667600" y="466710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cxnSp>
        <p:nvCxnSpPr>
          <p:cNvPr id="62" name="Google Shape;62;p15"/>
          <p:cNvCxnSpPr/>
          <p:nvPr/>
        </p:nvCxnSpPr>
        <p:spPr>
          <a:xfrm>
            <a:off x="762000" y="1333500"/>
            <a:ext cx="476400" cy="0"/>
          </a:xfrm>
          <a:prstGeom prst="straightConnector1">
            <a:avLst/>
          </a:prstGeom>
          <a:solidFill>
            <a:srgbClr val="FFFFFF"/>
          </a:solidFill>
          <a:ln cap="flat" cmpd="sng" w="19050">
            <a:solidFill>
              <a:srgbClr val="3B82F6"/>
            </a:solidFill>
            <a:prstDash val="solid"/>
            <a:round/>
            <a:headEnd len="sm" w="sm" type="none"/>
            <a:tailEnd len="sm" w="sm" type="none"/>
          </a:ln>
        </p:spPr>
      </p:cxnSp>
      <p:sp>
        <p:nvSpPr>
          <p:cNvPr id="63" name="Google Shape;63;p15"/>
          <p:cNvSpPr txBox="1"/>
          <p:nvPr/>
        </p:nvSpPr>
        <p:spPr>
          <a:xfrm>
            <a:off x="762000" y="1447800"/>
            <a:ext cx="7620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750">
                <a:solidFill>
                  <a:srgbClr val="3B82F6"/>
                </a:solidFill>
                <a:latin typeface="Inter Medium"/>
                <a:ea typeface="Inter Medium"/>
                <a:cs typeface="Inter Medium"/>
                <a:sym typeface="Inter Medium"/>
              </a:rPr>
              <a:t>RESEARCH DISSERTATION</a:t>
            </a:r>
            <a:endParaRPr b="0" sz="750">
              <a:solidFill>
                <a:srgbClr val="3B82F6"/>
              </a:solidFill>
              <a:latin typeface="Inter Medium"/>
              <a:ea typeface="Inter Medium"/>
              <a:cs typeface="Inter Medium"/>
              <a:sym typeface="Inter Medium"/>
            </a:endParaRPr>
          </a:p>
        </p:txBody>
      </p:sp>
      <p:sp>
        <p:nvSpPr>
          <p:cNvPr id="64" name="Google Shape;64;p15"/>
          <p:cNvSpPr txBox="1"/>
          <p:nvPr/>
        </p:nvSpPr>
        <p:spPr>
          <a:xfrm>
            <a:off x="762000" y="1762125"/>
            <a:ext cx="7620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2400">
                <a:solidFill>
                  <a:srgbClr val="F8F9FA"/>
                </a:solidFill>
                <a:latin typeface="Inter SemiBold"/>
                <a:ea typeface="Inter SemiBold"/>
                <a:cs typeface="Inter SemiBold"/>
                <a:sym typeface="Inter SemiBold"/>
              </a:rPr>
              <a:t>Characterization of viscoelastic flows in a four-roll mill with physics-informed neural networks</a:t>
            </a:r>
            <a:endParaRPr b="0" sz="2400">
              <a:solidFill>
                <a:srgbClr val="F8F9FA"/>
              </a:solidFill>
              <a:latin typeface="Inter SemiBold"/>
              <a:ea typeface="Inter SemiBold"/>
              <a:cs typeface="Inter SemiBold"/>
              <a:sym typeface="Inter SemiBold"/>
            </a:endParaRPr>
          </a:p>
        </p:txBody>
      </p:sp>
      <p:cxnSp>
        <p:nvCxnSpPr>
          <p:cNvPr id="65" name="Google Shape;65;p15"/>
          <p:cNvCxnSpPr/>
          <p:nvPr/>
        </p:nvCxnSpPr>
        <p:spPr>
          <a:xfrm>
            <a:off x="762000" y="3143250"/>
            <a:ext cx="7620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66" name="Google Shape;66;p15"/>
          <p:cNvSpPr txBox="1"/>
          <p:nvPr/>
        </p:nvSpPr>
        <p:spPr>
          <a:xfrm>
            <a:off x="762000" y="3381375"/>
            <a:ext cx="3810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25">
                <a:solidFill>
                  <a:srgbClr val="F8F9FA"/>
                </a:solidFill>
                <a:latin typeface="Inter Medium"/>
                <a:ea typeface="Inter Medium"/>
                <a:cs typeface="Inter Medium"/>
                <a:sym typeface="Inter Medium"/>
              </a:rPr>
              <a:t>Daniele Infante</a:t>
            </a:r>
            <a:endParaRPr b="0" sz="1125">
              <a:solidFill>
                <a:srgbClr val="F8F9FA"/>
              </a:solidFill>
              <a:latin typeface="Inter Medium"/>
              <a:ea typeface="Inter Medium"/>
              <a:cs typeface="Inter Medium"/>
              <a:sym typeface="Inter Medium"/>
            </a:endParaRPr>
          </a:p>
          <a:p>
            <a:pPr indent="0" lvl="0" marL="0" rtl="0" algn="l">
              <a:spcBef>
                <a:spcPts val="450"/>
              </a:spcBef>
              <a:spcAft>
                <a:spcPts val="0"/>
              </a:spcAft>
              <a:buClr>
                <a:schemeClr val="dk1"/>
              </a:buClr>
              <a:buSzPts val="1100"/>
              <a:buFont typeface="Arial"/>
              <a:buNone/>
            </a:pPr>
            <a:r>
              <a:rPr lang="it" sz="975">
                <a:solidFill>
                  <a:srgbClr val="94A3B8"/>
                </a:solidFill>
                <a:latin typeface="Inter Light"/>
                <a:ea typeface="Inter Light"/>
                <a:cs typeface="Inter Light"/>
                <a:sym typeface="Inter Light"/>
              </a:rPr>
              <a:t>Maurizio De Micco</a:t>
            </a:r>
            <a:endParaRPr sz="1125">
              <a:solidFill>
                <a:srgbClr val="F8F9FA"/>
              </a:solidFill>
              <a:latin typeface="Inter Medium"/>
              <a:ea typeface="Inter Medium"/>
              <a:cs typeface="Inter Medium"/>
              <a:sym typeface="Inter Medium"/>
            </a:endParaRPr>
          </a:p>
          <a:p>
            <a:pPr indent="0" lvl="0" marL="0" rtl="0" algn="l">
              <a:spcBef>
                <a:spcPts val="300"/>
              </a:spcBef>
              <a:spcAft>
                <a:spcPts val="0"/>
              </a:spcAft>
              <a:buNone/>
            </a:pPr>
            <a:r>
              <a:rPr lang="it" sz="975">
                <a:solidFill>
                  <a:srgbClr val="94A3B8"/>
                </a:solidFill>
                <a:latin typeface="Inter Light"/>
                <a:ea typeface="Inter Light"/>
                <a:cs typeface="Inter Light"/>
                <a:sym typeface="Inter Light"/>
              </a:rPr>
              <a:t>Massimiliano Maria Villone</a:t>
            </a:r>
            <a:endParaRPr sz="975">
              <a:solidFill>
                <a:srgbClr val="94A3B8"/>
              </a:solidFill>
              <a:latin typeface="Inter Light"/>
              <a:ea typeface="Inter Light"/>
              <a:cs typeface="Inter Light"/>
              <a:sym typeface="Inter Light"/>
            </a:endParaRPr>
          </a:p>
          <a:p>
            <a:pPr indent="0" lvl="0" marL="0" rtl="0" algn="l">
              <a:spcBef>
                <a:spcPts val="300"/>
              </a:spcBef>
              <a:spcAft>
                <a:spcPts val="0"/>
              </a:spcAft>
              <a:buNone/>
            </a:pPr>
            <a:r>
              <a:rPr b="0" lang="it" sz="975">
                <a:solidFill>
                  <a:srgbClr val="94A3B8"/>
                </a:solidFill>
                <a:latin typeface="Inter Light"/>
                <a:ea typeface="Inter Light"/>
                <a:cs typeface="Inter Light"/>
                <a:sym typeface="Inter Light"/>
              </a:rPr>
              <a:t>September 2026</a:t>
            </a:r>
            <a:endParaRPr b="0" sz="975">
              <a:solidFill>
                <a:srgbClr val="94A3B8"/>
              </a:solidFill>
              <a:latin typeface="Inter Light"/>
              <a:ea typeface="Inter Light"/>
              <a:cs typeface="Inter Light"/>
              <a:sym typeface="Inter Light"/>
            </a:endParaRPr>
          </a:p>
        </p:txBody>
      </p:sp>
      <p:sp>
        <p:nvSpPr>
          <p:cNvPr id="67" name="Google Shape;67;p1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p:nvPr/>
        </p:nvSpPr>
        <p:spPr>
          <a:xfrm>
            <a:off x="381000" y="28575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6"/>
          <p:cNvSpPr/>
          <p:nvPr/>
        </p:nvSpPr>
        <p:spPr>
          <a:xfrm rot="10800000">
            <a:off x="8667600" y="476235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6"/>
          <p:cNvSpPr txBox="1"/>
          <p:nvPr>
            <p:ph type="title"/>
          </p:nvPr>
        </p:nvSpPr>
        <p:spPr>
          <a:xfrm>
            <a:off x="381000" y="428625"/>
            <a:ext cx="8382000" cy="6669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i="0" lang="it" sz="740" u="none" strike="noStrike">
                <a:solidFill>
                  <a:srgbClr val="3B82F6"/>
                </a:solidFill>
                <a:latin typeface="Inter SemiBold"/>
                <a:ea typeface="Inter SemiBold"/>
                <a:cs typeface="Inter SemiBold"/>
                <a:sym typeface="Inter SemiBold"/>
              </a:rPr>
              <a:t>INTRODUCTION</a:t>
            </a:r>
            <a:endParaRPr b="0" i="0" sz="740" u="none" strike="noStrike">
              <a:solidFill>
                <a:srgbClr val="3B82F6"/>
              </a:solidFill>
              <a:latin typeface="Inter SemiBold"/>
              <a:ea typeface="Inter SemiBold"/>
              <a:cs typeface="Inter SemiBold"/>
              <a:sym typeface="Inter SemiBold"/>
            </a:endParaRPr>
          </a:p>
          <a:p>
            <a:pPr indent="0" lvl="0" marL="0" rtl="0" algn="l">
              <a:spcBef>
                <a:spcPts val="300"/>
              </a:spcBef>
              <a:spcAft>
                <a:spcPts val="300"/>
              </a:spcAft>
              <a:buNone/>
            </a:pPr>
            <a:r>
              <a:rPr b="0" i="0" lang="it" sz="1900" u="none" strike="noStrike">
                <a:solidFill>
                  <a:srgbClr val="F8F9FA"/>
                </a:solidFill>
                <a:latin typeface="Inter SemiBold"/>
                <a:ea typeface="Inter SemiBold"/>
                <a:cs typeface="Inter SemiBold"/>
                <a:sym typeface="Inter SemiBold"/>
              </a:rPr>
              <a:t>The Viscoelasticity Problem: Relevance and Mathematical Complexity</a:t>
            </a:r>
            <a:endParaRPr b="0" i="0" sz="1900" u="none" strike="noStrike">
              <a:solidFill>
                <a:srgbClr val="3B82F6"/>
              </a:solidFill>
              <a:latin typeface="Inter SemiBold"/>
              <a:ea typeface="Inter SemiBold"/>
              <a:cs typeface="Inter SemiBold"/>
              <a:sym typeface="Inter SemiBold"/>
            </a:endParaRPr>
          </a:p>
        </p:txBody>
      </p:sp>
      <p:cxnSp>
        <p:nvCxnSpPr>
          <p:cNvPr id="75" name="Google Shape;75;p16"/>
          <p:cNvCxnSpPr/>
          <p:nvPr/>
        </p:nvCxnSpPr>
        <p:spPr>
          <a:xfrm>
            <a:off x="381000" y="11239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descr="High quality studio photo demonstrating real-world viscoelastic materials, featuring toothpaste neatly squeezed onto a toothbrush, creamy mayonnaise, and transparent cosmetic gel, neatly presented on a clean dark slate surface with sleek blue scientific accent lighting" id="76" name="Google Shape;76;p16"/>
          <p:cNvPicPr preferRelativeResize="0"/>
          <p:nvPr/>
        </p:nvPicPr>
        <p:blipFill rotWithShape="1">
          <a:blip r:embed="rId4">
            <a:alphaModFix/>
          </a:blip>
          <a:srcRect b="5267" l="0" r="0" t="0"/>
          <a:stretch/>
        </p:blipFill>
        <p:spPr>
          <a:xfrm>
            <a:off x="381000" y="1285875"/>
            <a:ext cx="3619500" cy="3429000"/>
          </a:xfrm>
          <a:prstGeom prst="roundRect">
            <a:avLst>
              <a:gd fmla="val 1666" name="adj"/>
            </a:avLst>
          </a:prstGeom>
          <a:noFill/>
          <a:ln>
            <a:noFill/>
          </a:ln>
        </p:spPr>
      </p:pic>
      <p:grpSp>
        <p:nvGrpSpPr>
          <p:cNvPr id="77" name="Google Shape;77;p16"/>
          <p:cNvGrpSpPr/>
          <p:nvPr/>
        </p:nvGrpSpPr>
        <p:grpSpPr>
          <a:xfrm>
            <a:off x="4286100" y="1733550"/>
            <a:ext cx="4476900" cy="762000"/>
            <a:chOff x="0" y="0"/>
            <a:chExt cx="4476900" cy="762000"/>
          </a:xfrm>
        </p:grpSpPr>
        <p:sp>
          <p:nvSpPr>
            <p:cNvPr id="78" name="Google Shape;78;p16"/>
            <p:cNvSpPr/>
            <p:nvPr/>
          </p:nvSpPr>
          <p:spPr>
            <a:xfrm>
              <a:off x="0" y="0"/>
              <a:ext cx="4476900" cy="762000"/>
            </a:xfrm>
            <a:prstGeom prst="roundRect">
              <a:avLst>
                <a:gd fmla="val 75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6"/>
            <p:cNvSpPr/>
            <p:nvPr/>
          </p:nvSpPr>
          <p:spPr>
            <a:xfrm>
              <a:off x="0" y="0"/>
              <a:ext cx="28500" cy="7620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6"/>
            <p:cNvSpPr txBox="1"/>
            <p:nvPr/>
          </p:nvSpPr>
          <p:spPr>
            <a:xfrm>
              <a:off x="171450" y="95250"/>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750">
                  <a:solidFill>
                    <a:srgbClr val="3B82F6"/>
                  </a:solidFill>
                  <a:latin typeface="Inter SemiBold"/>
                  <a:ea typeface="Inter SemiBold"/>
                  <a:cs typeface="Inter SemiBold"/>
                  <a:sym typeface="Inter SemiBold"/>
                </a:rPr>
                <a:t>01 / FLUID PHYSICS</a:t>
              </a:r>
              <a:endParaRPr b="0" sz="750">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0" lang="it" sz="1500">
                  <a:solidFill>
                    <a:srgbClr val="F8F9FA"/>
                  </a:solidFill>
                  <a:latin typeface="Inter SemiBold"/>
                  <a:ea typeface="Inter SemiBold"/>
                  <a:cs typeface="Inter SemiBold"/>
                  <a:sym typeface="Inter SemiBold"/>
                </a:rPr>
                <a:t>Elasticity &amp; Fading Memory</a:t>
              </a:r>
              <a:endParaRPr b="0" sz="1500">
                <a:solidFill>
                  <a:srgbClr val="F8F9FA"/>
                </a:solidFill>
                <a:latin typeface="Inter SemiBold"/>
                <a:ea typeface="Inter SemiBold"/>
                <a:cs typeface="Inter SemiBold"/>
                <a:sym typeface="Inter SemiBold"/>
              </a:endParaRPr>
            </a:p>
            <a:p>
              <a:pPr indent="0" lvl="0" marL="0" rtl="0" algn="l">
                <a:spcBef>
                  <a:spcPts val="225"/>
                </a:spcBef>
                <a:spcAft>
                  <a:spcPts val="0"/>
                </a:spcAft>
                <a:buNone/>
              </a:pPr>
              <a:r>
                <a:rPr b="0" lang="it" sz="850">
                  <a:solidFill>
                    <a:srgbClr val="94A3B8"/>
                  </a:solidFill>
                  <a:latin typeface="Inter Light"/>
                  <a:ea typeface="Inter Light"/>
                  <a:cs typeface="Inter Light"/>
                  <a:sym typeface="Inter Light"/>
                </a:rPr>
                <a:t>Viscous dissipation, elasticity &amp; deformation history</a:t>
              </a:r>
              <a:endParaRPr b="0" sz="850">
                <a:solidFill>
                  <a:srgbClr val="94A3B8"/>
                </a:solidFill>
                <a:latin typeface="Inter Light"/>
                <a:ea typeface="Inter Light"/>
                <a:cs typeface="Inter Light"/>
                <a:sym typeface="Inter Light"/>
              </a:endParaRPr>
            </a:p>
          </p:txBody>
        </p:sp>
      </p:grpSp>
      <p:grpSp>
        <p:nvGrpSpPr>
          <p:cNvPr id="81" name="Google Shape;81;p16"/>
          <p:cNvGrpSpPr/>
          <p:nvPr/>
        </p:nvGrpSpPr>
        <p:grpSpPr>
          <a:xfrm>
            <a:off x="4286100" y="2619375"/>
            <a:ext cx="4476900" cy="762000"/>
            <a:chOff x="0" y="0"/>
            <a:chExt cx="4476900" cy="762000"/>
          </a:xfrm>
        </p:grpSpPr>
        <p:sp>
          <p:nvSpPr>
            <p:cNvPr id="82" name="Google Shape;82;p16"/>
            <p:cNvSpPr/>
            <p:nvPr/>
          </p:nvSpPr>
          <p:spPr>
            <a:xfrm>
              <a:off x="0" y="0"/>
              <a:ext cx="4476900" cy="762000"/>
            </a:xfrm>
            <a:prstGeom prst="roundRect">
              <a:avLst>
                <a:gd fmla="val 75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6"/>
            <p:cNvSpPr/>
            <p:nvPr/>
          </p:nvSpPr>
          <p:spPr>
            <a:xfrm>
              <a:off x="0" y="0"/>
              <a:ext cx="28500" cy="7620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6"/>
            <p:cNvSpPr txBox="1"/>
            <p:nvPr/>
          </p:nvSpPr>
          <p:spPr>
            <a:xfrm>
              <a:off x="171450" y="95250"/>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750">
                  <a:solidFill>
                    <a:srgbClr val="3B82F6"/>
                  </a:solidFill>
                  <a:latin typeface="Inter SemiBold"/>
                  <a:ea typeface="Inter SemiBold"/>
                  <a:cs typeface="Inter SemiBold"/>
                  <a:sym typeface="Inter SemiBold"/>
                </a:rPr>
                <a:t>02 / APPLICATIONS</a:t>
              </a:r>
              <a:endParaRPr b="0" sz="750">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0" lang="it" sz="1500">
                  <a:solidFill>
                    <a:srgbClr val="F8F9FA"/>
                  </a:solidFill>
                  <a:latin typeface="Inter SemiBold"/>
                  <a:ea typeface="Inter SemiBold"/>
                  <a:cs typeface="Inter SemiBold"/>
                  <a:sym typeface="Inter SemiBold"/>
                </a:rPr>
                <a:t>Technological &amp; Bio Systems</a:t>
              </a:r>
              <a:endParaRPr b="0" sz="1500">
                <a:solidFill>
                  <a:srgbClr val="F8F9FA"/>
                </a:solidFill>
                <a:latin typeface="Inter SemiBold"/>
                <a:ea typeface="Inter SemiBold"/>
                <a:cs typeface="Inter SemiBold"/>
                <a:sym typeface="Inter SemiBold"/>
              </a:endParaRPr>
            </a:p>
            <a:p>
              <a:pPr indent="0" lvl="0" marL="0" rtl="0" algn="l">
                <a:spcBef>
                  <a:spcPts val="225"/>
                </a:spcBef>
                <a:spcAft>
                  <a:spcPts val="0"/>
                </a:spcAft>
                <a:buNone/>
              </a:pPr>
              <a:r>
                <a:rPr b="0" lang="it" sz="850">
                  <a:solidFill>
                    <a:srgbClr val="94A3B8"/>
                  </a:solidFill>
                  <a:latin typeface="Inter Light"/>
                  <a:ea typeface="Inter Light"/>
                  <a:cs typeface="Inter Light"/>
                  <a:sym typeface="Inter Light"/>
                </a:rPr>
                <a:t>Polymer extrusion, spinning, blood &amp; microfluidics</a:t>
              </a:r>
              <a:endParaRPr b="0" sz="850">
                <a:solidFill>
                  <a:srgbClr val="94A3B8"/>
                </a:solidFill>
                <a:latin typeface="Inter Light"/>
                <a:ea typeface="Inter Light"/>
                <a:cs typeface="Inter Light"/>
                <a:sym typeface="Inter Light"/>
              </a:endParaRPr>
            </a:p>
          </p:txBody>
        </p:sp>
      </p:grpSp>
      <p:grpSp>
        <p:nvGrpSpPr>
          <p:cNvPr id="85" name="Google Shape;85;p16"/>
          <p:cNvGrpSpPr/>
          <p:nvPr/>
        </p:nvGrpSpPr>
        <p:grpSpPr>
          <a:xfrm>
            <a:off x="4286100" y="3505200"/>
            <a:ext cx="4476900" cy="762000"/>
            <a:chOff x="0" y="0"/>
            <a:chExt cx="4476900" cy="762000"/>
          </a:xfrm>
        </p:grpSpPr>
        <p:sp>
          <p:nvSpPr>
            <p:cNvPr id="86" name="Google Shape;86;p16"/>
            <p:cNvSpPr/>
            <p:nvPr/>
          </p:nvSpPr>
          <p:spPr>
            <a:xfrm>
              <a:off x="0" y="0"/>
              <a:ext cx="4476900" cy="762000"/>
            </a:xfrm>
            <a:prstGeom prst="roundRect">
              <a:avLst>
                <a:gd fmla="val 75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6"/>
            <p:cNvSpPr/>
            <p:nvPr/>
          </p:nvSpPr>
          <p:spPr>
            <a:xfrm>
              <a:off x="0" y="0"/>
              <a:ext cx="28500" cy="7620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6"/>
            <p:cNvSpPr txBox="1"/>
            <p:nvPr/>
          </p:nvSpPr>
          <p:spPr>
            <a:xfrm>
              <a:off x="171450" y="95250"/>
              <a:ext cx="419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750">
                  <a:solidFill>
                    <a:srgbClr val="3B82F6"/>
                  </a:solidFill>
                  <a:latin typeface="Inter SemiBold"/>
                  <a:ea typeface="Inter SemiBold"/>
                  <a:cs typeface="Inter SemiBold"/>
                  <a:sym typeface="Inter SemiBold"/>
                </a:rPr>
                <a:t>03 / MODELING</a:t>
              </a:r>
              <a:endParaRPr b="0" sz="750">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0" lang="it" sz="1500">
                  <a:solidFill>
                    <a:srgbClr val="F8F9FA"/>
                  </a:solidFill>
                  <a:latin typeface="Inter SemiBold"/>
                  <a:ea typeface="Inter SemiBold"/>
                  <a:cs typeface="Inter SemiBold"/>
                  <a:sym typeface="Inter SemiBold"/>
                </a:rPr>
                <a:t>Governing Equations</a:t>
              </a:r>
              <a:endParaRPr b="0" sz="1500">
                <a:solidFill>
                  <a:srgbClr val="F8F9FA"/>
                </a:solidFill>
                <a:latin typeface="Inter SemiBold"/>
                <a:ea typeface="Inter SemiBold"/>
                <a:cs typeface="Inter SemiBold"/>
                <a:sym typeface="Inter SemiBold"/>
              </a:endParaRPr>
            </a:p>
            <a:p>
              <a:pPr indent="0" lvl="0" marL="0" rtl="0" algn="l">
                <a:spcBef>
                  <a:spcPts val="225"/>
                </a:spcBef>
                <a:spcAft>
                  <a:spcPts val="0"/>
                </a:spcAft>
                <a:buNone/>
              </a:pPr>
              <a:r>
                <a:rPr b="0" lang="it" sz="850">
                  <a:solidFill>
                    <a:srgbClr val="94A3B8"/>
                  </a:solidFill>
                  <a:latin typeface="Inter Light"/>
                  <a:ea typeface="Inter Light"/>
                  <a:cs typeface="Inter Light"/>
                  <a:sym typeface="Inter Light"/>
                </a:rPr>
                <a:t>Non-linear constitutive models (Oldroyd-B, PTT) &amp; mixed nature</a:t>
              </a:r>
              <a:endParaRPr b="0" sz="850">
                <a:solidFill>
                  <a:srgbClr val="94A3B8"/>
                </a:solidFill>
                <a:latin typeface="Inter Light"/>
                <a:ea typeface="Inter Light"/>
                <a:cs typeface="Inter Light"/>
                <a:sym typeface="Inter Light"/>
              </a:endParaRPr>
            </a:p>
          </p:txBody>
        </p:sp>
      </p:grpSp>
      <p:sp>
        <p:nvSpPr>
          <p:cNvPr id="89" name="Google Shape;8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7"/>
          <p:cNvSpPr/>
          <p:nvPr/>
        </p:nvSpPr>
        <p:spPr>
          <a:xfrm>
            <a:off x="381000" y="285750"/>
            <a:ext cx="95400" cy="95400"/>
          </a:xfrm>
          <a:custGeom>
            <a:rect b="b" l="l" r="r" t="t"/>
            <a:pathLst>
              <a:path extrusionOk="0" h="120000" w="120000">
                <a:moveTo>
                  <a:pt x="0" y="120000"/>
                </a:moveTo>
                <a:lnTo>
                  <a:pt x="0" y="0"/>
                </a:lnTo>
                <a:lnTo>
                  <a:pt x="120000" y="0"/>
                </a:lnTo>
              </a:path>
            </a:pathLst>
          </a:custGeom>
          <a:solidFill>
            <a:srgbClr val="000000"/>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7"/>
          <p:cNvSpPr/>
          <p:nvPr/>
        </p:nvSpPr>
        <p:spPr>
          <a:xfrm rot="10800000">
            <a:off x="8667598" y="4762348"/>
            <a:ext cx="95400" cy="95400"/>
          </a:xfrm>
          <a:custGeom>
            <a:rect b="b" l="l" r="r" t="t"/>
            <a:pathLst>
              <a:path extrusionOk="0" h="120000" w="120000">
                <a:moveTo>
                  <a:pt x="0" y="120000"/>
                </a:moveTo>
                <a:lnTo>
                  <a:pt x="0" y="0"/>
                </a:lnTo>
                <a:lnTo>
                  <a:pt x="120000" y="0"/>
                </a:lnTo>
              </a:path>
            </a:pathLst>
          </a:custGeom>
          <a:solidFill>
            <a:srgbClr val="000000"/>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7"/>
          <p:cNvSpPr txBox="1"/>
          <p:nvPr/>
        </p:nvSpPr>
        <p:spPr>
          <a:xfrm>
            <a:off x="381000" y="428625"/>
            <a:ext cx="83820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it" sz="750">
                <a:solidFill>
                  <a:srgbClr val="3B82F6"/>
                </a:solidFill>
                <a:latin typeface="Inter SemiBold"/>
                <a:ea typeface="Inter SemiBold"/>
                <a:cs typeface="Inter SemiBold"/>
                <a:sym typeface="Inter SemiBold"/>
              </a:rPr>
              <a:t>INTRODUCTION</a:t>
            </a:r>
            <a:endParaRPr b="0" i="0" sz="750">
              <a:solidFill>
                <a:srgbClr val="3B82F6"/>
              </a:solidFill>
              <a:latin typeface="Inter SemiBold"/>
              <a:ea typeface="Inter SemiBold"/>
              <a:cs typeface="Inter SemiBold"/>
              <a:sym typeface="Inter SemiBold"/>
            </a:endParaRPr>
          </a:p>
          <a:p>
            <a:pPr indent="0" lvl="0" marL="0" rtl="0" algn="l">
              <a:spcBef>
                <a:spcPts val="300"/>
              </a:spcBef>
              <a:spcAft>
                <a:spcPts val="300"/>
              </a:spcAft>
              <a:buNone/>
            </a:pPr>
            <a:r>
              <a:rPr b="0" i="0" lang="it" sz="1900">
                <a:solidFill>
                  <a:srgbClr val="F8F9FA"/>
                </a:solidFill>
                <a:latin typeface="Inter SemiBold"/>
                <a:ea typeface="Inter SemiBold"/>
                <a:cs typeface="Inter SemiBold"/>
                <a:sym typeface="Inter SemiBold"/>
              </a:rPr>
              <a:t>The 4-Roll Mill: Principles &amp; Characteristics</a:t>
            </a:r>
            <a:endParaRPr b="0" i="0" sz="1900">
              <a:solidFill>
                <a:srgbClr val="3B82F6"/>
              </a:solidFill>
              <a:latin typeface="Inter SemiBold"/>
              <a:ea typeface="Inter SemiBold"/>
              <a:cs typeface="Inter SemiBold"/>
              <a:sym typeface="Inter SemiBold"/>
            </a:endParaRPr>
          </a:p>
        </p:txBody>
      </p:sp>
      <p:cxnSp>
        <p:nvCxnSpPr>
          <p:cNvPr id="97" name="Google Shape;97;p17"/>
          <p:cNvCxnSpPr/>
          <p:nvPr/>
        </p:nvCxnSpPr>
        <p:spPr>
          <a:xfrm>
            <a:off x="381000" y="11239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98" name="Google Shape;9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99" name="Google Shape;99;p17"/>
          <p:cNvGrpSpPr/>
          <p:nvPr/>
        </p:nvGrpSpPr>
        <p:grpSpPr>
          <a:xfrm>
            <a:off x="381000" y="1476375"/>
            <a:ext cx="4000500" cy="1381200"/>
            <a:chOff x="0" y="0"/>
            <a:chExt cx="4000500" cy="1381200"/>
          </a:xfrm>
        </p:grpSpPr>
        <p:sp>
          <p:nvSpPr>
            <p:cNvPr id="100" name="Google Shape;100;p17"/>
            <p:cNvSpPr/>
            <p:nvPr/>
          </p:nvSpPr>
          <p:spPr>
            <a:xfrm>
              <a:off x="0" y="0"/>
              <a:ext cx="4000500" cy="1381200"/>
            </a:xfrm>
            <a:prstGeom prst="roundRect">
              <a:avLst>
                <a:gd fmla="val 413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7"/>
            <p:cNvSpPr/>
            <p:nvPr/>
          </p:nvSpPr>
          <p:spPr>
            <a:xfrm>
              <a:off x="0" y="0"/>
              <a:ext cx="28500" cy="13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7"/>
            <p:cNvSpPr txBox="1"/>
            <p:nvPr/>
          </p:nvSpPr>
          <p:spPr>
            <a:xfrm>
              <a:off x="190500" y="171450"/>
              <a:ext cx="36195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750">
                  <a:solidFill>
                    <a:srgbClr val="3B82F6"/>
                  </a:solidFill>
                  <a:latin typeface="Inter SemiBold"/>
                  <a:ea typeface="Inter SemiBold"/>
                  <a:cs typeface="Inter SemiBold"/>
                  <a:sym typeface="Inter SemiBold"/>
                </a:rPr>
                <a:t>01 / KINEMATICS</a:t>
              </a:r>
              <a:endParaRPr b="0" sz="75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1500">
                  <a:solidFill>
                    <a:srgbClr val="F8F9FA"/>
                  </a:solidFill>
                  <a:latin typeface="Inter SemiBold"/>
                  <a:ea typeface="Inter SemiBold"/>
                  <a:cs typeface="Inter SemiBold"/>
                  <a:sym typeface="Inter SemiBold"/>
                </a:rPr>
                <a:t>Independent Roll Rotation</a:t>
              </a:r>
              <a:endParaRPr b="0" sz="105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900">
                  <a:solidFill>
                    <a:srgbClr val="94A3B8"/>
                  </a:solidFill>
                  <a:latin typeface="Inter Light"/>
                  <a:ea typeface="Inter Light"/>
                  <a:cs typeface="Inter Light"/>
                  <a:sym typeface="Inter Light"/>
                </a:rPr>
                <a:t>Independent roll speed and direction control to generate varied flow regimes</a:t>
              </a:r>
              <a:endParaRPr b="0" sz="750">
                <a:solidFill>
                  <a:srgbClr val="3B82F6"/>
                </a:solidFill>
                <a:latin typeface="Inter SemiBold"/>
                <a:ea typeface="Inter SemiBold"/>
                <a:cs typeface="Inter SemiBold"/>
                <a:sym typeface="Inter SemiBold"/>
              </a:endParaRPr>
            </a:p>
          </p:txBody>
        </p:sp>
      </p:grpSp>
      <p:grpSp>
        <p:nvGrpSpPr>
          <p:cNvPr id="103" name="Google Shape;103;p17"/>
          <p:cNvGrpSpPr/>
          <p:nvPr/>
        </p:nvGrpSpPr>
        <p:grpSpPr>
          <a:xfrm>
            <a:off x="381000" y="3048000"/>
            <a:ext cx="4000500" cy="1381200"/>
            <a:chOff x="0" y="0"/>
            <a:chExt cx="4000500" cy="1381200"/>
          </a:xfrm>
        </p:grpSpPr>
        <p:sp>
          <p:nvSpPr>
            <p:cNvPr id="104" name="Google Shape;104;p17"/>
            <p:cNvSpPr/>
            <p:nvPr/>
          </p:nvSpPr>
          <p:spPr>
            <a:xfrm>
              <a:off x="0" y="0"/>
              <a:ext cx="4000500" cy="1381200"/>
            </a:xfrm>
            <a:prstGeom prst="roundRect">
              <a:avLst>
                <a:gd fmla="val 413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7"/>
            <p:cNvSpPr/>
            <p:nvPr/>
          </p:nvSpPr>
          <p:spPr>
            <a:xfrm>
              <a:off x="0" y="0"/>
              <a:ext cx="28500" cy="13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7"/>
            <p:cNvSpPr txBox="1"/>
            <p:nvPr/>
          </p:nvSpPr>
          <p:spPr>
            <a:xfrm>
              <a:off x="190500" y="171450"/>
              <a:ext cx="36195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750">
                  <a:solidFill>
                    <a:srgbClr val="3B82F6"/>
                  </a:solidFill>
                  <a:latin typeface="Inter SemiBold"/>
                  <a:ea typeface="Inter SemiBold"/>
                  <a:cs typeface="Inter SemiBold"/>
                  <a:sym typeface="Inter SemiBold"/>
                </a:rPr>
                <a:t>02 / CENTRAL REGION</a:t>
              </a:r>
              <a:endParaRPr b="0" sz="75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1500">
                  <a:solidFill>
                    <a:srgbClr val="F8F9FA"/>
                  </a:solidFill>
                  <a:latin typeface="Inter SemiBold"/>
                  <a:ea typeface="Inter SemiBold"/>
                  <a:cs typeface="Inter SemiBold"/>
                  <a:sym typeface="Inter SemiBold"/>
                </a:rPr>
                <a:t>Stagnation Point</a:t>
              </a:r>
              <a:endParaRPr b="0" sz="105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900">
                  <a:solidFill>
                    <a:srgbClr val="94A3B8"/>
                  </a:solidFill>
                  <a:latin typeface="Inter Light"/>
                  <a:ea typeface="Inter Light"/>
                  <a:cs typeface="Inter Light"/>
                  <a:sym typeface="Inter Light"/>
                </a:rPr>
                <a:t>Extensional stagnation point created at the center for fluid characterization.</a:t>
              </a:r>
              <a:endParaRPr b="0" sz="750">
                <a:solidFill>
                  <a:srgbClr val="3B82F6"/>
                </a:solidFill>
                <a:latin typeface="Inter SemiBold"/>
                <a:ea typeface="Inter SemiBold"/>
                <a:cs typeface="Inter SemiBold"/>
                <a:sym typeface="Inter SemiBold"/>
              </a:endParaRPr>
            </a:p>
          </p:txBody>
        </p:sp>
      </p:grpSp>
      <p:sp>
        <p:nvSpPr>
          <p:cNvPr id="107" name="Google Shape;107;p17"/>
          <p:cNvSpPr txBox="1"/>
          <p:nvPr/>
        </p:nvSpPr>
        <p:spPr>
          <a:xfrm>
            <a:off x="381000" y="4714875"/>
            <a:ext cx="8382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800" u="none" strike="noStrike">
                <a:solidFill>
                  <a:srgbClr val="3B82F6"/>
                </a:solidFill>
                <a:latin typeface="Inter SemiBold"/>
                <a:ea typeface="Inter SemiBold"/>
                <a:cs typeface="Inter SemiBold"/>
                <a:sym typeface="Inter SemiBold"/>
              </a:rPr>
              <a:t>Reference:</a:t>
            </a:r>
            <a:r>
              <a:rPr b="0" i="0" lang="it" sz="800" u="none" strike="noStrike">
                <a:solidFill>
                  <a:srgbClr val="64748B"/>
                </a:solidFill>
                <a:latin typeface="Inter"/>
                <a:ea typeface="Inter"/>
                <a:cs typeface="Inter"/>
                <a:sym typeface="Inter"/>
              </a:rPr>
              <a:t> Taylor</a:t>
            </a:r>
            <a:r>
              <a:rPr lang="it" sz="800">
                <a:solidFill>
                  <a:srgbClr val="64748B"/>
                </a:solidFill>
                <a:latin typeface="Inter"/>
                <a:ea typeface="Inter"/>
                <a:cs typeface="Inter"/>
                <a:sym typeface="Inter"/>
              </a:rPr>
              <a:t> et al. (1934) - The formation of emulsions in definable fields of flow</a:t>
            </a:r>
            <a:endParaRPr sz="800">
              <a:solidFill>
                <a:srgbClr val="64748B"/>
              </a:solidFill>
              <a:latin typeface="Inter"/>
              <a:ea typeface="Inter"/>
              <a:cs typeface="Inter"/>
              <a:sym typeface="Inter"/>
            </a:endParaRPr>
          </a:p>
          <a:p>
            <a:pPr indent="0" lvl="0" marL="0" rtl="0" algn="l">
              <a:spcBef>
                <a:spcPts val="0"/>
              </a:spcBef>
              <a:spcAft>
                <a:spcPts val="0"/>
              </a:spcAft>
              <a:buNone/>
            </a:pPr>
            <a:r>
              <a:rPr lang="it" sz="800">
                <a:solidFill>
                  <a:srgbClr val="3B82F6"/>
                </a:solidFill>
                <a:latin typeface="Inter SemiBold"/>
                <a:ea typeface="Inter SemiBold"/>
                <a:cs typeface="Inter SemiBold"/>
                <a:sym typeface="Inter SemiBold"/>
              </a:rPr>
              <a:t>Reference: </a:t>
            </a:r>
            <a:r>
              <a:rPr lang="it" sz="800">
                <a:solidFill>
                  <a:srgbClr val="64748B"/>
                </a:solidFill>
                <a:latin typeface="Inter"/>
                <a:ea typeface="Inter"/>
                <a:cs typeface="Inter"/>
                <a:sym typeface="Inter"/>
              </a:rPr>
              <a:t>Fuller et al. (1980) — Flow birefringence of dilute polymer solutions in two-dimensional flows</a:t>
            </a:r>
            <a:endParaRPr sz="800">
              <a:solidFill>
                <a:srgbClr val="64748B"/>
              </a:solidFill>
              <a:latin typeface="Inter"/>
              <a:ea typeface="Inter"/>
              <a:cs typeface="Inter"/>
              <a:sym typeface="Inter"/>
            </a:endParaRPr>
          </a:p>
        </p:txBody>
      </p:sp>
      <p:cxnSp>
        <p:nvCxnSpPr>
          <p:cNvPr id="108" name="Google Shape;108;p17"/>
          <p:cNvCxnSpPr/>
          <p:nvPr/>
        </p:nvCxnSpPr>
        <p:spPr>
          <a:xfrm>
            <a:off x="265575" y="467217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109" name="Google Shape;109;p17"/>
          <p:cNvPicPr preferRelativeResize="0"/>
          <p:nvPr/>
        </p:nvPicPr>
        <p:blipFill>
          <a:blip r:embed="rId4">
            <a:alphaModFix/>
          </a:blip>
          <a:stretch>
            <a:fillRect/>
          </a:stretch>
        </p:blipFill>
        <p:spPr>
          <a:xfrm>
            <a:off x="5619625" y="1247925"/>
            <a:ext cx="2205890" cy="33145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cxnSp>
        <p:nvCxnSpPr>
          <p:cNvPr id="114" name="Google Shape;114;p18"/>
          <p:cNvCxnSpPr/>
          <p:nvPr/>
        </p:nvCxnSpPr>
        <p:spPr>
          <a:xfrm>
            <a:off x="381000" y="781638"/>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15" name="Google Shape;115;p18"/>
          <p:cNvSpPr txBox="1"/>
          <p:nvPr>
            <p:ph type="title"/>
          </p:nvPr>
        </p:nvSpPr>
        <p:spPr>
          <a:xfrm>
            <a:off x="502700" y="333775"/>
            <a:ext cx="8382000" cy="381000"/>
          </a:xfrm>
          <a:prstGeom prst="rect">
            <a:avLst/>
          </a:prstGeom>
          <a:solidFill>
            <a:srgbClr val="000000">
              <a:alpha val="0"/>
            </a:srgbClr>
          </a:solid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27742"/>
              <a:buFont typeface="Arial"/>
              <a:buNone/>
            </a:pPr>
            <a:r>
              <a:rPr lang="it" sz="861">
                <a:solidFill>
                  <a:srgbClr val="3B82F6"/>
                </a:solidFill>
                <a:latin typeface="Inter SemiBold"/>
                <a:ea typeface="Inter SemiBold"/>
                <a:cs typeface="Inter SemiBold"/>
                <a:sym typeface="Inter SemiBold"/>
              </a:rPr>
              <a:t>INTRODUCTION</a:t>
            </a:r>
            <a:endParaRPr sz="2011">
              <a:solidFill>
                <a:srgbClr val="F8F9FA"/>
              </a:solidFill>
              <a:latin typeface="Inter SemiBold"/>
              <a:ea typeface="Inter SemiBold"/>
              <a:cs typeface="Inter SemiBold"/>
              <a:sym typeface="Inter SemiBold"/>
            </a:endParaRPr>
          </a:p>
          <a:p>
            <a:pPr indent="0" lvl="0" marL="0" rtl="0" algn="l">
              <a:spcBef>
                <a:spcPts val="300"/>
              </a:spcBef>
              <a:spcAft>
                <a:spcPts val="0"/>
              </a:spcAft>
              <a:buNone/>
            </a:pPr>
            <a:r>
              <a:rPr b="0" lang="it" sz="2122">
                <a:solidFill>
                  <a:srgbClr val="F8F9FA"/>
                </a:solidFill>
                <a:latin typeface="Inter SemiBold"/>
                <a:ea typeface="Inter SemiBold"/>
                <a:cs typeface="Inter SemiBold"/>
                <a:sym typeface="Inter SemiBold"/>
              </a:rPr>
              <a:t>4-Roll Mill </a:t>
            </a:r>
            <a:r>
              <a:rPr lang="it" sz="2122">
                <a:solidFill>
                  <a:srgbClr val="F8F9FA"/>
                </a:solidFill>
                <a:latin typeface="Inter SemiBold"/>
                <a:ea typeface="Inter SemiBold"/>
                <a:cs typeface="Inter SemiBold"/>
                <a:sym typeface="Inter SemiBold"/>
              </a:rPr>
              <a:t>Flow Fields</a:t>
            </a:r>
            <a:endParaRPr b="0" sz="2122">
              <a:solidFill>
                <a:srgbClr val="F8F9FA"/>
              </a:solidFill>
              <a:latin typeface="Inter SemiBold"/>
              <a:ea typeface="Inter SemiBold"/>
              <a:cs typeface="Inter SemiBold"/>
              <a:sym typeface="Inter SemiBold"/>
            </a:endParaRPr>
          </a:p>
        </p:txBody>
      </p:sp>
      <p:grpSp>
        <p:nvGrpSpPr>
          <p:cNvPr id="116" name="Google Shape;116;p18"/>
          <p:cNvGrpSpPr/>
          <p:nvPr/>
        </p:nvGrpSpPr>
        <p:grpSpPr>
          <a:xfrm>
            <a:off x="4572000" y="1536675"/>
            <a:ext cx="4191000" cy="904800"/>
            <a:chOff x="4191000" y="0"/>
            <a:chExt cx="4191000" cy="904800"/>
          </a:xfrm>
        </p:grpSpPr>
        <p:sp>
          <p:nvSpPr>
            <p:cNvPr id="117" name="Google Shape;117;p18"/>
            <p:cNvSpPr/>
            <p:nvPr/>
          </p:nvSpPr>
          <p:spPr>
            <a:xfrm>
              <a:off x="4191000" y="0"/>
              <a:ext cx="4191000" cy="904800"/>
            </a:xfrm>
            <a:prstGeom prst="roundRect">
              <a:avLst>
                <a:gd fmla="val 631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8"/>
            <p:cNvSpPr/>
            <p:nvPr/>
          </p:nvSpPr>
          <p:spPr>
            <a:xfrm>
              <a:off x="4191000" y="0"/>
              <a:ext cx="28500" cy="9048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8"/>
            <p:cNvSpPr txBox="1"/>
            <p:nvPr/>
          </p:nvSpPr>
          <p:spPr>
            <a:xfrm>
              <a:off x="4362450" y="95250"/>
              <a:ext cx="39054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750">
                  <a:solidFill>
                    <a:srgbClr val="3B82F6"/>
                  </a:solidFill>
                  <a:latin typeface="Inter SemiBold"/>
                  <a:ea typeface="Inter SemiBold"/>
                  <a:cs typeface="Inter SemiBold"/>
                  <a:sym typeface="Inter SemiBold"/>
                </a:rPr>
                <a:t>01 / FLOW REGIME</a:t>
              </a:r>
              <a:endParaRPr b="0" i="0" sz="750">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0" i="0" lang="it" sz="1500">
                  <a:solidFill>
                    <a:srgbClr val="F8F9FA"/>
                  </a:solidFill>
                  <a:latin typeface="Inter SemiBold"/>
                  <a:ea typeface="Inter SemiBold"/>
                  <a:cs typeface="Inter SemiBold"/>
                  <a:sym typeface="Inter SemiBold"/>
                </a:rPr>
                <a:t>Extensional Flow (</a:t>
              </a:r>
              <a:r>
                <a:rPr b="0" i="0" lang="it" sz="1500">
                  <a:solidFill>
                    <a:srgbClr val="CBD5E1"/>
                  </a:solidFill>
                  <a:latin typeface="Inter"/>
                  <a:ea typeface="Inter"/>
                  <a:cs typeface="Inter"/>
                  <a:sym typeface="Inter"/>
                </a:rPr>
                <a:t>α=1</a:t>
              </a:r>
              <a:r>
                <a:rPr b="0" i="0" lang="it" sz="1500">
                  <a:solidFill>
                    <a:srgbClr val="F8F9FA"/>
                  </a:solidFill>
                  <a:latin typeface="Inter SemiBold"/>
                  <a:ea typeface="Inter SemiBold"/>
                  <a:cs typeface="Inter SemiBold"/>
                  <a:sym typeface="Inter SemiBold"/>
                </a:rPr>
                <a:t>)</a:t>
              </a:r>
              <a:endParaRPr b="0" i="0" sz="750">
                <a:solidFill>
                  <a:srgbClr val="3B82F6"/>
                </a:solidFill>
                <a:latin typeface="Inter SemiBold"/>
                <a:ea typeface="Inter SemiBold"/>
                <a:cs typeface="Inter SemiBold"/>
                <a:sym typeface="Inter SemiBold"/>
              </a:endParaRPr>
            </a:p>
            <a:p>
              <a:pPr indent="0" lvl="0" marL="0" rtl="0" algn="l">
                <a:spcBef>
                  <a:spcPts val="225"/>
                </a:spcBef>
                <a:spcAft>
                  <a:spcPts val="0"/>
                </a:spcAft>
                <a:buNone/>
              </a:pPr>
              <a:r>
                <a:rPr b="0" i="0" lang="it" sz="850">
                  <a:solidFill>
                    <a:srgbClr val="94A3B8"/>
                  </a:solidFill>
                  <a:latin typeface="Inter Light"/>
                  <a:ea typeface="Inter Light"/>
                  <a:cs typeface="Inter Light"/>
                  <a:sym typeface="Inter Light"/>
                </a:rPr>
                <a:t>Generated when opposing rolls rotate symmetrically, creating pure stretching motion along the central stagnation point.</a:t>
              </a:r>
              <a:endParaRPr b="0" i="0" sz="750">
                <a:solidFill>
                  <a:srgbClr val="3B82F6"/>
                </a:solidFill>
                <a:latin typeface="Inter SemiBold"/>
                <a:ea typeface="Inter SemiBold"/>
                <a:cs typeface="Inter SemiBold"/>
                <a:sym typeface="Inter SemiBold"/>
              </a:endParaRPr>
            </a:p>
          </p:txBody>
        </p:sp>
      </p:grpSp>
      <p:grpSp>
        <p:nvGrpSpPr>
          <p:cNvPr id="120" name="Google Shape;120;p18"/>
          <p:cNvGrpSpPr/>
          <p:nvPr/>
        </p:nvGrpSpPr>
        <p:grpSpPr>
          <a:xfrm>
            <a:off x="4572000" y="2571750"/>
            <a:ext cx="4191000" cy="904800"/>
            <a:chOff x="4191000" y="0"/>
            <a:chExt cx="4191000" cy="904800"/>
          </a:xfrm>
        </p:grpSpPr>
        <p:sp>
          <p:nvSpPr>
            <p:cNvPr id="121" name="Google Shape;121;p18"/>
            <p:cNvSpPr/>
            <p:nvPr/>
          </p:nvSpPr>
          <p:spPr>
            <a:xfrm>
              <a:off x="4191000" y="0"/>
              <a:ext cx="4191000" cy="904800"/>
            </a:xfrm>
            <a:prstGeom prst="roundRect">
              <a:avLst>
                <a:gd fmla="val 631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8"/>
            <p:cNvSpPr/>
            <p:nvPr/>
          </p:nvSpPr>
          <p:spPr>
            <a:xfrm>
              <a:off x="4191000" y="0"/>
              <a:ext cx="28500" cy="9048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8"/>
            <p:cNvSpPr txBox="1"/>
            <p:nvPr/>
          </p:nvSpPr>
          <p:spPr>
            <a:xfrm>
              <a:off x="4362450" y="95250"/>
              <a:ext cx="39054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750">
                  <a:solidFill>
                    <a:srgbClr val="3B82F6"/>
                  </a:solidFill>
                  <a:latin typeface="Inter SemiBold"/>
                  <a:ea typeface="Inter SemiBold"/>
                  <a:cs typeface="Inter SemiBold"/>
                  <a:sym typeface="Inter SemiBold"/>
                </a:rPr>
                <a:t>02 / CONTINUOUS SPECTRUM</a:t>
              </a:r>
              <a:endParaRPr b="0" i="0" sz="750">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0" i="0" lang="it" sz="1500">
                  <a:solidFill>
                    <a:srgbClr val="F8F9FA"/>
                  </a:solidFill>
                  <a:latin typeface="Inter SemiBold"/>
                  <a:ea typeface="Inter SemiBold"/>
                  <a:cs typeface="Inter SemiBold"/>
                  <a:sym typeface="Inter SemiBold"/>
                </a:rPr>
                <a:t>Intermediate &amp; Shear Flows (α=0)</a:t>
              </a:r>
              <a:endParaRPr b="0" i="0" sz="750">
                <a:solidFill>
                  <a:srgbClr val="3B82F6"/>
                </a:solidFill>
                <a:latin typeface="Inter SemiBold"/>
                <a:ea typeface="Inter SemiBold"/>
                <a:cs typeface="Inter SemiBold"/>
                <a:sym typeface="Inter SemiBold"/>
              </a:endParaRPr>
            </a:p>
            <a:p>
              <a:pPr indent="0" lvl="0" marL="0" rtl="0" algn="l">
                <a:spcBef>
                  <a:spcPts val="225"/>
                </a:spcBef>
                <a:spcAft>
                  <a:spcPts val="0"/>
                </a:spcAft>
                <a:buNone/>
              </a:pPr>
              <a:r>
                <a:rPr b="0" i="0" lang="it" sz="850">
                  <a:solidFill>
                    <a:srgbClr val="94A3B8"/>
                  </a:solidFill>
                  <a:latin typeface="Inter Light"/>
                  <a:ea typeface="Inter Light"/>
                  <a:cs typeface="Inter Light"/>
                  <a:sym typeface="Inter Light"/>
                </a:rPr>
                <a:t>By continuously tuning roll speed ratios, a full spectrum (-1 &lt; α &lt; 1) of intermediate regimes is generated, passing through shear flow.</a:t>
              </a:r>
              <a:endParaRPr b="0" i="0" sz="750">
                <a:solidFill>
                  <a:srgbClr val="3B82F6"/>
                </a:solidFill>
                <a:latin typeface="Inter SemiBold"/>
                <a:ea typeface="Inter SemiBold"/>
                <a:cs typeface="Inter SemiBold"/>
                <a:sym typeface="Inter SemiBold"/>
              </a:endParaRPr>
            </a:p>
          </p:txBody>
        </p:sp>
      </p:grpSp>
      <p:grpSp>
        <p:nvGrpSpPr>
          <p:cNvPr id="124" name="Google Shape;124;p18"/>
          <p:cNvGrpSpPr/>
          <p:nvPr/>
        </p:nvGrpSpPr>
        <p:grpSpPr>
          <a:xfrm>
            <a:off x="4572000" y="3606825"/>
            <a:ext cx="4191000" cy="904800"/>
            <a:chOff x="4191000" y="0"/>
            <a:chExt cx="4191000" cy="904800"/>
          </a:xfrm>
        </p:grpSpPr>
        <p:sp>
          <p:nvSpPr>
            <p:cNvPr id="125" name="Google Shape;125;p18"/>
            <p:cNvSpPr/>
            <p:nvPr/>
          </p:nvSpPr>
          <p:spPr>
            <a:xfrm>
              <a:off x="4191000" y="0"/>
              <a:ext cx="4191000" cy="904800"/>
            </a:xfrm>
            <a:prstGeom prst="roundRect">
              <a:avLst>
                <a:gd fmla="val 631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8"/>
            <p:cNvSpPr/>
            <p:nvPr/>
          </p:nvSpPr>
          <p:spPr>
            <a:xfrm>
              <a:off x="4191000" y="0"/>
              <a:ext cx="28500" cy="9048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8"/>
            <p:cNvSpPr txBox="1"/>
            <p:nvPr/>
          </p:nvSpPr>
          <p:spPr>
            <a:xfrm>
              <a:off x="4362450" y="95250"/>
              <a:ext cx="39054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750">
                  <a:solidFill>
                    <a:srgbClr val="3B82F6"/>
                  </a:solidFill>
                  <a:latin typeface="Inter SemiBold"/>
                  <a:ea typeface="Inter SemiBold"/>
                  <a:cs typeface="Inter SemiBold"/>
                  <a:sym typeface="Inter SemiBold"/>
                </a:rPr>
                <a:t>03 / FLOW REGIME</a:t>
              </a:r>
              <a:endParaRPr b="0" i="0" sz="750">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0" i="0" lang="it" sz="1500">
                  <a:solidFill>
                    <a:srgbClr val="F8F9FA"/>
                  </a:solidFill>
                  <a:latin typeface="Inter SemiBold"/>
                  <a:ea typeface="Inter SemiBold"/>
                  <a:cs typeface="Inter SemiBold"/>
                  <a:sym typeface="Inter SemiBold"/>
                </a:rPr>
                <a:t>Rotational Flow (</a:t>
              </a:r>
              <a:r>
                <a:rPr b="0" i="0" lang="it" sz="1500">
                  <a:solidFill>
                    <a:srgbClr val="CBD5E1"/>
                  </a:solidFill>
                  <a:latin typeface="Inter"/>
                  <a:ea typeface="Inter"/>
                  <a:cs typeface="Inter"/>
                  <a:sym typeface="Inter"/>
                </a:rPr>
                <a:t>α=-1</a:t>
              </a:r>
              <a:r>
                <a:rPr b="0" i="0" lang="it" sz="1500">
                  <a:solidFill>
                    <a:srgbClr val="F8F9FA"/>
                  </a:solidFill>
                  <a:latin typeface="Inter SemiBold"/>
                  <a:ea typeface="Inter SemiBold"/>
                  <a:cs typeface="Inter SemiBold"/>
                  <a:sym typeface="Inter SemiBold"/>
                </a:rPr>
                <a:t>)</a:t>
              </a:r>
              <a:endParaRPr b="0" i="0" sz="750">
                <a:solidFill>
                  <a:srgbClr val="3B82F6"/>
                </a:solidFill>
                <a:latin typeface="Inter SemiBold"/>
                <a:ea typeface="Inter SemiBold"/>
                <a:cs typeface="Inter SemiBold"/>
                <a:sym typeface="Inter SemiBold"/>
              </a:endParaRPr>
            </a:p>
            <a:p>
              <a:pPr indent="0" lvl="0" marL="0" rtl="0" algn="l">
                <a:spcBef>
                  <a:spcPts val="225"/>
                </a:spcBef>
                <a:spcAft>
                  <a:spcPts val="0"/>
                </a:spcAft>
                <a:buNone/>
              </a:pPr>
              <a:r>
                <a:rPr b="0" i="0" lang="it" sz="850">
                  <a:solidFill>
                    <a:srgbClr val="94A3B8"/>
                  </a:solidFill>
                  <a:latin typeface="Inter Light"/>
                  <a:ea typeface="Inter Light"/>
                  <a:cs typeface="Inter Light"/>
                  <a:sym typeface="Inter Light"/>
                </a:rPr>
                <a:t>Achieved by driving rolls to induce co-rotational vorticity, placing fluid elements in pure rigid-body rotation.</a:t>
              </a:r>
              <a:endParaRPr b="0" i="0" sz="750">
                <a:solidFill>
                  <a:srgbClr val="3B82F6"/>
                </a:solidFill>
                <a:latin typeface="Inter SemiBold"/>
                <a:ea typeface="Inter SemiBold"/>
                <a:cs typeface="Inter SemiBold"/>
                <a:sym typeface="Inter SemiBold"/>
              </a:endParaRPr>
            </a:p>
          </p:txBody>
        </p:sp>
      </p:grpSp>
      <p:sp>
        <p:nvSpPr>
          <p:cNvPr id="128" name="Google Shape;12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29" name="Google Shape;129;p18"/>
          <p:cNvSpPr txBox="1"/>
          <p:nvPr/>
        </p:nvSpPr>
        <p:spPr>
          <a:xfrm>
            <a:off x="381000" y="4686300"/>
            <a:ext cx="8382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740">
                <a:solidFill>
                  <a:srgbClr val="3B82F6"/>
                </a:solidFill>
                <a:latin typeface="Inter SemiBold"/>
                <a:ea typeface="Inter SemiBold"/>
                <a:cs typeface="Inter SemiBold"/>
                <a:sym typeface="Inter SemiBold"/>
              </a:rPr>
              <a:t>Reference:</a:t>
            </a:r>
            <a:r>
              <a:rPr b="0" i="0" lang="it" sz="740">
                <a:solidFill>
                  <a:srgbClr val="64748B"/>
                </a:solidFill>
                <a:latin typeface="Inter"/>
                <a:ea typeface="Inter"/>
                <a:cs typeface="Inter"/>
                <a:sym typeface="Inter"/>
              </a:rPr>
              <a:t> Fuller et al. (1981) — Flow birefringence of concentrated polymer solutions in two-dimensional flow</a:t>
            </a:r>
            <a:r>
              <a:rPr lang="it" sz="740">
                <a:solidFill>
                  <a:srgbClr val="64748B"/>
                </a:solidFill>
                <a:latin typeface="Inter"/>
                <a:ea typeface="Inter"/>
                <a:cs typeface="Inter"/>
                <a:sym typeface="Inter"/>
              </a:rPr>
              <a:t>s</a:t>
            </a:r>
            <a:endParaRPr b="0" i="0" sz="740">
              <a:solidFill>
                <a:srgbClr val="3B82F6"/>
              </a:solidFill>
              <a:latin typeface="Inter SemiBold"/>
              <a:ea typeface="Inter SemiBold"/>
              <a:cs typeface="Inter SemiBold"/>
              <a:sym typeface="Inter SemiBold"/>
            </a:endParaRPr>
          </a:p>
        </p:txBody>
      </p:sp>
      <p:cxnSp>
        <p:nvCxnSpPr>
          <p:cNvPr id="130" name="Google Shape;130;p18"/>
          <p:cNvCxnSpPr/>
          <p:nvPr/>
        </p:nvCxnSpPr>
        <p:spPr>
          <a:xfrm>
            <a:off x="381000" y="45720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31" name="Google Shape;131;p18"/>
          <p:cNvSpPr/>
          <p:nvPr/>
        </p:nvSpPr>
        <p:spPr>
          <a:xfrm>
            <a:off x="381000" y="28575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32" name="Google Shape;132;p18"/>
          <p:cNvPicPr preferRelativeResize="0"/>
          <p:nvPr/>
        </p:nvPicPr>
        <p:blipFill rotWithShape="1">
          <a:blip r:embed="rId4">
            <a:alphaModFix/>
          </a:blip>
          <a:srcRect b="0" l="0" r="0" t="34211"/>
          <a:stretch/>
        </p:blipFill>
        <p:spPr>
          <a:xfrm>
            <a:off x="426125" y="989325"/>
            <a:ext cx="3924851" cy="3466912"/>
          </a:xfrm>
          <a:prstGeom prst="rect">
            <a:avLst/>
          </a:prstGeom>
          <a:noFill/>
          <a:ln>
            <a:noFill/>
          </a:ln>
        </p:spPr>
      </p:pic>
      <p:sp>
        <p:nvSpPr>
          <p:cNvPr id="133" name="Google Shape;133;p18"/>
          <p:cNvSpPr txBox="1"/>
          <p:nvPr/>
        </p:nvSpPr>
        <p:spPr>
          <a:xfrm>
            <a:off x="6241500" y="945263"/>
            <a:ext cx="8520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2040">
                <a:solidFill>
                  <a:schemeClr val="lt1"/>
                </a:solidFill>
                <a:latin typeface="Inter"/>
                <a:ea typeface="Inter"/>
                <a:cs typeface="Inter"/>
                <a:sym typeface="Inter"/>
              </a:rPr>
              <a:t>α ≡ λ</a:t>
            </a:r>
            <a:endParaRPr sz="31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cxnSp>
        <p:nvCxnSpPr>
          <p:cNvPr id="138" name="Google Shape;138;p19"/>
          <p:cNvCxnSpPr/>
          <p:nvPr/>
        </p:nvCxnSpPr>
        <p:spPr>
          <a:xfrm>
            <a:off x="381000" y="781638"/>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39" name="Google Shape;139;p19"/>
          <p:cNvSpPr txBox="1"/>
          <p:nvPr>
            <p:ph type="title"/>
          </p:nvPr>
        </p:nvSpPr>
        <p:spPr>
          <a:xfrm>
            <a:off x="502700" y="333775"/>
            <a:ext cx="8382000" cy="381000"/>
          </a:xfrm>
          <a:prstGeom prst="rect">
            <a:avLst/>
          </a:prstGeom>
          <a:solidFill>
            <a:srgbClr val="000000">
              <a:alpha val="0"/>
            </a:srgbClr>
          </a:solid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27742"/>
              <a:buFont typeface="Arial"/>
              <a:buNone/>
            </a:pPr>
            <a:r>
              <a:rPr lang="it" sz="861">
                <a:solidFill>
                  <a:srgbClr val="3B82F6"/>
                </a:solidFill>
                <a:latin typeface="Inter SemiBold"/>
                <a:ea typeface="Inter SemiBold"/>
                <a:cs typeface="Inter SemiBold"/>
                <a:sym typeface="Inter SemiBold"/>
              </a:rPr>
              <a:t>INTRODUCTION</a:t>
            </a:r>
            <a:endParaRPr sz="2011">
              <a:solidFill>
                <a:srgbClr val="F8F9FA"/>
              </a:solidFill>
              <a:latin typeface="Inter SemiBold"/>
              <a:ea typeface="Inter SemiBold"/>
              <a:cs typeface="Inter SemiBold"/>
              <a:sym typeface="Inter SemiBold"/>
            </a:endParaRPr>
          </a:p>
          <a:p>
            <a:pPr indent="0" lvl="0" marL="0" rtl="0" algn="l">
              <a:spcBef>
                <a:spcPts val="300"/>
              </a:spcBef>
              <a:spcAft>
                <a:spcPts val="0"/>
              </a:spcAft>
              <a:buNone/>
            </a:pPr>
            <a:r>
              <a:rPr b="0" lang="it" sz="2122">
                <a:solidFill>
                  <a:srgbClr val="F8F9FA"/>
                </a:solidFill>
                <a:latin typeface="Inter SemiBold"/>
                <a:ea typeface="Inter SemiBold"/>
                <a:cs typeface="Inter SemiBold"/>
                <a:sym typeface="Inter SemiBold"/>
              </a:rPr>
              <a:t>4-Roll Mill </a:t>
            </a:r>
            <a:r>
              <a:rPr lang="it" sz="2122">
                <a:solidFill>
                  <a:srgbClr val="F8F9FA"/>
                </a:solidFill>
                <a:latin typeface="Inter SemiBold"/>
                <a:ea typeface="Inter SemiBold"/>
                <a:cs typeface="Inter SemiBold"/>
                <a:sym typeface="Inter SemiBold"/>
              </a:rPr>
              <a:t>Flow Fields</a:t>
            </a:r>
            <a:endParaRPr b="0" sz="2122">
              <a:solidFill>
                <a:srgbClr val="F8F9FA"/>
              </a:solidFill>
              <a:latin typeface="Inter SemiBold"/>
              <a:ea typeface="Inter SemiBold"/>
              <a:cs typeface="Inter SemiBold"/>
              <a:sym typeface="Inter SemiBold"/>
            </a:endParaRPr>
          </a:p>
        </p:txBody>
      </p:sp>
      <p:grpSp>
        <p:nvGrpSpPr>
          <p:cNvPr id="140" name="Google Shape;140;p19"/>
          <p:cNvGrpSpPr/>
          <p:nvPr/>
        </p:nvGrpSpPr>
        <p:grpSpPr>
          <a:xfrm>
            <a:off x="4572000" y="1206288"/>
            <a:ext cx="4191000" cy="857400"/>
            <a:chOff x="0" y="0"/>
            <a:chExt cx="4191000" cy="857400"/>
          </a:xfrm>
        </p:grpSpPr>
        <p:sp>
          <p:nvSpPr>
            <p:cNvPr id="141" name="Google Shape;141;p19"/>
            <p:cNvSpPr/>
            <p:nvPr/>
          </p:nvSpPr>
          <p:spPr>
            <a:xfrm>
              <a:off x="0" y="0"/>
              <a:ext cx="4191000" cy="857400"/>
            </a:xfrm>
            <a:prstGeom prst="roundRect">
              <a:avLst>
                <a:gd fmla="val 6666"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9"/>
            <p:cNvSpPr/>
            <p:nvPr/>
          </p:nvSpPr>
          <p:spPr>
            <a:xfrm>
              <a:off x="0" y="0"/>
              <a:ext cx="28500" cy="8574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9"/>
            <p:cNvSpPr txBox="1"/>
            <p:nvPr/>
          </p:nvSpPr>
          <p:spPr>
            <a:xfrm>
              <a:off x="171450" y="79188"/>
              <a:ext cx="3905400" cy="68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it" sz="581">
                  <a:solidFill>
                    <a:srgbClr val="3B82F6"/>
                  </a:solidFill>
                  <a:latin typeface="Inter"/>
                  <a:ea typeface="Inter"/>
                  <a:cs typeface="Inter"/>
                  <a:sym typeface="Inter"/>
                </a:rPr>
                <a:t>01 / KINEMATIC RELATION</a:t>
              </a:r>
              <a:endParaRPr b="1" i="0" sz="581">
                <a:solidFill>
                  <a:srgbClr val="3B82F6"/>
                </a:solidFill>
                <a:latin typeface="Inter"/>
                <a:ea typeface="Inter"/>
                <a:cs typeface="Inter"/>
                <a:sym typeface="Inter"/>
              </a:endParaRPr>
            </a:p>
            <a:p>
              <a:pPr indent="0" lvl="0" marL="0" rtl="0" algn="l">
                <a:spcBef>
                  <a:spcPts val="0"/>
                </a:spcBef>
                <a:spcAft>
                  <a:spcPts val="0"/>
                </a:spcAft>
                <a:buNone/>
              </a:pPr>
              <a:r>
                <a:t/>
              </a:r>
              <a:endParaRPr b="1" sz="581">
                <a:solidFill>
                  <a:srgbClr val="3B82F6"/>
                </a:solidFill>
                <a:latin typeface="Inter"/>
                <a:ea typeface="Inter"/>
                <a:cs typeface="Inter"/>
                <a:sym typeface="Inter"/>
              </a:endParaRPr>
            </a:p>
            <a:p>
              <a:pPr indent="0" lvl="0" marL="0" rtl="0" algn="l">
                <a:spcBef>
                  <a:spcPts val="0"/>
                </a:spcBef>
                <a:spcAft>
                  <a:spcPts val="0"/>
                </a:spcAft>
                <a:buNone/>
              </a:pPr>
              <a:r>
                <a:t/>
              </a:r>
              <a:endParaRPr b="1" sz="581">
                <a:solidFill>
                  <a:srgbClr val="3B82F6"/>
                </a:solidFill>
                <a:latin typeface="Inter"/>
                <a:ea typeface="Inter"/>
                <a:cs typeface="Inter"/>
                <a:sym typeface="Inter"/>
              </a:endParaRPr>
            </a:p>
            <a:p>
              <a:pPr indent="0" lvl="0" marL="0" rtl="0" algn="l">
                <a:spcBef>
                  <a:spcPts val="0"/>
                </a:spcBef>
                <a:spcAft>
                  <a:spcPts val="0"/>
                </a:spcAft>
                <a:buNone/>
              </a:pPr>
              <a:r>
                <a:t/>
              </a:r>
              <a:endParaRPr b="1" i="0" sz="581">
                <a:solidFill>
                  <a:srgbClr val="3B82F6"/>
                </a:solidFill>
                <a:latin typeface="Inter"/>
                <a:ea typeface="Inter"/>
                <a:cs typeface="Inter"/>
                <a:sym typeface="Inter"/>
              </a:endParaRPr>
            </a:p>
            <a:p>
              <a:pPr indent="0" lvl="0" marL="0" rtl="0" algn="l">
                <a:spcBef>
                  <a:spcPts val="300"/>
                </a:spcBef>
                <a:spcAft>
                  <a:spcPts val="0"/>
                </a:spcAft>
                <a:buNone/>
              </a:pPr>
              <a:r>
                <a:rPr lang="it" sz="659">
                  <a:solidFill>
                    <a:srgbClr val="94A3B8"/>
                  </a:solidFill>
                  <a:latin typeface="Inter"/>
                  <a:ea typeface="Inter"/>
                  <a:cs typeface="Inter"/>
                  <a:sym typeface="Inter"/>
                </a:rPr>
                <a:t>            </a:t>
              </a:r>
              <a:r>
                <a:rPr b="0" i="0" lang="it" sz="659">
                  <a:solidFill>
                    <a:srgbClr val="94A3B8"/>
                  </a:solidFill>
                  <a:latin typeface="Inter"/>
                  <a:ea typeface="Inter"/>
                  <a:cs typeface="Inter"/>
                  <a:sym typeface="Inter"/>
                </a:rPr>
                <a:t>(strain rate/scale of deformation),  (flow regime parameter)</a:t>
              </a:r>
              <a:endParaRPr b="1" i="0" sz="581">
                <a:solidFill>
                  <a:srgbClr val="3B82F6"/>
                </a:solidFill>
                <a:latin typeface="Inter"/>
                <a:ea typeface="Inter"/>
                <a:cs typeface="Inter"/>
                <a:sym typeface="Inter"/>
              </a:endParaRPr>
            </a:p>
          </p:txBody>
        </p:sp>
      </p:grpSp>
      <p:sp>
        <p:nvSpPr>
          <p:cNvPr id="144" name="Google Shape;144;p19"/>
          <p:cNvSpPr/>
          <p:nvPr/>
        </p:nvSpPr>
        <p:spPr>
          <a:xfrm>
            <a:off x="4572000" y="2341075"/>
            <a:ext cx="4191000" cy="1666800"/>
          </a:xfrm>
          <a:prstGeom prst="roundRect">
            <a:avLst>
              <a:gd fmla="val 3428"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9"/>
          <p:cNvSpPr/>
          <p:nvPr/>
        </p:nvSpPr>
        <p:spPr>
          <a:xfrm>
            <a:off x="4572000" y="2341075"/>
            <a:ext cx="28500" cy="16668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47" name="Google Shape;147;p19"/>
          <p:cNvSpPr txBox="1"/>
          <p:nvPr/>
        </p:nvSpPr>
        <p:spPr>
          <a:xfrm>
            <a:off x="381000" y="4686300"/>
            <a:ext cx="838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3B82F6"/>
                </a:solidFill>
                <a:latin typeface="Inter SemiBold"/>
                <a:ea typeface="Inter SemiBold"/>
                <a:cs typeface="Inter SemiBold"/>
                <a:sym typeface="Inter SemiBold"/>
              </a:rPr>
              <a:t>Reference:</a:t>
            </a:r>
            <a:r>
              <a:rPr b="0" lang="it" sz="800">
                <a:solidFill>
                  <a:srgbClr val="64748B"/>
                </a:solidFill>
                <a:latin typeface="Inter"/>
                <a:ea typeface="Inter"/>
                <a:cs typeface="Inter"/>
                <a:sym typeface="Inter"/>
              </a:rPr>
              <a:t> </a:t>
            </a:r>
            <a:r>
              <a:rPr lang="it" sz="800">
                <a:solidFill>
                  <a:srgbClr val="64748B"/>
                </a:solidFill>
                <a:latin typeface="Inter"/>
                <a:ea typeface="Inter"/>
                <a:cs typeface="Inter"/>
                <a:sym typeface="Inter"/>
              </a:rPr>
              <a:t>Fuller</a:t>
            </a:r>
            <a:r>
              <a:rPr b="0" lang="it" sz="800">
                <a:solidFill>
                  <a:srgbClr val="64748B"/>
                </a:solidFill>
                <a:latin typeface="Inter"/>
                <a:ea typeface="Inter"/>
                <a:cs typeface="Inter"/>
                <a:sym typeface="Inter"/>
              </a:rPr>
              <a:t> et al. (</a:t>
            </a:r>
            <a:r>
              <a:rPr lang="it" sz="800">
                <a:solidFill>
                  <a:srgbClr val="64748B"/>
                </a:solidFill>
                <a:latin typeface="Inter"/>
                <a:ea typeface="Inter"/>
                <a:cs typeface="Inter"/>
                <a:sym typeface="Inter"/>
              </a:rPr>
              <a:t>1981</a:t>
            </a:r>
            <a:r>
              <a:rPr b="0" lang="it" sz="800">
                <a:solidFill>
                  <a:srgbClr val="64748B"/>
                </a:solidFill>
                <a:latin typeface="Inter"/>
                <a:ea typeface="Inter"/>
                <a:cs typeface="Inter"/>
                <a:sym typeface="Inter"/>
              </a:rPr>
              <a:t>) — </a:t>
            </a:r>
            <a:r>
              <a:rPr lang="it" sz="800">
                <a:solidFill>
                  <a:srgbClr val="64748B"/>
                </a:solidFill>
                <a:latin typeface="Inter"/>
                <a:ea typeface="Inter"/>
                <a:cs typeface="Inter"/>
                <a:sym typeface="Inter"/>
              </a:rPr>
              <a:t>Flow birefringence of concentrated polymer solutions in two-dimensional flows</a:t>
            </a:r>
            <a:endParaRPr b="0" sz="800">
              <a:solidFill>
                <a:srgbClr val="3B82F6"/>
              </a:solidFill>
              <a:latin typeface="Inter SemiBold"/>
              <a:ea typeface="Inter SemiBold"/>
              <a:cs typeface="Inter SemiBold"/>
              <a:sym typeface="Inter SemiBold"/>
            </a:endParaRPr>
          </a:p>
        </p:txBody>
      </p:sp>
      <p:cxnSp>
        <p:nvCxnSpPr>
          <p:cNvPr id="148" name="Google Shape;148;p19"/>
          <p:cNvCxnSpPr/>
          <p:nvPr/>
        </p:nvCxnSpPr>
        <p:spPr>
          <a:xfrm>
            <a:off x="381000" y="45720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49" name="Google Shape;149;p19"/>
          <p:cNvSpPr/>
          <p:nvPr/>
        </p:nvSpPr>
        <p:spPr>
          <a:xfrm>
            <a:off x="381000" y="28575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9"/>
          <p:cNvSpPr txBox="1"/>
          <p:nvPr/>
        </p:nvSpPr>
        <p:spPr>
          <a:xfrm>
            <a:off x="4743450" y="1485900"/>
            <a:ext cx="3810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it" sz="1150">
                <a:solidFill>
                  <a:srgbClr val="F8F9FA"/>
                </a:solidFill>
                <a:latin typeface="Inter"/>
                <a:ea typeface="Inter"/>
                <a:cs typeface="Inter"/>
                <a:sym typeface="Inter"/>
              </a:rPr>
              <a:t>ω</a:t>
            </a:r>
            <a:r>
              <a:rPr lang="it" sz="1150">
                <a:solidFill>
                  <a:srgbClr val="F8F9FA"/>
                </a:solidFill>
                <a:latin typeface="Inter"/>
                <a:ea typeface="Inter"/>
                <a:cs typeface="Inter"/>
                <a:sym typeface="Inter"/>
              </a:rPr>
              <a:t>1 = </a:t>
            </a:r>
            <a:r>
              <a:rPr i="1" lang="it" sz="1150">
                <a:solidFill>
                  <a:srgbClr val="F8F9FA"/>
                </a:solidFill>
                <a:latin typeface="Inter"/>
                <a:ea typeface="Inter"/>
                <a:cs typeface="Inter"/>
                <a:sym typeface="Inter"/>
              </a:rPr>
              <a:t>ω</a:t>
            </a:r>
            <a:r>
              <a:rPr lang="it" sz="1150">
                <a:solidFill>
                  <a:srgbClr val="F8F9FA"/>
                </a:solidFill>
                <a:latin typeface="Inter"/>
                <a:ea typeface="Inter"/>
                <a:cs typeface="Inter"/>
                <a:sym typeface="Inter"/>
              </a:rPr>
              <a:t>3 = </a:t>
            </a:r>
            <a:r>
              <a:rPr i="1" lang="it" sz="1150">
                <a:solidFill>
                  <a:srgbClr val="F8F9FA"/>
                </a:solidFill>
                <a:latin typeface="Inter"/>
                <a:ea typeface="Inter"/>
                <a:cs typeface="Inter"/>
                <a:sym typeface="Inter"/>
              </a:rPr>
              <a:t>Ω</a:t>
            </a:r>
            <a:r>
              <a:rPr lang="it" sz="1150">
                <a:solidFill>
                  <a:srgbClr val="F8F9FA"/>
                </a:solidFill>
                <a:latin typeface="Inter"/>
                <a:ea typeface="Inter"/>
                <a:cs typeface="Inter"/>
                <a:sym typeface="Inter"/>
              </a:rPr>
              <a:t>,    </a:t>
            </a:r>
            <a:r>
              <a:rPr i="1" lang="it" sz="1150">
                <a:solidFill>
                  <a:srgbClr val="F8F9FA"/>
                </a:solidFill>
                <a:latin typeface="Inter"/>
                <a:ea typeface="Inter"/>
                <a:cs typeface="Inter"/>
                <a:sym typeface="Inter"/>
              </a:rPr>
              <a:t>ω</a:t>
            </a:r>
            <a:r>
              <a:rPr lang="it" sz="1150">
                <a:solidFill>
                  <a:srgbClr val="F8F9FA"/>
                </a:solidFill>
                <a:latin typeface="Inter"/>
                <a:ea typeface="Inter"/>
                <a:cs typeface="Inter"/>
                <a:sym typeface="Inter"/>
              </a:rPr>
              <a:t>2 = </a:t>
            </a:r>
            <a:r>
              <a:rPr i="1" lang="it" sz="1150">
                <a:solidFill>
                  <a:srgbClr val="F8F9FA"/>
                </a:solidFill>
                <a:latin typeface="Inter"/>
                <a:ea typeface="Inter"/>
                <a:cs typeface="Inter"/>
                <a:sym typeface="Inter"/>
              </a:rPr>
              <a:t>ω</a:t>
            </a:r>
            <a:r>
              <a:rPr lang="it" sz="1150">
                <a:solidFill>
                  <a:srgbClr val="F8F9FA"/>
                </a:solidFill>
                <a:latin typeface="Inter"/>
                <a:ea typeface="Inter"/>
                <a:cs typeface="Inter"/>
                <a:sym typeface="Inter"/>
              </a:rPr>
              <a:t>4 = −</a:t>
            </a:r>
            <a:r>
              <a:rPr i="1" lang="it" sz="1150">
                <a:solidFill>
                  <a:srgbClr val="F8F9FA"/>
                </a:solidFill>
                <a:latin typeface="Inter"/>
                <a:ea typeface="Inter"/>
                <a:cs typeface="Inter"/>
                <a:sym typeface="Inter"/>
              </a:rPr>
              <a:t>αΩ</a:t>
            </a:r>
            <a:r>
              <a:rPr lang="it" sz="1150">
                <a:solidFill>
                  <a:srgbClr val="F8F9FA"/>
                </a:solidFill>
                <a:latin typeface="Inter"/>
                <a:ea typeface="Inter"/>
                <a:cs typeface="Inter"/>
                <a:sym typeface="Inter"/>
              </a:rPr>
              <a:t>    (−1 ≤ </a:t>
            </a:r>
            <a:r>
              <a:rPr i="1" lang="it" sz="1150">
                <a:solidFill>
                  <a:srgbClr val="F8F9FA"/>
                </a:solidFill>
                <a:latin typeface="Inter"/>
                <a:ea typeface="Inter"/>
                <a:cs typeface="Inter"/>
                <a:sym typeface="Inter"/>
              </a:rPr>
              <a:t>α</a:t>
            </a:r>
            <a:r>
              <a:rPr lang="it" sz="1150">
                <a:solidFill>
                  <a:srgbClr val="F8F9FA"/>
                </a:solidFill>
                <a:latin typeface="Inter"/>
                <a:ea typeface="Inter"/>
                <a:cs typeface="Inter"/>
                <a:sym typeface="Inter"/>
              </a:rPr>
              <a:t> ≤ 1)</a:t>
            </a:r>
            <a:endParaRPr sz="1150">
              <a:solidFill>
                <a:srgbClr val="F8F9FA"/>
              </a:solidFill>
              <a:latin typeface="Inter"/>
              <a:ea typeface="Inter"/>
              <a:cs typeface="Inter"/>
              <a:sym typeface="Inter"/>
            </a:endParaRPr>
          </a:p>
        </p:txBody>
      </p:sp>
      <p:pic>
        <p:nvPicPr>
          <p:cNvPr id="151" name="Google Shape;151;p19" title="{&quot;red&quot;:148,&quot;green&quot;:163,&quot;blue&quot;:184,&quot;origURL&quot;:&quot;https://saxarona.github.io/mathjax-viewer/?input=%5COmega%20%3E%200#2&quot;,&quot;size&quot;:6.587500095367432,&quot;width&quot;:307.51181102362204,&quot;height&quot;:52.511811023622045,&quot;slideId&quot;:&quot;h7736fbc2b4c5ba4e_0_192&quot;,&quot;pageElementId&quot;:&quot;h7736fbc2b4c5ba4e_0_197&quot;,&quot;spaceCount&quot;:10,&quot;spaceStart&quot;:58}"/>
          <p:cNvPicPr preferRelativeResize="0"/>
          <p:nvPr/>
        </p:nvPicPr>
        <p:blipFill>
          <a:blip r:embed="rId4">
            <a:alphaModFix/>
          </a:blip>
          <a:stretch>
            <a:fillRect/>
          </a:stretch>
        </p:blipFill>
        <p:spPr>
          <a:xfrm>
            <a:off x="4755505" y="1793792"/>
            <a:ext cx="240030" cy="72009"/>
          </a:xfrm>
          <a:prstGeom prst="rect">
            <a:avLst/>
          </a:prstGeom>
          <a:noFill/>
          <a:ln>
            <a:noFill/>
          </a:ln>
        </p:spPr>
      </p:pic>
      <p:sp>
        <p:nvSpPr>
          <p:cNvPr id="152" name="Google Shape;152;p19"/>
          <p:cNvSpPr txBox="1"/>
          <p:nvPr/>
        </p:nvSpPr>
        <p:spPr>
          <a:xfrm>
            <a:off x="6343650" y="1762125"/>
            <a:ext cx="1524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it" sz="850">
                <a:solidFill>
                  <a:srgbClr val="94A3B8"/>
                </a:solidFill>
                <a:latin typeface="Inter"/>
                <a:ea typeface="Inter"/>
                <a:cs typeface="Inter"/>
                <a:sym typeface="Inter"/>
              </a:rPr>
              <a:t>α</a:t>
            </a:r>
            <a:endParaRPr sz="850">
              <a:solidFill>
                <a:srgbClr val="94A3B8"/>
              </a:solidFill>
              <a:latin typeface="Inter"/>
              <a:ea typeface="Inter"/>
              <a:cs typeface="Inter"/>
              <a:sym typeface="Inter"/>
            </a:endParaRPr>
          </a:p>
        </p:txBody>
      </p:sp>
      <p:graphicFrame>
        <p:nvGraphicFramePr>
          <p:cNvPr id="153" name="Google Shape;153;p19"/>
          <p:cNvGraphicFramePr/>
          <p:nvPr/>
        </p:nvGraphicFramePr>
        <p:xfrm>
          <a:off x="4692200" y="2392600"/>
          <a:ext cx="3000000" cy="3000000"/>
        </p:xfrm>
        <a:graphic>
          <a:graphicData uri="http://schemas.openxmlformats.org/drawingml/2006/table">
            <a:tbl>
              <a:tblPr>
                <a:noFill/>
                <a:tableStyleId>{A55B907E-7D9E-48C9-B85B-D97ED318B6F1}</a:tableStyleId>
              </a:tblPr>
              <a:tblGrid>
                <a:gridCol w="1301750"/>
                <a:gridCol w="1301750"/>
                <a:gridCol w="1301750"/>
              </a:tblGrid>
              <a:tr h="369075">
                <a:tc>
                  <a:txBody>
                    <a:bodyPr/>
                    <a:lstStyle/>
                    <a:p>
                      <a:pPr indent="0" lvl="0" marL="0" rtl="0" algn="l">
                        <a:spcBef>
                          <a:spcPts val="0"/>
                        </a:spcBef>
                        <a:spcAft>
                          <a:spcPts val="0"/>
                        </a:spcAft>
                        <a:buNone/>
                      </a:pPr>
                      <a:r>
                        <a:t/>
                      </a:r>
                      <a:endParaRPr/>
                    </a:p>
                  </a:txBody>
                  <a:tcPr marT="38100" marB="3810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272D35"/>
                      </a:solidFill>
                      <a:prstDash val="solid"/>
                      <a:round/>
                      <a:headEnd len="sm" w="sm" type="none"/>
                      <a:tailEnd len="sm" w="sm" type="none"/>
                    </a:lnB>
                  </a:tcPr>
                </a:tc>
                <a:tc>
                  <a:txBody>
                    <a:bodyPr/>
                    <a:lstStyle/>
                    <a:p>
                      <a:pPr indent="0" lvl="0" marL="0" rtl="0" algn="l">
                        <a:spcBef>
                          <a:spcPts val="0"/>
                        </a:spcBef>
                        <a:spcAft>
                          <a:spcPts val="0"/>
                        </a:spcAft>
                        <a:buNone/>
                      </a:pPr>
                      <a:r>
                        <a:rPr b="0" i="0" lang="it" sz="750">
                          <a:solidFill>
                            <a:srgbClr val="3B82F6"/>
                          </a:solidFill>
                          <a:latin typeface="Inter SemiBold"/>
                          <a:ea typeface="Inter SemiBold"/>
                          <a:cs typeface="Inter SemiBold"/>
                          <a:sym typeface="Inter SemiBold"/>
                        </a:rPr>
                        <a:t>Velocity</a:t>
                      </a:r>
                      <a:endParaRPr b="0" i="0" sz="750">
                        <a:solidFill>
                          <a:srgbClr val="3B82F6"/>
                        </a:solidFill>
                        <a:latin typeface="Inter SemiBold"/>
                        <a:ea typeface="Inter SemiBold"/>
                        <a:cs typeface="Inter SemiBold"/>
                        <a:sym typeface="Inter SemiBold"/>
                      </a:endParaRPr>
                    </a:p>
                  </a:txBody>
                  <a:tcPr marT="38100" marB="3810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272D35"/>
                      </a:solidFill>
                      <a:prstDash val="solid"/>
                      <a:round/>
                      <a:headEnd len="sm" w="sm" type="none"/>
                      <a:tailEnd len="sm" w="sm" type="none"/>
                    </a:lnB>
                  </a:tcPr>
                </a:tc>
                <a:tc>
                  <a:txBody>
                    <a:bodyPr/>
                    <a:lstStyle/>
                    <a:p>
                      <a:pPr indent="0" lvl="0" marL="0" rtl="0" algn="l">
                        <a:spcBef>
                          <a:spcPts val="0"/>
                        </a:spcBef>
                        <a:spcAft>
                          <a:spcPts val="0"/>
                        </a:spcAft>
                        <a:buNone/>
                      </a:pPr>
                      <a:r>
                        <a:rPr b="0" i="0" lang="it" sz="750">
                          <a:solidFill>
                            <a:srgbClr val="3B82F6"/>
                          </a:solidFill>
                          <a:latin typeface="Inter SemiBold"/>
                          <a:ea typeface="Inter SemiBold"/>
                          <a:cs typeface="Inter SemiBold"/>
                          <a:sym typeface="Inter SemiBold"/>
                        </a:rPr>
                        <a:t>Flow Regime</a:t>
                      </a:r>
                      <a:endParaRPr b="0" i="0" sz="750">
                        <a:solidFill>
                          <a:srgbClr val="3B82F6"/>
                        </a:solidFill>
                        <a:latin typeface="Inter SemiBold"/>
                        <a:ea typeface="Inter SemiBold"/>
                        <a:cs typeface="Inter SemiBold"/>
                        <a:sym typeface="Inter SemiBold"/>
                      </a:endParaRPr>
                    </a:p>
                  </a:txBody>
                  <a:tcPr marT="38100" marB="3810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272D35"/>
                      </a:solidFill>
                      <a:prstDash val="solid"/>
                      <a:round/>
                      <a:headEnd len="sm" w="sm" type="none"/>
                      <a:tailEnd len="sm" w="sm" type="none"/>
                    </a:lnB>
                  </a:tcPr>
                </a:tc>
              </a:tr>
              <a:tr h="369100">
                <a:tc>
                  <a:txBody>
                    <a:bodyPr/>
                    <a:lstStyle/>
                    <a:p>
                      <a:pPr indent="0" lvl="0" marL="0" rtl="0" algn="l">
                        <a:spcBef>
                          <a:spcPts val="0"/>
                        </a:spcBef>
                        <a:spcAft>
                          <a:spcPts val="0"/>
                        </a:spcAft>
                        <a:buNone/>
                      </a:pPr>
                      <a:r>
                        <a:rPr lang="it" sz="1800">
                          <a:solidFill>
                            <a:srgbClr val="3B82F6"/>
                          </a:solidFill>
                          <a:latin typeface="Inter SemiBold"/>
                          <a:ea typeface="Inter SemiBold"/>
                          <a:cs typeface="Inter SemiBold"/>
                          <a:sym typeface="Inter SemiBold"/>
                        </a:rPr>
                        <a:t>1</a:t>
                      </a:r>
                      <a:endParaRPr sz="1800">
                        <a:solidFill>
                          <a:srgbClr val="3B82F6"/>
                        </a:solidFill>
                        <a:latin typeface="Inter SemiBold"/>
                        <a:ea typeface="Inter SemiBold"/>
                        <a:cs typeface="Inter SemiBold"/>
                        <a:sym typeface="Inter SemiBold"/>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272D35"/>
                      </a:solidFill>
                      <a:prstDash val="solid"/>
                      <a:round/>
                      <a:headEnd len="sm" w="sm" type="none"/>
                      <a:tailEnd len="sm" w="sm" type="none"/>
                    </a:lnT>
                    <a:lnB cap="flat" cmpd="sng" w="9525">
                      <a:solidFill>
                        <a:srgbClr val="1E263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272D35"/>
                      </a:solidFill>
                      <a:prstDash val="solid"/>
                      <a:round/>
                      <a:headEnd len="sm" w="sm" type="none"/>
                      <a:tailEnd len="sm" w="sm" type="none"/>
                    </a:lnT>
                    <a:lnB cap="flat" cmpd="sng" w="9525">
                      <a:solidFill>
                        <a:srgbClr val="1E2631"/>
                      </a:solidFill>
                      <a:prstDash val="solid"/>
                      <a:round/>
                      <a:headEnd len="sm" w="sm" type="none"/>
                      <a:tailEnd len="sm" w="sm" type="none"/>
                    </a:lnB>
                  </a:tcPr>
                </a:tc>
                <a:tc>
                  <a:txBody>
                    <a:bodyPr/>
                    <a:lstStyle/>
                    <a:p>
                      <a:pPr indent="0" lvl="0" marL="0" rtl="0" algn="l">
                        <a:spcBef>
                          <a:spcPts val="0"/>
                        </a:spcBef>
                        <a:spcAft>
                          <a:spcPts val="0"/>
                        </a:spcAft>
                        <a:buNone/>
                      </a:pPr>
                      <a:r>
                        <a:rPr b="0" i="0" lang="it" sz="1000">
                          <a:solidFill>
                            <a:srgbClr val="F8F9FA"/>
                          </a:solidFill>
                          <a:latin typeface="Inter SemiBold"/>
                          <a:ea typeface="Inter SemiBold"/>
                          <a:cs typeface="Inter SemiBold"/>
                          <a:sym typeface="Inter SemiBold"/>
                        </a:rPr>
                        <a:t>Planar extensional</a:t>
                      </a:r>
                      <a:endParaRPr b="0" i="0" sz="1000">
                        <a:solidFill>
                          <a:srgbClr val="F8F9FA"/>
                        </a:solidFill>
                        <a:latin typeface="Inter SemiBold"/>
                        <a:ea typeface="Inter SemiBold"/>
                        <a:cs typeface="Inter SemiBold"/>
                        <a:sym typeface="Inter SemiBold"/>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272D35"/>
                      </a:solidFill>
                      <a:prstDash val="solid"/>
                      <a:round/>
                      <a:headEnd len="sm" w="sm" type="none"/>
                      <a:tailEnd len="sm" w="sm" type="none"/>
                    </a:lnT>
                    <a:lnB cap="flat" cmpd="sng" w="9525">
                      <a:solidFill>
                        <a:srgbClr val="1E2631"/>
                      </a:solidFill>
                      <a:prstDash val="solid"/>
                      <a:round/>
                      <a:headEnd len="sm" w="sm" type="none"/>
                      <a:tailEnd len="sm" w="sm" type="none"/>
                    </a:lnB>
                  </a:tcPr>
                </a:tc>
              </a:tr>
              <a:tr h="369100">
                <a:tc>
                  <a:txBody>
                    <a:bodyPr/>
                    <a:lstStyle/>
                    <a:p>
                      <a:pPr indent="0" lvl="0" marL="0" rtl="0" algn="l">
                        <a:spcBef>
                          <a:spcPts val="0"/>
                        </a:spcBef>
                        <a:spcAft>
                          <a:spcPts val="0"/>
                        </a:spcAft>
                        <a:buNone/>
                      </a:pPr>
                      <a:r>
                        <a:rPr lang="it" sz="1800">
                          <a:solidFill>
                            <a:srgbClr val="3B82F6"/>
                          </a:solidFill>
                          <a:latin typeface="Inter SemiBold"/>
                          <a:ea typeface="Inter SemiBold"/>
                          <a:cs typeface="Inter SemiBold"/>
                          <a:sym typeface="Inter SemiBold"/>
                        </a:rPr>
                        <a:t>0</a:t>
                      </a:r>
                      <a:endParaRPr sz="1800">
                        <a:solidFill>
                          <a:srgbClr val="3B82F6"/>
                        </a:solidFill>
                        <a:latin typeface="Inter SemiBold"/>
                        <a:ea typeface="Inter SemiBold"/>
                        <a:cs typeface="Inter SemiBold"/>
                        <a:sym typeface="Inter SemiBold"/>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1E2631"/>
                      </a:solidFill>
                      <a:prstDash val="solid"/>
                      <a:round/>
                      <a:headEnd len="sm" w="sm" type="none"/>
                      <a:tailEnd len="sm" w="sm" type="none"/>
                    </a:lnT>
                    <a:lnB cap="flat" cmpd="sng" w="9525">
                      <a:solidFill>
                        <a:srgbClr val="1E263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1E2631"/>
                      </a:solidFill>
                      <a:prstDash val="solid"/>
                      <a:round/>
                      <a:headEnd len="sm" w="sm" type="none"/>
                      <a:tailEnd len="sm" w="sm" type="none"/>
                    </a:lnT>
                    <a:lnB cap="flat" cmpd="sng" w="9525">
                      <a:solidFill>
                        <a:srgbClr val="1E2631"/>
                      </a:solidFill>
                      <a:prstDash val="solid"/>
                      <a:round/>
                      <a:headEnd len="sm" w="sm" type="none"/>
                      <a:tailEnd len="sm" w="sm" type="none"/>
                    </a:lnB>
                  </a:tcPr>
                </a:tc>
                <a:tc>
                  <a:txBody>
                    <a:bodyPr/>
                    <a:lstStyle/>
                    <a:p>
                      <a:pPr indent="0" lvl="0" marL="0" rtl="0" algn="l">
                        <a:spcBef>
                          <a:spcPts val="0"/>
                        </a:spcBef>
                        <a:spcAft>
                          <a:spcPts val="0"/>
                        </a:spcAft>
                        <a:buNone/>
                      </a:pPr>
                      <a:r>
                        <a:rPr b="0" i="0" lang="it" sz="1000">
                          <a:solidFill>
                            <a:srgbClr val="F8F9FA"/>
                          </a:solidFill>
                          <a:latin typeface="Inter SemiBold"/>
                          <a:ea typeface="Inter SemiBold"/>
                          <a:cs typeface="Inter SemiBold"/>
                          <a:sym typeface="Inter SemiBold"/>
                        </a:rPr>
                        <a:t>Simple shear</a:t>
                      </a:r>
                      <a:endParaRPr b="0" i="0" sz="1000">
                        <a:solidFill>
                          <a:srgbClr val="F8F9FA"/>
                        </a:solidFill>
                        <a:latin typeface="Inter SemiBold"/>
                        <a:ea typeface="Inter SemiBold"/>
                        <a:cs typeface="Inter SemiBold"/>
                        <a:sym typeface="Inter SemiBold"/>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1E2631"/>
                      </a:solidFill>
                      <a:prstDash val="solid"/>
                      <a:round/>
                      <a:headEnd len="sm" w="sm" type="none"/>
                      <a:tailEnd len="sm" w="sm" type="none"/>
                    </a:lnT>
                    <a:lnB cap="flat" cmpd="sng" w="9525">
                      <a:solidFill>
                        <a:srgbClr val="1E2631"/>
                      </a:solidFill>
                      <a:prstDash val="solid"/>
                      <a:round/>
                      <a:headEnd len="sm" w="sm" type="none"/>
                      <a:tailEnd len="sm" w="sm" type="none"/>
                    </a:lnB>
                  </a:tcPr>
                </a:tc>
              </a:tr>
              <a:tr h="369100">
                <a:tc>
                  <a:txBody>
                    <a:bodyPr/>
                    <a:lstStyle/>
                    <a:p>
                      <a:pPr indent="0" lvl="0" marL="0" rtl="0" algn="l">
                        <a:spcBef>
                          <a:spcPts val="0"/>
                        </a:spcBef>
                        <a:spcAft>
                          <a:spcPts val="0"/>
                        </a:spcAft>
                        <a:buNone/>
                      </a:pPr>
                      <a:r>
                        <a:rPr lang="it" sz="1800">
                          <a:solidFill>
                            <a:srgbClr val="3B82F6"/>
                          </a:solidFill>
                          <a:latin typeface="Inter SemiBold"/>
                          <a:ea typeface="Inter SemiBold"/>
                          <a:cs typeface="Inter SemiBold"/>
                          <a:sym typeface="Inter SemiBold"/>
                        </a:rPr>
                        <a:t>-1</a:t>
                      </a:r>
                      <a:endParaRPr sz="1800">
                        <a:solidFill>
                          <a:srgbClr val="3B82F6"/>
                        </a:solidFill>
                        <a:latin typeface="Inter SemiBold"/>
                        <a:ea typeface="Inter SemiBold"/>
                        <a:cs typeface="Inter SemiBold"/>
                        <a:sym typeface="Inter SemiBold"/>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1E263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1E2631"/>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0" i="0" lang="it" sz="1000">
                          <a:solidFill>
                            <a:srgbClr val="F8F9FA"/>
                          </a:solidFill>
                          <a:latin typeface="Inter SemiBold"/>
                          <a:ea typeface="Inter SemiBold"/>
                          <a:cs typeface="Inter SemiBold"/>
                          <a:sym typeface="Inter SemiBold"/>
                        </a:rPr>
                        <a:t>Pure rotational</a:t>
                      </a:r>
                      <a:endParaRPr b="0" i="0" sz="1000">
                        <a:solidFill>
                          <a:srgbClr val="F8F9FA"/>
                        </a:solidFill>
                        <a:latin typeface="Inter SemiBold"/>
                        <a:ea typeface="Inter SemiBold"/>
                        <a:cs typeface="Inter SemiBold"/>
                        <a:sym typeface="Inter SemiBold"/>
                      </a:endParaRPr>
                    </a:p>
                  </a:txBody>
                  <a:tcPr marT="57150" marB="57150" marR="57150" marL="57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1E2631"/>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4" name="Google Shape;154;p19"/>
          <p:cNvSpPr txBox="1"/>
          <p:nvPr/>
        </p:nvSpPr>
        <p:spPr>
          <a:xfrm>
            <a:off x="4686300" y="23622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2200">
                <a:solidFill>
                  <a:srgbClr val="3B82F6"/>
                </a:solidFill>
                <a:latin typeface="Inter Medium"/>
                <a:ea typeface="Inter Medium"/>
                <a:cs typeface="Inter Medium"/>
                <a:sym typeface="Inter Medium"/>
              </a:rPr>
              <a:t>α</a:t>
            </a:r>
            <a:endParaRPr b="0" sz="2200">
              <a:solidFill>
                <a:srgbClr val="3B82F6"/>
              </a:solidFill>
              <a:latin typeface="Inter Medium"/>
              <a:ea typeface="Inter Medium"/>
              <a:cs typeface="Inter Medium"/>
              <a:sym typeface="Inter Medium"/>
            </a:endParaRPr>
          </a:p>
        </p:txBody>
      </p:sp>
      <p:pic>
        <p:nvPicPr>
          <p:cNvPr id="155" name="Google Shape;155;p19" title="{&quot;red&quot;:59,&quot;green&quot;:130,&quot;blue&quot;:246,&quot;origURL&quot;:&quot;https://saxarona.github.io/mathjax-viewer/?input=(%5Comega_1%2C%20%5Comega_2%2C%20%5Comega_3%2C%20%5Comega_4)#2&quot;,&quot;size&quot;:7.5,&quot;width&quot;:102.5,&quot;height&quot;:29.061023622047244,&quot;slideId&quot;:&quot;h7736fbc2b4c5ba4e_0_192&quot;,&quot;pageElementId&quot;:&quot;h7736fbc2b4c5ba4e_0_201&quot;,&quot;tableRow&quot;:0,&quot;tableColumn&quot;:1,&quot;spaceCount&quot;:25,&quot;spaceStart&quot;:9}"/>
          <p:cNvPicPr preferRelativeResize="0"/>
          <p:nvPr/>
        </p:nvPicPr>
        <p:blipFill>
          <a:blip r:embed="rId5">
            <a:alphaModFix/>
          </a:blip>
          <a:stretch>
            <a:fillRect/>
          </a:stretch>
        </p:blipFill>
        <p:spPr>
          <a:xfrm>
            <a:off x="6463199" y="2448644"/>
            <a:ext cx="672084" cy="108013"/>
          </a:xfrm>
          <a:prstGeom prst="rect">
            <a:avLst/>
          </a:prstGeom>
          <a:noFill/>
          <a:ln>
            <a:noFill/>
          </a:ln>
        </p:spPr>
      </p:pic>
      <p:pic>
        <p:nvPicPr>
          <p:cNvPr id="156" name="Google Shape;156;p19" title="{&quot;red&quot;:203,&quot;green&quot;:213,&quot;blue&quot;:225,&quot;origURL&quot;:&quot;https://saxarona.github.io/mathjax-viewer/?input=(%5COmega%2C%20-%5COmega%2C%20%5COmega%2C%20-%5COmega)#2&quot;,&quot;size&quot;:14,&quot;width&quot;:102.5,&quot;height&quot;:29.062992125984252,&quot;slideId&quot;:&quot;h7736fbc2b4c5ba4e_0_192&quot;,&quot;pageElementId&quot;:&quot;h7736fbc2b4c5ba4e_0_201&quot;,&quot;tableRow&quot;:1,&quot;tableColumn&quot;:1,&quot;spaceCount&quot;:19,&quot;spaceStart&quot;:0}"/>
          <p:cNvPicPr preferRelativeResize="0"/>
          <p:nvPr/>
        </p:nvPicPr>
        <p:blipFill>
          <a:blip r:embed="rId6">
            <a:alphaModFix/>
          </a:blip>
          <a:stretch>
            <a:fillRect/>
          </a:stretch>
        </p:blipFill>
        <p:spPr>
          <a:xfrm>
            <a:off x="6045200" y="2941600"/>
            <a:ext cx="960125" cy="142250"/>
          </a:xfrm>
          <a:prstGeom prst="rect">
            <a:avLst/>
          </a:prstGeom>
          <a:noFill/>
          <a:ln>
            <a:noFill/>
          </a:ln>
        </p:spPr>
      </p:pic>
      <p:pic>
        <p:nvPicPr>
          <p:cNvPr id="157" name="Google Shape;157;p19" title="{&quot;red&quot;:203,&quot;green&quot;:213,&quot;blue&quot;:225,&quot;origURL&quot;:&quot;https://saxarona.github.io/mathjax-viewer/?input=(%5COmega%2C%200%2C%20%5COmega%2C%200)#2&quot;,&quot;size&quot;:14,&quot;width&quot;:102.5,&quot;height&quot;:29.062992125984252,&quot;slideId&quot;:&quot;h7736fbc2b4c5ba4e_0_192&quot;,&quot;pageElementId&quot;:&quot;h7736fbc2b4c5ba4e_0_201&quot;,&quot;tableRow&quot;:2,&quot;tableColumn&quot;:1,&quot;spaceCount&quot;:18,&quot;spaceStart&quot;:0}"/>
          <p:cNvPicPr preferRelativeResize="0"/>
          <p:nvPr/>
        </p:nvPicPr>
        <p:blipFill>
          <a:blip r:embed="rId7">
            <a:alphaModFix/>
          </a:blip>
          <a:stretch>
            <a:fillRect/>
          </a:stretch>
        </p:blipFill>
        <p:spPr>
          <a:xfrm>
            <a:off x="6075200" y="3278988"/>
            <a:ext cx="900113" cy="192024"/>
          </a:xfrm>
          <a:prstGeom prst="rect">
            <a:avLst/>
          </a:prstGeom>
          <a:noFill/>
          <a:ln>
            <a:noFill/>
          </a:ln>
        </p:spPr>
      </p:pic>
      <p:pic>
        <p:nvPicPr>
          <p:cNvPr id="158" name="Google Shape;158;p19" title="{&quot;red&quot;:203,&quot;green&quot;:213,&quot;blue&quot;:225,&quot;origURL&quot;:&quot;https://saxarona.github.io/mathjax-viewer/?input=(%5COmega%2C%20%5COmega%2C%20%5COmega%2C%20%5COmega)#2&quot;,&quot;size&quot;:14,&quot;width&quot;:102.5,&quot;height&quot;:29.062992125984252,&quot;slideId&quot;:&quot;h7736fbc2b4c5ba4e_0_192&quot;,&quot;pageElementId&quot;:&quot;h7736fbc2b4c5ba4e_0_201&quot;,&quot;tableRow&quot;:3,&quot;tableColumn&quot;:1,&quot;spaceCount&quot;:19,&quot;spaceStart&quot;:0}"/>
          <p:cNvPicPr preferRelativeResize="0"/>
          <p:nvPr/>
        </p:nvPicPr>
        <p:blipFill>
          <a:blip r:embed="rId8">
            <a:alphaModFix/>
          </a:blip>
          <a:stretch>
            <a:fillRect/>
          </a:stretch>
        </p:blipFill>
        <p:spPr>
          <a:xfrm>
            <a:off x="6045200" y="3666150"/>
            <a:ext cx="960121" cy="187341"/>
          </a:xfrm>
          <a:prstGeom prst="rect">
            <a:avLst/>
          </a:prstGeom>
          <a:noFill/>
          <a:ln>
            <a:noFill/>
          </a:ln>
        </p:spPr>
      </p:pic>
      <p:pic>
        <p:nvPicPr>
          <p:cNvPr id="159" name="Google Shape;159;p19"/>
          <p:cNvPicPr preferRelativeResize="0"/>
          <p:nvPr/>
        </p:nvPicPr>
        <p:blipFill>
          <a:blip r:embed="rId9">
            <a:alphaModFix/>
          </a:blip>
          <a:stretch>
            <a:fillRect/>
          </a:stretch>
        </p:blipFill>
        <p:spPr>
          <a:xfrm>
            <a:off x="381000" y="1189355"/>
            <a:ext cx="4038600" cy="29749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cxnSp>
        <p:nvCxnSpPr>
          <p:cNvPr id="164" name="Google Shape;164;p20"/>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65" name="Google Shape;165;p20"/>
          <p:cNvSpPr txBox="1"/>
          <p:nvPr>
            <p:ph type="title"/>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it" sz="2210">
                <a:solidFill>
                  <a:srgbClr val="F8F9FA"/>
                </a:solidFill>
                <a:latin typeface="Inter SemiBold"/>
                <a:ea typeface="Inter SemiBold"/>
                <a:cs typeface="Inter SemiBold"/>
                <a:sym typeface="Inter SemiBold"/>
              </a:rPr>
              <a:t>From Traditional CFD to Inference: Limits in Inverse Problems</a:t>
            </a:r>
            <a:endParaRPr b="0" sz="2210">
              <a:solidFill>
                <a:srgbClr val="F8F9FA"/>
              </a:solidFill>
              <a:latin typeface="Inter SemiBold"/>
              <a:ea typeface="Inter SemiBold"/>
              <a:cs typeface="Inter SemiBold"/>
              <a:sym typeface="Inter SemiBold"/>
            </a:endParaRPr>
          </a:p>
        </p:txBody>
      </p:sp>
      <p:grpSp>
        <p:nvGrpSpPr>
          <p:cNvPr id="166" name="Google Shape;166;p20"/>
          <p:cNvGrpSpPr/>
          <p:nvPr/>
        </p:nvGrpSpPr>
        <p:grpSpPr>
          <a:xfrm>
            <a:off x="381000" y="1143000"/>
            <a:ext cx="2667000" cy="3524400"/>
            <a:chOff x="0" y="0"/>
            <a:chExt cx="2667000" cy="3524400"/>
          </a:xfrm>
        </p:grpSpPr>
        <p:sp>
          <p:nvSpPr>
            <p:cNvPr id="167" name="Google Shape;167;p20"/>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0"/>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20"/>
            <p:cNvSpPr txBox="1"/>
            <p:nvPr/>
          </p:nvSpPr>
          <p:spPr>
            <a:xfrm>
              <a:off x="190500" y="238125"/>
              <a:ext cx="2286000" cy="30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3B82F6"/>
                  </a:solidFill>
                  <a:latin typeface="Inter"/>
                  <a:ea typeface="Inter"/>
                  <a:cs typeface="Inter"/>
                  <a:sym typeface="Inter"/>
                </a:rPr>
                <a:t>01</a:t>
              </a:r>
              <a:endParaRPr b="1" sz="2200">
                <a:solidFill>
                  <a:srgbClr val="3B82F6"/>
                </a:solidFill>
                <a:latin typeface="Inter"/>
                <a:ea typeface="Inter"/>
                <a:cs typeface="Inter"/>
                <a:sym typeface="Inter"/>
              </a:endParaRPr>
            </a:p>
            <a:p>
              <a:pPr indent="0" lvl="0" marL="0" rtl="0" algn="l">
                <a:spcBef>
                  <a:spcPts val="750"/>
                </a:spcBef>
                <a:spcAft>
                  <a:spcPts val="0"/>
                </a:spcAft>
                <a:buNone/>
              </a:pPr>
              <a:r>
                <a:rPr b="0" lang="it" sz="800">
                  <a:solidFill>
                    <a:srgbClr val="3B82F6"/>
                  </a:solidFill>
                  <a:latin typeface="Inter SemiBold"/>
                  <a:ea typeface="Inter SemiBold"/>
                  <a:cs typeface="Inter SemiBold"/>
                  <a:sym typeface="Inter SemiBold"/>
                </a:rPr>
                <a:t>THE INVERSE PROBLEM</a:t>
              </a:r>
              <a:endParaRPr b="0" sz="80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it" sz="1300">
                  <a:solidFill>
                    <a:srgbClr val="F8F9FA"/>
                  </a:solidFill>
                  <a:latin typeface="Inter SemiBold"/>
                  <a:ea typeface="Inter SemiBold"/>
                  <a:cs typeface="Inter SemiBold"/>
                  <a:sym typeface="Inter SemiBold"/>
                </a:rPr>
                <a:t>Parameter Estimation</a:t>
              </a:r>
              <a:endParaRPr b="0" sz="1300">
                <a:solidFill>
                  <a:srgbClr val="F8F9FA"/>
                </a:solidFill>
                <a:latin typeface="Inter SemiBold"/>
                <a:ea typeface="Inter SemiBold"/>
                <a:cs typeface="Inter SemiBold"/>
                <a:sym typeface="Inter SemiBold"/>
              </a:endParaRPr>
            </a:p>
            <a:p>
              <a:pPr indent="0" lvl="0" marL="0" rtl="0" algn="l">
                <a:spcBef>
                  <a:spcPts val="900"/>
                </a:spcBef>
                <a:spcAft>
                  <a:spcPts val="0"/>
                </a:spcAft>
                <a:buNone/>
              </a:pPr>
              <a:r>
                <a:rPr b="0" lang="it" sz="950">
                  <a:solidFill>
                    <a:srgbClr val="94A3B8"/>
                  </a:solidFill>
                  <a:latin typeface="Inter Light"/>
                  <a:ea typeface="Inter Light"/>
                  <a:cs typeface="Inter Light"/>
                  <a:sym typeface="Inter Light"/>
                </a:rPr>
                <a:t>Aims to estimate unknown constitutive parameters (relaxation time λ, solvent/polymer viscosity ηₛ, ηₚ).</a:t>
              </a:r>
              <a:endParaRPr b="0" sz="950">
                <a:solidFill>
                  <a:srgbClr val="94A3B8"/>
                </a:solidFill>
                <a:latin typeface="Inter Light"/>
                <a:ea typeface="Inter Light"/>
                <a:cs typeface="Inter Light"/>
                <a:sym typeface="Inter Light"/>
              </a:endParaRPr>
            </a:p>
            <a:p>
              <a:pPr indent="0" lvl="0" marL="0" rtl="0" algn="l">
                <a:spcBef>
                  <a:spcPts val="600"/>
                </a:spcBef>
                <a:spcAft>
                  <a:spcPts val="0"/>
                </a:spcAft>
                <a:buNone/>
              </a:pPr>
              <a:r>
                <a:rPr b="0" lang="it" sz="950">
                  <a:solidFill>
                    <a:srgbClr val="94A3B8"/>
                  </a:solidFill>
                  <a:latin typeface="Inter Light"/>
                  <a:ea typeface="Inter Light"/>
                  <a:cs typeface="Inter Light"/>
                  <a:sym typeface="Inter Light"/>
                </a:rPr>
                <a:t>Inferred directly from experimental field measurements (e.g., PIV velocity fields).</a:t>
              </a:r>
              <a:endParaRPr b="0" sz="950">
                <a:solidFill>
                  <a:srgbClr val="94A3B8"/>
                </a:solidFill>
                <a:latin typeface="Inter Light"/>
                <a:ea typeface="Inter Light"/>
                <a:cs typeface="Inter Light"/>
                <a:sym typeface="Inter Light"/>
              </a:endParaRPr>
            </a:p>
          </p:txBody>
        </p:sp>
      </p:grpSp>
      <p:grpSp>
        <p:nvGrpSpPr>
          <p:cNvPr id="170" name="Google Shape;170;p20"/>
          <p:cNvGrpSpPr/>
          <p:nvPr/>
        </p:nvGrpSpPr>
        <p:grpSpPr>
          <a:xfrm>
            <a:off x="3238500" y="1143000"/>
            <a:ext cx="2667000" cy="3524400"/>
            <a:chOff x="0" y="0"/>
            <a:chExt cx="2667000" cy="3524400"/>
          </a:xfrm>
        </p:grpSpPr>
        <p:sp>
          <p:nvSpPr>
            <p:cNvPr id="171" name="Google Shape;171;p20"/>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0"/>
            <p:cNvSpPr/>
            <p:nvPr/>
          </p:nvSpPr>
          <p:spPr>
            <a:xfrm>
              <a:off x="0" y="0"/>
              <a:ext cx="2667000" cy="28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20"/>
            <p:cNvSpPr txBox="1"/>
            <p:nvPr/>
          </p:nvSpPr>
          <p:spPr>
            <a:xfrm>
              <a:off x="190500" y="238125"/>
              <a:ext cx="2286000" cy="30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EF4444"/>
                  </a:solidFill>
                  <a:latin typeface="Inter"/>
                  <a:ea typeface="Inter"/>
                  <a:cs typeface="Inter"/>
                  <a:sym typeface="Inter"/>
                </a:rPr>
                <a:t>02</a:t>
              </a:r>
              <a:endParaRPr b="1" sz="2200">
                <a:solidFill>
                  <a:srgbClr val="EF4444"/>
                </a:solidFill>
                <a:latin typeface="Inter"/>
                <a:ea typeface="Inter"/>
                <a:cs typeface="Inter"/>
                <a:sym typeface="Inter"/>
              </a:endParaRPr>
            </a:p>
            <a:p>
              <a:pPr indent="0" lvl="0" marL="0" rtl="0" algn="l">
                <a:spcBef>
                  <a:spcPts val="750"/>
                </a:spcBef>
                <a:spcAft>
                  <a:spcPts val="0"/>
                </a:spcAft>
                <a:buNone/>
              </a:pPr>
              <a:r>
                <a:rPr b="0" lang="it" sz="800">
                  <a:solidFill>
                    <a:srgbClr val="EF4444"/>
                  </a:solidFill>
                  <a:latin typeface="Inter SemiBold"/>
                  <a:ea typeface="Inter SemiBold"/>
                  <a:cs typeface="Inter SemiBold"/>
                  <a:sym typeface="Inter SemiBold"/>
                </a:rPr>
                <a:t>FEM / CFD BOTTLENECKS</a:t>
              </a:r>
              <a:endParaRPr b="0" sz="800">
                <a:solidFill>
                  <a:srgbClr val="EF4444"/>
                </a:solidFill>
                <a:latin typeface="Inter SemiBold"/>
                <a:ea typeface="Inter SemiBold"/>
                <a:cs typeface="Inter SemiBold"/>
                <a:sym typeface="Inter SemiBold"/>
              </a:endParaRPr>
            </a:p>
            <a:p>
              <a:pPr indent="0" lvl="0" marL="0" rtl="0" algn="l">
                <a:spcBef>
                  <a:spcPts val="300"/>
                </a:spcBef>
                <a:spcAft>
                  <a:spcPts val="0"/>
                </a:spcAft>
                <a:buNone/>
              </a:pPr>
              <a:r>
                <a:rPr b="0" lang="it" sz="1300">
                  <a:solidFill>
                    <a:srgbClr val="F8F9FA"/>
                  </a:solidFill>
                  <a:latin typeface="Inter SemiBold"/>
                  <a:ea typeface="Inter SemiBold"/>
                  <a:cs typeface="Inter SemiBold"/>
                  <a:sym typeface="Inter SemiBold"/>
                </a:rPr>
                <a:t>Classical Limitations</a:t>
              </a:r>
              <a:endParaRPr b="0" sz="1300">
                <a:solidFill>
                  <a:srgbClr val="F8F9FA"/>
                </a:solidFill>
                <a:latin typeface="Inter SemiBold"/>
                <a:ea typeface="Inter SemiBold"/>
                <a:cs typeface="Inter SemiBold"/>
                <a:sym typeface="Inter SemiBold"/>
              </a:endParaRPr>
            </a:p>
            <a:p>
              <a:pPr indent="-285750" lvl="0" marL="457200" rtl="0" algn="l">
                <a:spcBef>
                  <a:spcPts val="900"/>
                </a:spcBef>
                <a:spcAft>
                  <a:spcPts val="0"/>
                </a:spcAft>
                <a:buClr>
                  <a:srgbClr val="94A3B8"/>
                </a:buClr>
                <a:buSzPts val="900"/>
                <a:buFont typeface="Inter"/>
                <a:buChar char="●"/>
              </a:pPr>
              <a:r>
                <a:rPr b="0" lang="it" sz="900">
                  <a:solidFill>
                    <a:srgbClr val="CBD5E1"/>
                  </a:solidFill>
                  <a:latin typeface="Inter Medium"/>
                  <a:ea typeface="Inter Medium"/>
                  <a:cs typeface="Inter Medium"/>
                  <a:sym typeface="Inter Medium"/>
                </a:rPr>
                <a:t>Iterative Process:</a:t>
              </a:r>
              <a:r>
                <a:rPr b="0" lang="it" sz="900">
                  <a:solidFill>
                    <a:srgbClr val="94A3B8"/>
                  </a:solidFill>
                  <a:latin typeface="Inter Light"/>
                  <a:ea typeface="Inter Light"/>
                  <a:cs typeface="Inter Light"/>
                  <a:sym typeface="Inter Light"/>
                </a:rPr>
                <a:t> Depends on complex trial-and-error or adjoint sensitivity analysis.</a:t>
              </a:r>
              <a:endParaRPr b="0" sz="900">
                <a:solidFill>
                  <a:srgbClr val="94A3B8"/>
                </a:solidFill>
                <a:latin typeface="Inter Light"/>
                <a:ea typeface="Inter Light"/>
                <a:cs typeface="Inter Light"/>
                <a:sym typeface="Inter Light"/>
              </a:endParaRPr>
            </a:p>
            <a:p>
              <a:pPr indent="-285750" lvl="0" marL="457200" rtl="0" algn="l">
                <a:spcBef>
                  <a:spcPts val="600"/>
                </a:spcBef>
                <a:spcAft>
                  <a:spcPts val="0"/>
                </a:spcAft>
                <a:buClr>
                  <a:srgbClr val="94A3B8"/>
                </a:buClr>
                <a:buSzPts val="900"/>
                <a:buFont typeface="Inter"/>
                <a:buChar char="●"/>
              </a:pPr>
              <a:r>
                <a:rPr b="0" lang="it" sz="900">
                  <a:solidFill>
                    <a:srgbClr val="CBD5E1"/>
                  </a:solidFill>
                  <a:latin typeface="Inter Medium"/>
                  <a:ea typeface="Inter Medium"/>
                  <a:cs typeface="Inter Medium"/>
                  <a:sym typeface="Inter Medium"/>
                </a:rPr>
                <a:t>Prohibitive Cost:</a:t>
              </a:r>
              <a:r>
                <a:rPr b="0" lang="it" sz="900">
                  <a:solidFill>
                    <a:srgbClr val="94A3B8"/>
                  </a:solidFill>
                  <a:latin typeface="Inter Light"/>
                  <a:ea typeface="Inter Light"/>
                  <a:cs typeface="Inter Light"/>
                  <a:sym typeface="Inter Light"/>
                </a:rPr>
                <a:t> Requires full nonlinear meshed solves at every optimization step.</a:t>
              </a:r>
              <a:endParaRPr b="0" sz="900">
                <a:solidFill>
                  <a:srgbClr val="94A3B8"/>
                </a:solidFill>
                <a:latin typeface="Inter Light"/>
                <a:ea typeface="Inter Light"/>
                <a:cs typeface="Inter Light"/>
                <a:sym typeface="Inter Light"/>
              </a:endParaRPr>
            </a:p>
            <a:p>
              <a:pPr indent="-285750" lvl="0" marL="457200" rtl="0" algn="l">
                <a:spcBef>
                  <a:spcPts val="600"/>
                </a:spcBef>
                <a:spcAft>
                  <a:spcPts val="0"/>
                </a:spcAft>
                <a:buClr>
                  <a:srgbClr val="94A3B8"/>
                </a:buClr>
                <a:buSzPts val="900"/>
                <a:buFont typeface="Inter"/>
                <a:buChar char="●"/>
              </a:pPr>
              <a:r>
                <a:rPr b="0" lang="it" sz="900">
                  <a:solidFill>
                    <a:srgbClr val="CBD5E1"/>
                  </a:solidFill>
                  <a:latin typeface="Inter Medium"/>
                  <a:ea typeface="Inter Medium"/>
                  <a:cs typeface="Inter Medium"/>
                  <a:sym typeface="Inter Medium"/>
                </a:rPr>
                <a:t>Numerical Instability:</a:t>
              </a:r>
              <a:r>
                <a:rPr b="0" lang="it" sz="900">
                  <a:solidFill>
                    <a:srgbClr val="94A3B8"/>
                  </a:solidFill>
                  <a:latin typeface="Inter Light"/>
                  <a:ea typeface="Inter Light"/>
                  <a:cs typeface="Inter Light"/>
                  <a:sym typeface="Inter Light"/>
                </a:rPr>
                <a:t> Divergence at high Weissenberg numbers (Wi) breaks optimizers.</a:t>
              </a:r>
              <a:endParaRPr b="0" sz="900">
                <a:solidFill>
                  <a:srgbClr val="94A3B8"/>
                </a:solidFill>
                <a:latin typeface="Inter Light"/>
                <a:ea typeface="Inter Light"/>
                <a:cs typeface="Inter Light"/>
                <a:sym typeface="Inter Light"/>
              </a:endParaRPr>
            </a:p>
          </p:txBody>
        </p:sp>
      </p:grpSp>
      <p:grpSp>
        <p:nvGrpSpPr>
          <p:cNvPr id="174" name="Google Shape;174;p20"/>
          <p:cNvGrpSpPr/>
          <p:nvPr/>
        </p:nvGrpSpPr>
        <p:grpSpPr>
          <a:xfrm>
            <a:off x="6096000" y="1143000"/>
            <a:ext cx="2667000" cy="3524400"/>
            <a:chOff x="0" y="0"/>
            <a:chExt cx="2667000" cy="3524400"/>
          </a:xfrm>
        </p:grpSpPr>
        <p:sp>
          <p:nvSpPr>
            <p:cNvPr id="175" name="Google Shape;175;p20"/>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20"/>
            <p:cNvSpPr/>
            <p:nvPr/>
          </p:nvSpPr>
          <p:spPr>
            <a:xfrm>
              <a:off x="0" y="0"/>
              <a:ext cx="26670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txBox="1"/>
            <p:nvPr/>
          </p:nvSpPr>
          <p:spPr>
            <a:xfrm>
              <a:off x="190500" y="238125"/>
              <a:ext cx="2286000" cy="30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10B981"/>
                  </a:solidFill>
                  <a:latin typeface="Inter"/>
                  <a:ea typeface="Inter"/>
                  <a:cs typeface="Inter"/>
                  <a:sym typeface="Inter"/>
                </a:rPr>
                <a:t>03</a:t>
              </a:r>
              <a:endParaRPr b="1" sz="2200">
                <a:solidFill>
                  <a:srgbClr val="10B981"/>
                </a:solidFill>
                <a:latin typeface="Inter"/>
                <a:ea typeface="Inter"/>
                <a:cs typeface="Inter"/>
                <a:sym typeface="Inter"/>
              </a:endParaRPr>
            </a:p>
            <a:p>
              <a:pPr indent="0" lvl="0" marL="0" rtl="0" algn="l">
                <a:spcBef>
                  <a:spcPts val="750"/>
                </a:spcBef>
                <a:spcAft>
                  <a:spcPts val="0"/>
                </a:spcAft>
                <a:buNone/>
              </a:pPr>
              <a:r>
                <a:rPr b="0" lang="it" sz="800">
                  <a:solidFill>
                    <a:srgbClr val="10B981"/>
                  </a:solidFill>
                  <a:latin typeface="Inter SemiBold"/>
                  <a:ea typeface="Inter SemiBold"/>
                  <a:cs typeface="Inter SemiBold"/>
                  <a:sym typeface="Inter SemiBold"/>
                </a:rPr>
                <a:t>NEW PARADIGM</a:t>
              </a:r>
              <a:endParaRPr b="0" sz="800">
                <a:solidFill>
                  <a:srgbClr val="10B981"/>
                </a:solidFill>
                <a:latin typeface="Inter SemiBold"/>
                <a:ea typeface="Inter SemiBold"/>
                <a:cs typeface="Inter SemiBold"/>
                <a:sym typeface="Inter SemiBold"/>
              </a:endParaRPr>
            </a:p>
            <a:p>
              <a:pPr indent="0" lvl="0" marL="0" rtl="0" algn="l">
                <a:spcBef>
                  <a:spcPts val="300"/>
                </a:spcBef>
                <a:spcAft>
                  <a:spcPts val="0"/>
                </a:spcAft>
                <a:buNone/>
              </a:pPr>
              <a:r>
                <a:rPr b="0" lang="it" sz="1300">
                  <a:solidFill>
                    <a:srgbClr val="F8F9FA"/>
                  </a:solidFill>
                  <a:latin typeface="Inter SemiBold"/>
                  <a:ea typeface="Inter SemiBold"/>
                  <a:cs typeface="Inter SemiBold"/>
                  <a:sym typeface="Inter SemiBold"/>
                </a:rPr>
                <a:t>Physics-Informed NNs</a:t>
              </a:r>
              <a:endParaRPr b="0" sz="1300">
                <a:solidFill>
                  <a:srgbClr val="F8F9FA"/>
                </a:solidFill>
                <a:latin typeface="Inter SemiBold"/>
                <a:ea typeface="Inter SemiBold"/>
                <a:cs typeface="Inter SemiBold"/>
                <a:sym typeface="Inter SemiBold"/>
              </a:endParaRPr>
            </a:p>
            <a:p>
              <a:pPr indent="0" lvl="0" marL="0" rtl="0" algn="l">
                <a:spcBef>
                  <a:spcPts val="900"/>
                </a:spcBef>
                <a:spcAft>
                  <a:spcPts val="0"/>
                </a:spcAft>
                <a:buNone/>
              </a:pPr>
              <a:r>
                <a:rPr b="0" lang="it" sz="950">
                  <a:solidFill>
                    <a:srgbClr val="94A3B8"/>
                  </a:solidFill>
                  <a:latin typeface="Inter Light"/>
                  <a:ea typeface="Inter Light"/>
                  <a:cs typeface="Inter Light"/>
                  <a:sym typeface="Inter Light"/>
                </a:rPr>
                <a:t>Replaces pure mesh-based solvers with continuous neural representations (PINNs).</a:t>
              </a:r>
              <a:endParaRPr b="0" sz="950">
                <a:solidFill>
                  <a:srgbClr val="94A3B8"/>
                </a:solidFill>
                <a:latin typeface="Inter Light"/>
                <a:ea typeface="Inter Light"/>
                <a:cs typeface="Inter Light"/>
                <a:sym typeface="Inter Light"/>
              </a:endParaRPr>
            </a:p>
            <a:p>
              <a:pPr indent="0" lvl="0" marL="0" rtl="0" algn="l">
                <a:spcBef>
                  <a:spcPts val="600"/>
                </a:spcBef>
                <a:spcAft>
                  <a:spcPts val="0"/>
                </a:spcAft>
                <a:buNone/>
              </a:pPr>
              <a:r>
                <a:rPr b="0" lang="it" sz="950">
                  <a:solidFill>
                    <a:srgbClr val="94A3B8"/>
                  </a:solidFill>
                  <a:latin typeface="Inter Light"/>
                  <a:ea typeface="Inter Light"/>
                  <a:cs typeface="Inter Light"/>
                  <a:sym typeface="Inter Light"/>
                </a:rPr>
                <a:t>Natively incorporates experimental data and differential physical constraints into the loss function for seamless parameter inference.</a:t>
              </a:r>
              <a:endParaRPr b="0" sz="950">
                <a:solidFill>
                  <a:srgbClr val="94A3B8"/>
                </a:solidFill>
                <a:latin typeface="Inter Light"/>
                <a:ea typeface="Inter Light"/>
                <a:cs typeface="Inter Light"/>
                <a:sym typeface="Inter Light"/>
              </a:endParaRPr>
            </a:p>
          </p:txBody>
        </p:sp>
      </p:grpSp>
      <p:sp>
        <p:nvSpPr>
          <p:cNvPr id="178" name="Google Shape;17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cxnSp>
        <p:nvCxnSpPr>
          <p:cNvPr id="183" name="Google Shape;183;p21"/>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84" name="Google Shape;184;p21"/>
          <p:cNvSpPr txBox="1"/>
          <p:nvPr>
            <p:ph type="title"/>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it" sz="2210">
                <a:solidFill>
                  <a:srgbClr val="F8F9FA"/>
                </a:solidFill>
                <a:latin typeface="Inter SemiBold"/>
                <a:ea typeface="Inter SemiBold"/>
                <a:cs typeface="Inter SemiBold"/>
                <a:sym typeface="Inter SemiBold"/>
              </a:rPr>
              <a:t>From Traditional CFD to Inference: Limits in Inverse Problems</a:t>
            </a:r>
            <a:endParaRPr b="0" sz="2210">
              <a:solidFill>
                <a:srgbClr val="F8F9FA"/>
              </a:solidFill>
              <a:latin typeface="Inter SemiBold"/>
              <a:ea typeface="Inter SemiBold"/>
              <a:cs typeface="Inter SemiBold"/>
              <a:sym typeface="Inter SemiBold"/>
            </a:endParaRPr>
          </a:p>
        </p:txBody>
      </p:sp>
      <p:grpSp>
        <p:nvGrpSpPr>
          <p:cNvPr id="185" name="Google Shape;185;p21"/>
          <p:cNvGrpSpPr/>
          <p:nvPr/>
        </p:nvGrpSpPr>
        <p:grpSpPr>
          <a:xfrm>
            <a:off x="381000" y="1143000"/>
            <a:ext cx="2667000" cy="3524400"/>
            <a:chOff x="0" y="0"/>
            <a:chExt cx="2667000" cy="3524400"/>
          </a:xfrm>
        </p:grpSpPr>
        <p:sp>
          <p:nvSpPr>
            <p:cNvPr id="186" name="Google Shape;186;p21"/>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1"/>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21"/>
            <p:cNvSpPr txBox="1"/>
            <p:nvPr/>
          </p:nvSpPr>
          <p:spPr>
            <a:xfrm>
              <a:off x="190500" y="238125"/>
              <a:ext cx="2286000" cy="30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3B82F6"/>
                  </a:solidFill>
                  <a:latin typeface="Inter"/>
                  <a:ea typeface="Inter"/>
                  <a:cs typeface="Inter"/>
                  <a:sym typeface="Inter"/>
                </a:rPr>
                <a:t>01</a:t>
              </a:r>
              <a:endParaRPr b="1" sz="2200">
                <a:solidFill>
                  <a:srgbClr val="3B82F6"/>
                </a:solidFill>
                <a:latin typeface="Inter"/>
                <a:ea typeface="Inter"/>
                <a:cs typeface="Inter"/>
                <a:sym typeface="Inter"/>
              </a:endParaRPr>
            </a:p>
            <a:p>
              <a:pPr indent="0" lvl="0" marL="0" rtl="0" algn="l">
                <a:spcBef>
                  <a:spcPts val="750"/>
                </a:spcBef>
                <a:spcAft>
                  <a:spcPts val="0"/>
                </a:spcAft>
                <a:buNone/>
              </a:pPr>
              <a:r>
                <a:rPr b="0" lang="it" sz="800">
                  <a:solidFill>
                    <a:srgbClr val="3B82F6"/>
                  </a:solidFill>
                  <a:latin typeface="Inter SemiBold"/>
                  <a:ea typeface="Inter SemiBold"/>
                  <a:cs typeface="Inter SemiBold"/>
                  <a:sym typeface="Inter SemiBold"/>
                </a:rPr>
                <a:t>THE INVERSE PROBLEM</a:t>
              </a:r>
              <a:endParaRPr b="0" sz="80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it" sz="1300">
                  <a:solidFill>
                    <a:srgbClr val="F8F9FA"/>
                  </a:solidFill>
                  <a:latin typeface="Inter SemiBold"/>
                  <a:ea typeface="Inter SemiBold"/>
                  <a:cs typeface="Inter SemiBold"/>
                  <a:sym typeface="Inter SemiBold"/>
                </a:rPr>
                <a:t>Parameter Estimation</a:t>
              </a:r>
              <a:endParaRPr b="0" sz="1300">
                <a:solidFill>
                  <a:srgbClr val="F8F9FA"/>
                </a:solidFill>
                <a:latin typeface="Inter SemiBold"/>
                <a:ea typeface="Inter SemiBold"/>
                <a:cs typeface="Inter SemiBold"/>
                <a:sym typeface="Inter SemiBold"/>
              </a:endParaRPr>
            </a:p>
            <a:p>
              <a:pPr indent="0" lvl="0" marL="0" rtl="0" algn="l">
                <a:spcBef>
                  <a:spcPts val="900"/>
                </a:spcBef>
                <a:spcAft>
                  <a:spcPts val="0"/>
                </a:spcAft>
                <a:buNone/>
              </a:pPr>
              <a:r>
                <a:rPr b="0" lang="it" sz="950">
                  <a:solidFill>
                    <a:srgbClr val="94A3B8"/>
                  </a:solidFill>
                  <a:latin typeface="Inter Light"/>
                  <a:ea typeface="Inter Light"/>
                  <a:cs typeface="Inter Light"/>
                  <a:sym typeface="Inter Light"/>
                </a:rPr>
                <a:t>Aims to estimate unknown constitutive parameters (relaxation time λ, solvent/polymer viscosity ηₛ, ηₚ).</a:t>
              </a:r>
              <a:endParaRPr b="0" sz="950">
                <a:solidFill>
                  <a:srgbClr val="94A3B8"/>
                </a:solidFill>
                <a:latin typeface="Inter Light"/>
                <a:ea typeface="Inter Light"/>
                <a:cs typeface="Inter Light"/>
                <a:sym typeface="Inter Light"/>
              </a:endParaRPr>
            </a:p>
            <a:p>
              <a:pPr indent="0" lvl="0" marL="0" rtl="0" algn="l">
                <a:spcBef>
                  <a:spcPts val="600"/>
                </a:spcBef>
                <a:spcAft>
                  <a:spcPts val="0"/>
                </a:spcAft>
                <a:buNone/>
              </a:pPr>
              <a:r>
                <a:rPr b="0" lang="it" sz="950">
                  <a:solidFill>
                    <a:srgbClr val="94A3B8"/>
                  </a:solidFill>
                  <a:latin typeface="Inter Light"/>
                  <a:ea typeface="Inter Light"/>
                  <a:cs typeface="Inter Light"/>
                  <a:sym typeface="Inter Light"/>
                </a:rPr>
                <a:t>Inferred directly from experimental field measurements (e.g., PIV velocity fields).</a:t>
              </a:r>
              <a:endParaRPr b="0" sz="950">
                <a:solidFill>
                  <a:srgbClr val="94A3B8"/>
                </a:solidFill>
                <a:latin typeface="Inter Light"/>
                <a:ea typeface="Inter Light"/>
                <a:cs typeface="Inter Light"/>
                <a:sym typeface="Inter Light"/>
              </a:endParaRPr>
            </a:p>
          </p:txBody>
        </p:sp>
      </p:grpSp>
      <p:grpSp>
        <p:nvGrpSpPr>
          <p:cNvPr id="189" name="Google Shape;189;p21"/>
          <p:cNvGrpSpPr/>
          <p:nvPr/>
        </p:nvGrpSpPr>
        <p:grpSpPr>
          <a:xfrm>
            <a:off x="3238500" y="1143000"/>
            <a:ext cx="2667000" cy="3524400"/>
            <a:chOff x="0" y="0"/>
            <a:chExt cx="2667000" cy="3524400"/>
          </a:xfrm>
        </p:grpSpPr>
        <p:sp>
          <p:nvSpPr>
            <p:cNvPr id="190" name="Google Shape;190;p21"/>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1"/>
            <p:cNvSpPr/>
            <p:nvPr/>
          </p:nvSpPr>
          <p:spPr>
            <a:xfrm>
              <a:off x="0" y="0"/>
              <a:ext cx="2667000" cy="28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21"/>
            <p:cNvSpPr txBox="1"/>
            <p:nvPr/>
          </p:nvSpPr>
          <p:spPr>
            <a:xfrm>
              <a:off x="190500" y="238125"/>
              <a:ext cx="2286000" cy="30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EF4444"/>
                  </a:solidFill>
                  <a:latin typeface="Inter"/>
                  <a:ea typeface="Inter"/>
                  <a:cs typeface="Inter"/>
                  <a:sym typeface="Inter"/>
                </a:rPr>
                <a:t>02</a:t>
              </a:r>
              <a:endParaRPr b="1" sz="2200">
                <a:solidFill>
                  <a:srgbClr val="EF4444"/>
                </a:solidFill>
                <a:latin typeface="Inter"/>
                <a:ea typeface="Inter"/>
                <a:cs typeface="Inter"/>
                <a:sym typeface="Inter"/>
              </a:endParaRPr>
            </a:p>
            <a:p>
              <a:pPr indent="0" lvl="0" marL="0" rtl="0" algn="l">
                <a:spcBef>
                  <a:spcPts val="750"/>
                </a:spcBef>
                <a:spcAft>
                  <a:spcPts val="0"/>
                </a:spcAft>
                <a:buNone/>
              </a:pPr>
              <a:r>
                <a:rPr b="0" lang="it" sz="800">
                  <a:solidFill>
                    <a:srgbClr val="EF4444"/>
                  </a:solidFill>
                  <a:latin typeface="Inter SemiBold"/>
                  <a:ea typeface="Inter SemiBold"/>
                  <a:cs typeface="Inter SemiBold"/>
                  <a:sym typeface="Inter SemiBold"/>
                </a:rPr>
                <a:t>FEM / CFD BOTTLENECKS</a:t>
              </a:r>
              <a:endParaRPr b="0" sz="800">
                <a:solidFill>
                  <a:srgbClr val="EF4444"/>
                </a:solidFill>
                <a:latin typeface="Inter SemiBold"/>
                <a:ea typeface="Inter SemiBold"/>
                <a:cs typeface="Inter SemiBold"/>
                <a:sym typeface="Inter SemiBold"/>
              </a:endParaRPr>
            </a:p>
            <a:p>
              <a:pPr indent="0" lvl="0" marL="0" rtl="0" algn="l">
                <a:spcBef>
                  <a:spcPts val="300"/>
                </a:spcBef>
                <a:spcAft>
                  <a:spcPts val="0"/>
                </a:spcAft>
                <a:buNone/>
              </a:pPr>
              <a:r>
                <a:rPr b="0" lang="it" sz="1300">
                  <a:solidFill>
                    <a:srgbClr val="F8F9FA"/>
                  </a:solidFill>
                  <a:latin typeface="Inter SemiBold"/>
                  <a:ea typeface="Inter SemiBold"/>
                  <a:cs typeface="Inter SemiBold"/>
                  <a:sym typeface="Inter SemiBold"/>
                </a:rPr>
                <a:t>Classical Limitations</a:t>
              </a:r>
              <a:endParaRPr b="0" sz="1300">
                <a:solidFill>
                  <a:srgbClr val="F8F9FA"/>
                </a:solidFill>
                <a:latin typeface="Inter SemiBold"/>
                <a:ea typeface="Inter SemiBold"/>
                <a:cs typeface="Inter SemiBold"/>
                <a:sym typeface="Inter SemiBold"/>
              </a:endParaRPr>
            </a:p>
            <a:p>
              <a:pPr indent="-285750" lvl="0" marL="457200" rtl="0" algn="l">
                <a:spcBef>
                  <a:spcPts val="900"/>
                </a:spcBef>
                <a:spcAft>
                  <a:spcPts val="0"/>
                </a:spcAft>
                <a:buClr>
                  <a:srgbClr val="94A3B8"/>
                </a:buClr>
                <a:buSzPts val="900"/>
                <a:buFont typeface="Inter"/>
                <a:buChar char="●"/>
              </a:pPr>
              <a:r>
                <a:rPr b="0" lang="it" sz="900">
                  <a:solidFill>
                    <a:srgbClr val="CBD5E1"/>
                  </a:solidFill>
                  <a:latin typeface="Inter Medium"/>
                  <a:ea typeface="Inter Medium"/>
                  <a:cs typeface="Inter Medium"/>
                  <a:sym typeface="Inter Medium"/>
                </a:rPr>
                <a:t>Iterative Process:</a:t>
              </a:r>
              <a:r>
                <a:rPr b="0" lang="it" sz="900">
                  <a:solidFill>
                    <a:srgbClr val="94A3B8"/>
                  </a:solidFill>
                  <a:latin typeface="Inter Light"/>
                  <a:ea typeface="Inter Light"/>
                  <a:cs typeface="Inter Light"/>
                  <a:sym typeface="Inter Light"/>
                </a:rPr>
                <a:t> Depends on complex trial-and-error or adjoint sensitivity analysis.</a:t>
              </a:r>
              <a:endParaRPr b="0" sz="900">
                <a:solidFill>
                  <a:srgbClr val="94A3B8"/>
                </a:solidFill>
                <a:latin typeface="Inter Light"/>
                <a:ea typeface="Inter Light"/>
                <a:cs typeface="Inter Light"/>
                <a:sym typeface="Inter Light"/>
              </a:endParaRPr>
            </a:p>
            <a:p>
              <a:pPr indent="-285750" lvl="0" marL="457200" rtl="0" algn="l">
                <a:spcBef>
                  <a:spcPts val="600"/>
                </a:spcBef>
                <a:spcAft>
                  <a:spcPts val="0"/>
                </a:spcAft>
                <a:buClr>
                  <a:srgbClr val="94A3B8"/>
                </a:buClr>
                <a:buSzPts val="900"/>
                <a:buFont typeface="Inter"/>
                <a:buChar char="●"/>
              </a:pPr>
              <a:r>
                <a:rPr b="0" lang="it" sz="900">
                  <a:solidFill>
                    <a:srgbClr val="CBD5E1"/>
                  </a:solidFill>
                  <a:latin typeface="Inter Medium"/>
                  <a:ea typeface="Inter Medium"/>
                  <a:cs typeface="Inter Medium"/>
                  <a:sym typeface="Inter Medium"/>
                </a:rPr>
                <a:t>Prohibitive Cost:</a:t>
              </a:r>
              <a:r>
                <a:rPr b="0" lang="it" sz="900">
                  <a:solidFill>
                    <a:srgbClr val="94A3B8"/>
                  </a:solidFill>
                  <a:latin typeface="Inter Light"/>
                  <a:ea typeface="Inter Light"/>
                  <a:cs typeface="Inter Light"/>
                  <a:sym typeface="Inter Light"/>
                </a:rPr>
                <a:t> Requires full nonlinear meshed solves at every optimization step.</a:t>
              </a:r>
              <a:endParaRPr b="0" sz="900">
                <a:solidFill>
                  <a:srgbClr val="94A3B8"/>
                </a:solidFill>
                <a:latin typeface="Inter Light"/>
                <a:ea typeface="Inter Light"/>
                <a:cs typeface="Inter Light"/>
                <a:sym typeface="Inter Light"/>
              </a:endParaRPr>
            </a:p>
            <a:p>
              <a:pPr indent="-285750" lvl="0" marL="457200" rtl="0" algn="l">
                <a:spcBef>
                  <a:spcPts val="600"/>
                </a:spcBef>
                <a:spcAft>
                  <a:spcPts val="0"/>
                </a:spcAft>
                <a:buClr>
                  <a:srgbClr val="94A3B8"/>
                </a:buClr>
                <a:buSzPts val="900"/>
                <a:buFont typeface="Inter"/>
                <a:buChar char="●"/>
              </a:pPr>
              <a:r>
                <a:rPr b="0" lang="it" sz="900">
                  <a:solidFill>
                    <a:srgbClr val="CBD5E1"/>
                  </a:solidFill>
                  <a:latin typeface="Inter Medium"/>
                  <a:ea typeface="Inter Medium"/>
                  <a:cs typeface="Inter Medium"/>
                  <a:sym typeface="Inter Medium"/>
                </a:rPr>
                <a:t>Numerical Instability:</a:t>
              </a:r>
              <a:r>
                <a:rPr b="0" lang="it" sz="900">
                  <a:solidFill>
                    <a:srgbClr val="94A3B8"/>
                  </a:solidFill>
                  <a:latin typeface="Inter Light"/>
                  <a:ea typeface="Inter Light"/>
                  <a:cs typeface="Inter Light"/>
                  <a:sym typeface="Inter Light"/>
                </a:rPr>
                <a:t> Divergence at high Weissenberg numbers (Wi) breaks optimizers.</a:t>
              </a:r>
              <a:endParaRPr b="0" sz="900">
                <a:solidFill>
                  <a:srgbClr val="94A3B8"/>
                </a:solidFill>
                <a:latin typeface="Inter Light"/>
                <a:ea typeface="Inter Light"/>
                <a:cs typeface="Inter Light"/>
                <a:sym typeface="Inter Light"/>
              </a:endParaRPr>
            </a:p>
          </p:txBody>
        </p:sp>
      </p:grpSp>
      <p:grpSp>
        <p:nvGrpSpPr>
          <p:cNvPr id="193" name="Google Shape;193;p21"/>
          <p:cNvGrpSpPr/>
          <p:nvPr/>
        </p:nvGrpSpPr>
        <p:grpSpPr>
          <a:xfrm>
            <a:off x="6096000" y="1143000"/>
            <a:ext cx="2667000" cy="3524400"/>
            <a:chOff x="0" y="0"/>
            <a:chExt cx="2667000" cy="3524400"/>
          </a:xfrm>
        </p:grpSpPr>
        <p:sp>
          <p:nvSpPr>
            <p:cNvPr id="194" name="Google Shape;194;p21"/>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1"/>
            <p:cNvSpPr/>
            <p:nvPr/>
          </p:nvSpPr>
          <p:spPr>
            <a:xfrm>
              <a:off x="0" y="0"/>
              <a:ext cx="26670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21"/>
            <p:cNvSpPr txBox="1"/>
            <p:nvPr/>
          </p:nvSpPr>
          <p:spPr>
            <a:xfrm>
              <a:off x="190500" y="238125"/>
              <a:ext cx="2286000" cy="309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10B981"/>
                  </a:solidFill>
                  <a:latin typeface="Inter"/>
                  <a:ea typeface="Inter"/>
                  <a:cs typeface="Inter"/>
                  <a:sym typeface="Inter"/>
                </a:rPr>
                <a:t>03</a:t>
              </a:r>
              <a:endParaRPr b="1" sz="2200">
                <a:solidFill>
                  <a:srgbClr val="10B981"/>
                </a:solidFill>
                <a:latin typeface="Inter"/>
                <a:ea typeface="Inter"/>
                <a:cs typeface="Inter"/>
                <a:sym typeface="Inter"/>
              </a:endParaRPr>
            </a:p>
            <a:p>
              <a:pPr indent="0" lvl="0" marL="0" rtl="0" algn="l">
                <a:spcBef>
                  <a:spcPts val="750"/>
                </a:spcBef>
                <a:spcAft>
                  <a:spcPts val="0"/>
                </a:spcAft>
                <a:buNone/>
              </a:pPr>
              <a:r>
                <a:rPr b="0" lang="it" sz="800">
                  <a:solidFill>
                    <a:srgbClr val="10B981"/>
                  </a:solidFill>
                  <a:latin typeface="Inter SemiBold"/>
                  <a:ea typeface="Inter SemiBold"/>
                  <a:cs typeface="Inter SemiBold"/>
                  <a:sym typeface="Inter SemiBold"/>
                </a:rPr>
                <a:t>NEW PARADIGM</a:t>
              </a:r>
              <a:endParaRPr b="0" sz="800">
                <a:solidFill>
                  <a:srgbClr val="10B981"/>
                </a:solidFill>
                <a:latin typeface="Inter SemiBold"/>
                <a:ea typeface="Inter SemiBold"/>
                <a:cs typeface="Inter SemiBold"/>
                <a:sym typeface="Inter SemiBold"/>
              </a:endParaRPr>
            </a:p>
            <a:p>
              <a:pPr indent="0" lvl="0" marL="0" rtl="0" algn="l">
                <a:spcBef>
                  <a:spcPts val="300"/>
                </a:spcBef>
                <a:spcAft>
                  <a:spcPts val="0"/>
                </a:spcAft>
                <a:buNone/>
              </a:pPr>
              <a:r>
                <a:rPr b="0" lang="it" sz="1300">
                  <a:solidFill>
                    <a:srgbClr val="F8F9FA"/>
                  </a:solidFill>
                  <a:latin typeface="Inter SemiBold"/>
                  <a:ea typeface="Inter SemiBold"/>
                  <a:cs typeface="Inter SemiBold"/>
                  <a:sym typeface="Inter SemiBold"/>
                </a:rPr>
                <a:t>Physics-Informed NNs</a:t>
              </a:r>
              <a:endParaRPr b="0" sz="1300">
                <a:solidFill>
                  <a:srgbClr val="F8F9FA"/>
                </a:solidFill>
                <a:latin typeface="Inter SemiBold"/>
                <a:ea typeface="Inter SemiBold"/>
                <a:cs typeface="Inter SemiBold"/>
                <a:sym typeface="Inter SemiBold"/>
              </a:endParaRPr>
            </a:p>
            <a:p>
              <a:pPr indent="0" lvl="0" marL="0" rtl="0" algn="l">
                <a:spcBef>
                  <a:spcPts val="900"/>
                </a:spcBef>
                <a:spcAft>
                  <a:spcPts val="0"/>
                </a:spcAft>
                <a:buNone/>
              </a:pPr>
              <a:r>
                <a:rPr b="0" lang="it" sz="950">
                  <a:solidFill>
                    <a:srgbClr val="94A3B8"/>
                  </a:solidFill>
                  <a:latin typeface="Inter Light"/>
                  <a:ea typeface="Inter Light"/>
                  <a:cs typeface="Inter Light"/>
                  <a:sym typeface="Inter Light"/>
                </a:rPr>
                <a:t>Replaces pure mesh-based solvers with continuous neural representations (PINNs).</a:t>
              </a:r>
              <a:endParaRPr b="0" sz="950">
                <a:solidFill>
                  <a:srgbClr val="94A3B8"/>
                </a:solidFill>
                <a:latin typeface="Inter Light"/>
                <a:ea typeface="Inter Light"/>
                <a:cs typeface="Inter Light"/>
                <a:sym typeface="Inter Light"/>
              </a:endParaRPr>
            </a:p>
            <a:p>
              <a:pPr indent="0" lvl="0" marL="0" rtl="0" algn="l">
                <a:spcBef>
                  <a:spcPts val="600"/>
                </a:spcBef>
                <a:spcAft>
                  <a:spcPts val="0"/>
                </a:spcAft>
                <a:buNone/>
              </a:pPr>
              <a:r>
                <a:rPr b="0" lang="it" sz="950">
                  <a:solidFill>
                    <a:srgbClr val="94A3B8"/>
                  </a:solidFill>
                  <a:latin typeface="Inter Light"/>
                  <a:ea typeface="Inter Light"/>
                  <a:cs typeface="Inter Light"/>
                  <a:sym typeface="Inter Light"/>
                </a:rPr>
                <a:t>Natively incorporates experimental data and differential physical constraints into the loss function for seamless parameter inference.</a:t>
              </a:r>
              <a:endParaRPr b="0" sz="950">
                <a:solidFill>
                  <a:srgbClr val="94A3B8"/>
                </a:solidFill>
                <a:latin typeface="Inter Light"/>
                <a:ea typeface="Inter Light"/>
                <a:cs typeface="Inter Light"/>
                <a:sym typeface="Inter Light"/>
              </a:endParaRPr>
            </a:p>
          </p:txBody>
        </p:sp>
      </p:grpSp>
      <p:sp>
        <p:nvSpPr>
          <p:cNvPr id="197" name="Google Shape;19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 name="Shape 201"/>
        <p:cNvGrpSpPr/>
        <p:nvPr/>
      </p:nvGrpSpPr>
      <p:grpSpPr>
        <a:xfrm>
          <a:off x="0" y="0"/>
          <a:ext cx="0" cy="0"/>
          <a:chOff x="0" y="0"/>
          <a:chExt cx="0" cy="0"/>
        </a:xfrm>
      </p:grpSpPr>
      <p:cxnSp>
        <p:nvCxnSpPr>
          <p:cNvPr id="202" name="Google Shape;202;p22"/>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203" name="Google Shape;203;p22"/>
          <p:cNvGrpSpPr/>
          <p:nvPr/>
        </p:nvGrpSpPr>
        <p:grpSpPr>
          <a:xfrm>
            <a:off x="381000" y="238125"/>
            <a:ext cx="8382000" cy="571500"/>
            <a:chOff x="0" y="0"/>
            <a:chExt cx="8382000" cy="571500"/>
          </a:xfrm>
        </p:grpSpPr>
        <p:sp>
          <p:nvSpPr>
            <p:cNvPr id="204" name="Google Shape;204;p22"/>
            <p:cNvSpPr/>
            <p:nvPr/>
          </p:nvSpPr>
          <p:spPr>
            <a:xfrm>
              <a:off x="0" y="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22"/>
            <p:cNvSpPr txBox="1"/>
            <p:nvPr/>
          </p:nvSpPr>
          <p:spPr>
            <a:xfrm>
              <a:off x="0" y="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3500">
                  <a:solidFill>
                    <a:srgbClr val="F8F9FA"/>
                  </a:solidFill>
                  <a:latin typeface="Inter SemiBold"/>
                  <a:ea typeface="Inter SemiBold"/>
                  <a:cs typeface="Inter SemiBold"/>
                  <a:sym typeface="Inter SemiBold"/>
                </a:rPr>
                <a:t>Literature Gap</a:t>
              </a:r>
              <a:endParaRPr b="0" sz="3500">
                <a:solidFill>
                  <a:srgbClr val="F8F9FA"/>
                </a:solidFill>
                <a:latin typeface="Inter SemiBold"/>
                <a:ea typeface="Inter SemiBold"/>
                <a:cs typeface="Inter SemiBold"/>
                <a:sym typeface="Inter SemiBold"/>
              </a:endParaRPr>
            </a:p>
          </p:txBody>
        </p:sp>
      </p:grpSp>
      <p:grpSp>
        <p:nvGrpSpPr>
          <p:cNvPr id="206" name="Google Shape;206;p22"/>
          <p:cNvGrpSpPr/>
          <p:nvPr/>
        </p:nvGrpSpPr>
        <p:grpSpPr>
          <a:xfrm>
            <a:off x="381000" y="1095375"/>
            <a:ext cx="8382000" cy="1028700"/>
            <a:chOff x="0" y="0"/>
            <a:chExt cx="8382000" cy="1028700"/>
          </a:xfrm>
        </p:grpSpPr>
        <p:sp>
          <p:nvSpPr>
            <p:cNvPr id="207" name="Google Shape;207;p22"/>
            <p:cNvSpPr/>
            <p:nvPr/>
          </p:nvSpPr>
          <p:spPr>
            <a:xfrm>
              <a:off x="0" y="0"/>
              <a:ext cx="8382000" cy="1028700"/>
            </a:xfrm>
            <a:prstGeom prst="roundRect">
              <a:avLst>
                <a:gd fmla="val 740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2"/>
            <p:cNvSpPr/>
            <p:nvPr/>
          </p:nvSpPr>
          <p:spPr>
            <a:xfrm>
              <a:off x="0" y="0"/>
              <a:ext cx="38100" cy="10287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2"/>
            <p:cNvSpPr txBox="1"/>
            <p:nvPr/>
          </p:nvSpPr>
          <p:spPr>
            <a:xfrm>
              <a:off x="228600" y="133350"/>
              <a:ext cx="6669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600">
                  <a:solidFill>
                    <a:srgbClr val="3B82F6"/>
                  </a:solidFill>
                  <a:latin typeface="Inter"/>
                  <a:ea typeface="Inter"/>
                  <a:cs typeface="Inter"/>
                  <a:sym typeface="Inter"/>
                </a:rPr>
                <a:t>01</a:t>
              </a:r>
              <a:endParaRPr b="1" sz="2600">
                <a:solidFill>
                  <a:srgbClr val="3B82F6"/>
                </a:solidFill>
                <a:latin typeface="Inter"/>
                <a:ea typeface="Inter"/>
                <a:cs typeface="Inter"/>
                <a:sym typeface="Inter"/>
              </a:endParaRPr>
            </a:p>
          </p:txBody>
        </p:sp>
        <p:sp>
          <p:nvSpPr>
            <p:cNvPr id="210" name="Google Shape;210;p22"/>
            <p:cNvSpPr txBox="1"/>
            <p:nvPr/>
          </p:nvSpPr>
          <p:spPr>
            <a:xfrm>
              <a:off x="1047750" y="133350"/>
              <a:ext cx="2095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3B82F6"/>
                  </a:solidFill>
                  <a:latin typeface="Inter SemiBold"/>
                  <a:ea typeface="Inter SemiBold"/>
                  <a:cs typeface="Inter SemiBold"/>
                  <a:sym typeface="Inter SemiBold"/>
                </a:rPr>
                <a:t>CURRENT STATE</a:t>
              </a:r>
              <a:endParaRPr b="0" sz="80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it" sz="1400">
                  <a:solidFill>
                    <a:srgbClr val="F8F9FA"/>
                  </a:solidFill>
                  <a:latin typeface="Inter SemiBold"/>
                  <a:ea typeface="Inter SemiBold"/>
                  <a:cs typeface="Inter SemiBold"/>
                  <a:sym typeface="Inter SemiBold"/>
                </a:rPr>
                <a:t>Simple Benchmarks</a:t>
              </a:r>
              <a:endParaRPr b="0" sz="1400">
                <a:solidFill>
                  <a:srgbClr val="F8F9FA"/>
                </a:solidFill>
                <a:latin typeface="Inter SemiBold"/>
                <a:ea typeface="Inter SemiBold"/>
                <a:cs typeface="Inter SemiBold"/>
                <a:sym typeface="Inter SemiBold"/>
              </a:endParaRPr>
            </a:p>
          </p:txBody>
        </p:sp>
        <p:cxnSp>
          <p:nvCxnSpPr>
            <p:cNvPr id="211" name="Google Shape;211;p22"/>
            <p:cNvCxnSpPr/>
            <p:nvPr/>
          </p:nvCxnSpPr>
          <p:spPr>
            <a:xfrm>
              <a:off x="3238500" y="190500"/>
              <a:ext cx="0" cy="64770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212" name="Google Shape;212;p22"/>
            <p:cNvSpPr txBox="1"/>
            <p:nvPr/>
          </p:nvSpPr>
          <p:spPr>
            <a:xfrm>
              <a:off x="3476625" y="133350"/>
              <a:ext cx="46197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950">
                  <a:solidFill>
                    <a:srgbClr val="94A3B8"/>
                  </a:solidFill>
                  <a:latin typeface="Inter Light"/>
                  <a:ea typeface="Inter Light"/>
                  <a:cs typeface="Inter Light"/>
                  <a:sym typeface="Inter Light"/>
                </a:rPr>
                <a:t>Recent developments in PINNs for viscoelastic (VE) fluids have been demonstrated only on simple benchmark problems (such as ViscoelasticNet).</a:t>
              </a:r>
              <a:endParaRPr b="0" sz="950">
                <a:solidFill>
                  <a:srgbClr val="94A3B8"/>
                </a:solidFill>
                <a:latin typeface="Inter Light"/>
                <a:ea typeface="Inter Light"/>
                <a:cs typeface="Inter Light"/>
                <a:sym typeface="Inter Light"/>
              </a:endParaRPr>
            </a:p>
          </p:txBody>
        </p:sp>
      </p:grpSp>
      <p:grpSp>
        <p:nvGrpSpPr>
          <p:cNvPr id="213" name="Google Shape;213;p22"/>
          <p:cNvGrpSpPr/>
          <p:nvPr/>
        </p:nvGrpSpPr>
        <p:grpSpPr>
          <a:xfrm>
            <a:off x="381000" y="2286000"/>
            <a:ext cx="8382000" cy="1028700"/>
            <a:chOff x="0" y="0"/>
            <a:chExt cx="8382000" cy="1028700"/>
          </a:xfrm>
        </p:grpSpPr>
        <p:sp>
          <p:nvSpPr>
            <p:cNvPr id="214" name="Google Shape;214;p22"/>
            <p:cNvSpPr/>
            <p:nvPr/>
          </p:nvSpPr>
          <p:spPr>
            <a:xfrm>
              <a:off x="0" y="0"/>
              <a:ext cx="8382000" cy="1028700"/>
            </a:xfrm>
            <a:prstGeom prst="roundRect">
              <a:avLst>
                <a:gd fmla="val 740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2"/>
            <p:cNvSpPr/>
            <p:nvPr/>
          </p:nvSpPr>
          <p:spPr>
            <a:xfrm>
              <a:off x="0" y="0"/>
              <a:ext cx="38100" cy="10287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2"/>
            <p:cNvSpPr txBox="1"/>
            <p:nvPr/>
          </p:nvSpPr>
          <p:spPr>
            <a:xfrm>
              <a:off x="228600" y="133350"/>
              <a:ext cx="6669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600">
                  <a:solidFill>
                    <a:srgbClr val="F59E0B"/>
                  </a:solidFill>
                  <a:latin typeface="Inter"/>
                  <a:ea typeface="Inter"/>
                  <a:cs typeface="Inter"/>
                  <a:sym typeface="Inter"/>
                </a:rPr>
                <a:t>02</a:t>
              </a:r>
              <a:endParaRPr b="1" sz="2600">
                <a:solidFill>
                  <a:srgbClr val="F59E0B"/>
                </a:solidFill>
                <a:latin typeface="Inter"/>
                <a:ea typeface="Inter"/>
                <a:cs typeface="Inter"/>
                <a:sym typeface="Inter"/>
              </a:endParaRPr>
            </a:p>
          </p:txBody>
        </p:sp>
        <p:sp>
          <p:nvSpPr>
            <p:cNvPr id="217" name="Google Shape;217;p22"/>
            <p:cNvSpPr txBox="1"/>
            <p:nvPr/>
          </p:nvSpPr>
          <p:spPr>
            <a:xfrm>
              <a:off x="1047750" y="133350"/>
              <a:ext cx="2095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F59E0B"/>
                  </a:solidFill>
                  <a:latin typeface="Inter SemiBold"/>
                  <a:ea typeface="Inter SemiBold"/>
                  <a:cs typeface="Inter SemiBold"/>
                  <a:sym typeface="Inter SemiBold"/>
                </a:rPr>
                <a:t>THE GAP</a:t>
              </a:r>
              <a:endParaRPr b="0" sz="800">
                <a:solidFill>
                  <a:srgbClr val="F59E0B"/>
                </a:solidFill>
                <a:latin typeface="Inter SemiBold"/>
                <a:ea typeface="Inter SemiBold"/>
                <a:cs typeface="Inter SemiBold"/>
                <a:sym typeface="Inter SemiBold"/>
              </a:endParaRPr>
            </a:p>
            <a:p>
              <a:pPr indent="0" lvl="0" marL="0" rtl="0" algn="l">
                <a:spcBef>
                  <a:spcPts val="300"/>
                </a:spcBef>
                <a:spcAft>
                  <a:spcPts val="0"/>
                </a:spcAft>
                <a:buNone/>
              </a:pPr>
              <a:r>
                <a:rPr b="0" lang="it" sz="1400">
                  <a:solidFill>
                    <a:srgbClr val="F8F9FA"/>
                  </a:solidFill>
                  <a:latin typeface="Inter SemiBold"/>
                  <a:ea typeface="Inter SemiBold"/>
                  <a:cs typeface="Inter SemiBold"/>
                  <a:sym typeface="Inter SemiBold"/>
                </a:rPr>
                <a:t>Complex Geometries</a:t>
              </a:r>
              <a:endParaRPr b="0" sz="1400">
                <a:solidFill>
                  <a:srgbClr val="F8F9FA"/>
                </a:solidFill>
                <a:latin typeface="Inter SemiBold"/>
                <a:ea typeface="Inter SemiBold"/>
                <a:cs typeface="Inter SemiBold"/>
                <a:sym typeface="Inter SemiBold"/>
              </a:endParaRPr>
            </a:p>
          </p:txBody>
        </p:sp>
        <p:cxnSp>
          <p:nvCxnSpPr>
            <p:cNvPr id="218" name="Google Shape;218;p22"/>
            <p:cNvCxnSpPr/>
            <p:nvPr/>
          </p:nvCxnSpPr>
          <p:spPr>
            <a:xfrm>
              <a:off x="3238500" y="190500"/>
              <a:ext cx="0" cy="64770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219" name="Google Shape;219;p22"/>
            <p:cNvSpPr txBox="1"/>
            <p:nvPr/>
          </p:nvSpPr>
          <p:spPr>
            <a:xfrm>
              <a:off x="3476625" y="133350"/>
              <a:ext cx="46197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950">
                  <a:solidFill>
                    <a:srgbClr val="94A3B8"/>
                  </a:solidFill>
                  <a:latin typeface="Inter Light"/>
                  <a:ea typeface="Inter Light"/>
                  <a:cs typeface="Inter Light"/>
                  <a:sym typeface="Inter Light"/>
                </a:rPr>
                <a:t>There is a need to bridge this gap by extending models to handle complex geometries with realistic, relevant flow features.</a:t>
              </a:r>
              <a:endParaRPr b="0" sz="950">
                <a:solidFill>
                  <a:srgbClr val="94A3B8"/>
                </a:solidFill>
                <a:latin typeface="Inter Light"/>
                <a:ea typeface="Inter Light"/>
                <a:cs typeface="Inter Light"/>
                <a:sym typeface="Inter Light"/>
              </a:endParaRPr>
            </a:p>
          </p:txBody>
        </p:sp>
      </p:grpSp>
      <p:grpSp>
        <p:nvGrpSpPr>
          <p:cNvPr id="220" name="Google Shape;220;p22"/>
          <p:cNvGrpSpPr/>
          <p:nvPr/>
        </p:nvGrpSpPr>
        <p:grpSpPr>
          <a:xfrm>
            <a:off x="381000" y="3476625"/>
            <a:ext cx="8382000" cy="1028700"/>
            <a:chOff x="0" y="0"/>
            <a:chExt cx="8382000" cy="1028700"/>
          </a:xfrm>
        </p:grpSpPr>
        <p:sp>
          <p:nvSpPr>
            <p:cNvPr id="221" name="Google Shape;221;p22"/>
            <p:cNvSpPr/>
            <p:nvPr/>
          </p:nvSpPr>
          <p:spPr>
            <a:xfrm>
              <a:off x="0" y="0"/>
              <a:ext cx="8382000" cy="1028700"/>
            </a:xfrm>
            <a:prstGeom prst="roundRect">
              <a:avLst>
                <a:gd fmla="val 740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22"/>
            <p:cNvSpPr/>
            <p:nvPr/>
          </p:nvSpPr>
          <p:spPr>
            <a:xfrm>
              <a:off x="0" y="0"/>
              <a:ext cx="38100" cy="10287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22"/>
            <p:cNvSpPr txBox="1"/>
            <p:nvPr/>
          </p:nvSpPr>
          <p:spPr>
            <a:xfrm>
              <a:off x="228600" y="133350"/>
              <a:ext cx="6669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600">
                  <a:solidFill>
                    <a:srgbClr val="10B981"/>
                  </a:solidFill>
                  <a:latin typeface="Inter"/>
                  <a:ea typeface="Inter"/>
                  <a:cs typeface="Inter"/>
                  <a:sym typeface="Inter"/>
                </a:rPr>
                <a:t>03</a:t>
              </a:r>
              <a:endParaRPr b="1" sz="2600">
                <a:solidFill>
                  <a:srgbClr val="10B981"/>
                </a:solidFill>
                <a:latin typeface="Inter"/>
                <a:ea typeface="Inter"/>
                <a:cs typeface="Inter"/>
                <a:sym typeface="Inter"/>
              </a:endParaRPr>
            </a:p>
          </p:txBody>
        </p:sp>
        <p:sp>
          <p:nvSpPr>
            <p:cNvPr id="224" name="Google Shape;224;p22"/>
            <p:cNvSpPr txBox="1"/>
            <p:nvPr/>
          </p:nvSpPr>
          <p:spPr>
            <a:xfrm>
              <a:off x="1047750" y="133350"/>
              <a:ext cx="2095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10B981"/>
                  </a:solidFill>
                  <a:latin typeface="Inter SemiBold"/>
                  <a:ea typeface="Inter SemiBold"/>
                  <a:cs typeface="Inter SemiBold"/>
                  <a:sym typeface="Inter SemiBold"/>
                </a:rPr>
                <a:t>OBJECTIVE</a:t>
              </a:r>
              <a:endParaRPr b="0" sz="800">
                <a:solidFill>
                  <a:srgbClr val="10B981"/>
                </a:solidFill>
                <a:latin typeface="Inter SemiBold"/>
                <a:ea typeface="Inter SemiBold"/>
                <a:cs typeface="Inter SemiBold"/>
                <a:sym typeface="Inter SemiBold"/>
              </a:endParaRPr>
            </a:p>
            <a:p>
              <a:pPr indent="0" lvl="0" marL="0" rtl="0" algn="l">
                <a:spcBef>
                  <a:spcPts val="300"/>
                </a:spcBef>
                <a:spcAft>
                  <a:spcPts val="0"/>
                </a:spcAft>
                <a:buNone/>
              </a:pPr>
              <a:r>
                <a:rPr b="0" lang="it" sz="1400">
                  <a:solidFill>
                    <a:srgbClr val="F8F9FA"/>
                  </a:solidFill>
                  <a:latin typeface="Inter SemiBold"/>
                  <a:ea typeface="Inter SemiBold"/>
                  <a:cs typeface="Inter SemiBold"/>
                  <a:sym typeface="Inter SemiBold"/>
                </a:rPr>
                <a:t>Generalization</a:t>
              </a:r>
              <a:endParaRPr b="0" sz="1400">
                <a:solidFill>
                  <a:srgbClr val="F8F9FA"/>
                </a:solidFill>
                <a:latin typeface="Inter SemiBold"/>
                <a:ea typeface="Inter SemiBold"/>
                <a:cs typeface="Inter SemiBold"/>
                <a:sym typeface="Inter SemiBold"/>
              </a:endParaRPr>
            </a:p>
          </p:txBody>
        </p:sp>
        <p:cxnSp>
          <p:nvCxnSpPr>
            <p:cNvPr id="225" name="Google Shape;225;p22"/>
            <p:cNvCxnSpPr/>
            <p:nvPr/>
          </p:nvCxnSpPr>
          <p:spPr>
            <a:xfrm>
              <a:off x="3238500" y="190500"/>
              <a:ext cx="0" cy="64770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226" name="Google Shape;226;p22"/>
            <p:cNvSpPr txBox="1"/>
            <p:nvPr/>
          </p:nvSpPr>
          <p:spPr>
            <a:xfrm>
              <a:off x="3476625" y="133350"/>
              <a:ext cx="46197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950">
                  <a:solidFill>
                    <a:srgbClr val="94A3B8"/>
                  </a:solidFill>
                  <a:latin typeface="Inter Light"/>
                  <a:ea typeface="Inter Light"/>
                  <a:cs typeface="Inter Light"/>
                  <a:sym typeface="Inter Light"/>
                </a:rPr>
                <a:t>Developing robust neural network architectures capable of generalizing across diverse physical cases and complex fluid dynamics scenarios.</a:t>
              </a:r>
              <a:endParaRPr b="0" sz="950">
                <a:solidFill>
                  <a:srgbClr val="94A3B8"/>
                </a:solidFill>
                <a:latin typeface="Inter Light"/>
                <a:ea typeface="Inter Light"/>
                <a:cs typeface="Inter Light"/>
                <a:sym typeface="Inter Light"/>
              </a:endParaRPr>
            </a:p>
          </p:txBody>
        </p:sp>
      </p:grpSp>
      <p:sp>
        <p:nvSpPr>
          <p:cNvPr id="227" name="Google Shape;22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23"/>
          <p:cNvSpPr txBox="1"/>
          <p:nvPr/>
        </p:nvSpPr>
        <p:spPr>
          <a:xfrm>
            <a:off x="381000" y="285750"/>
            <a:ext cx="8382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3100" u="none" strike="noStrike">
                <a:solidFill>
                  <a:srgbClr val="F8F9FA"/>
                </a:solidFill>
                <a:latin typeface="Inter"/>
                <a:ea typeface="Inter"/>
                <a:cs typeface="Inter"/>
                <a:sym typeface="Inter"/>
              </a:rPr>
              <a:t>Fundamentals of </a:t>
            </a:r>
            <a:r>
              <a:rPr b="1" lang="it" sz="3100">
                <a:solidFill>
                  <a:srgbClr val="F8F9FA"/>
                </a:solidFill>
                <a:latin typeface="Inter"/>
                <a:ea typeface="Inter"/>
                <a:cs typeface="Inter"/>
                <a:sym typeface="Inter"/>
              </a:rPr>
              <a:t>Deep</a:t>
            </a:r>
            <a:r>
              <a:rPr b="1" i="0" lang="it" sz="3100" u="none" strike="noStrike">
                <a:solidFill>
                  <a:srgbClr val="F8F9FA"/>
                </a:solidFill>
                <a:latin typeface="Inter"/>
                <a:ea typeface="Inter"/>
                <a:cs typeface="Inter"/>
                <a:sym typeface="Inter"/>
              </a:rPr>
              <a:t> Learning</a:t>
            </a:r>
            <a:endParaRPr b="1" i="0" sz="3100" u="none" strike="noStrike">
              <a:solidFill>
                <a:srgbClr val="F8F9FA"/>
              </a:solidFill>
              <a:latin typeface="Inter"/>
              <a:ea typeface="Inter"/>
              <a:cs typeface="Inter"/>
              <a:sym typeface="Inter"/>
            </a:endParaRPr>
          </a:p>
        </p:txBody>
      </p:sp>
      <p:cxnSp>
        <p:nvCxnSpPr>
          <p:cNvPr id="233" name="Google Shape;233;p23"/>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234" name="Google Shape;234;p23"/>
          <p:cNvGrpSpPr/>
          <p:nvPr/>
        </p:nvGrpSpPr>
        <p:grpSpPr>
          <a:xfrm>
            <a:off x="381000" y="1095375"/>
            <a:ext cx="2667000" cy="3381300"/>
            <a:chOff x="0" y="0"/>
            <a:chExt cx="2667000" cy="3381300"/>
          </a:xfrm>
        </p:grpSpPr>
        <p:sp>
          <p:nvSpPr>
            <p:cNvPr id="235" name="Google Shape;235;p23"/>
            <p:cNvSpPr/>
            <p:nvPr/>
          </p:nvSpPr>
          <p:spPr>
            <a:xfrm>
              <a:off x="0" y="0"/>
              <a:ext cx="2667000" cy="33813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3"/>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23"/>
            <p:cNvSpPr txBox="1"/>
            <p:nvPr/>
          </p:nvSpPr>
          <p:spPr>
            <a:xfrm>
              <a:off x="190500" y="2797100"/>
              <a:ext cx="2286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u="none" strike="noStrike">
                  <a:solidFill>
                    <a:srgbClr val="3B82F6"/>
                  </a:solidFill>
                  <a:latin typeface="Inter"/>
                  <a:ea typeface="Inter"/>
                  <a:cs typeface="Inter"/>
                  <a:sym typeface="Inter"/>
                </a:rPr>
                <a:t>01 / ARCHITECTURE</a:t>
              </a:r>
              <a:endParaRPr b="1" i="0" sz="800" u="none" strike="noStrike">
                <a:solidFill>
                  <a:srgbClr val="3B82F6"/>
                </a:solidFill>
                <a:latin typeface="Inter"/>
                <a:ea typeface="Inter"/>
                <a:cs typeface="Inter"/>
                <a:sym typeface="Inter"/>
              </a:endParaRPr>
            </a:p>
            <a:p>
              <a:pPr indent="0" lvl="0" marL="0" rtl="0" algn="l">
                <a:spcBef>
                  <a:spcPts val="300"/>
                </a:spcBef>
                <a:spcAft>
                  <a:spcPts val="0"/>
                </a:spcAft>
                <a:buNone/>
              </a:pPr>
              <a:r>
                <a:rPr lang="it" sz="1500">
                  <a:solidFill>
                    <a:srgbClr val="F8F9FA"/>
                  </a:solidFill>
                  <a:latin typeface="Inter SemiBold"/>
                  <a:ea typeface="Inter SemiBold"/>
                  <a:cs typeface="Inter SemiBold"/>
                  <a:sym typeface="Inter SemiBold"/>
                </a:rPr>
                <a:t>Fully Connected</a:t>
              </a:r>
              <a:endParaRPr b="1" i="0" sz="1000" u="none" strike="noStrike">
                <a:solidFill>
                  <a:srgbClr val="3B82F6"/>
                </a:solidFill>
                <a:latin typeface="Inter"/>
                <a:ea typeface="Inter"/>
                <a:cs typeface="Inter"/>
                <a:sym typeface="Inter"/>
              </a:endParaRPr>
            </a:p>
            <a:p>
              <a:pPr indent="0" lvl="0" marL="0" rtl="0" algn="l">
                <a:spcBef>
                  <a:spcPts val="600"/>
                </a:spcBef>
                <a:spcAft>
                  <a:spcPts val="0"/>
                </a:spcAft>
                <a:buNone/>
              </a:pPr>
              <a:r>
                <a:t/>
              </a:r>
              <a:endParaRPr b="1" i="0" sz="800" u="none" strike="noStrike">
                <a:solidFill>
                  <a:srgbClr val="3B82F6"/>
                </a:solidFill>
                <a:latin typeface="Inter"/>
                <a:ea typeface="Inter"/>
                <a:cs typeface="Inter"/>
                <a:sym typeface="Inter"/>
              </a:endParaRPr>
            </a:p>
          </p:txBody>
        </p:sp>
      </p:grpSp>
      <p:grpSp>
        <p:nvGrpSpPr>
          <p:cNvPr id="238" name="Google Shape;238;p23"/>
          <p:cNvGrpSpPr/>
          <p:nvPr/>
        </p:nvGrpSpPr>
        <p:grpSpPr>
          <a:xfrm>
            <a:off x="3238488" y="1095375"/>
            <a:ext cx="2667013" cy="3381300"/>
            <a:chOff x="-12" y="0"/>
            <a:chExt cx="2667013" cy="3381300"/>
          </a:xfrm>
        </p:grpSpPr>
        <p:sp>
          <p:nvSpPr>
            <p:cNvPr id="239" name="Google Shape;239;p23"/>
            <p:cNvSpPr/>
            <p:nvPr/>
          </p:nvSpPr>
          <p:spPr>
            <a:xfrm>
              <a:off x="0" y="0"/>
              <a:ext cx="2667000" cy="33813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3"/>
            <p:cNvSpPr/>
            <p:nvPr/>
          </p:nvSpPr>
          <p:spPr>
            <a:xfrm>
              <a:off x="0" y="0"/>
              <a:ext cx="26670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1" name="Google Shape;241;p23"/>
            <p:cNvPicPr preferRelativeResize="0"/>
            <p:nvPr/>
          </p:nvPicPr>
          <p:blipFill rotWithShape="1">
            <a:blip r:embed="rId4">
              <a:alphaModFix/>
            </a:blip>
            <a:srcRect b="-3288" l="0" r="0" t="3647"/>
            <a:stretch/>
          </p:blipFill>
          <p:spPr>
            <a:xfrm>
              <a:off x="-12" y="453688"/>
              <a:ext cx="2667000" cy="1362000"/>
            </a:xfrm>
            <a:prstGeom prst="rect">
              <a:avLst/>
            </a:prstGeom>
            <a:noFill/>
            <a:ln>
              <a:noFill/>
            </a:ln>
          </p:spPr>
        </p:pic>
        <p:sp>
          <p:nvSpPr>
            <p:cNvPr id="242" name="Google Shape;242;p23"/>
            <p:cNvSpPr txBox="1"/>
            <p:nvPr/>
          </p:nvSpPr>
          <p:spPr>
            <a:xfrm>
              <a:off x="190500" y="2775750"/>
              <a:ext cx="2286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u="none" strike="noStrike">
                  <a:solidFill>
                    <a:srgbClr val="10B981"/>
                  </a:solidFill>
                  <a:latin typeface="Inter"/>
                  <a:ea typeface="Inter"/>
                  <a:cs typeface="Inter"/>
                  <a:sym typeface="Inter"/>
                </a:rPr>
                <a:t>02 / PERCEPTRON</a:t>
              </a:r>
              <a:endParaRPr b="1" i="0" sz="800" u="none" strike="noStrike">
                <a:solidFill>
                  <a:srgbClr val="10B981"/>
                </a:solidFill>
                <a:latin typeface="Inter"/>
                <a:ea typeface="Inter"/>
                <a:cs typeface="Inter"/>
                <a:sym typeface="Inter"/>
              </a:endParaRPr>
            </a:p>
            <a:p>
              <a:pPr indent="0" lvl="0" marL="0" rtl="0" algn="l">
                <a:spcBef>
                  <a:spcPts val="300"/>
                </a:spcBef>
                <a:spcAft>
                  <a:spcPts val="0"/>
                </a:spcAft>
                <a:buNone/>
              </a:pPr>
              <a:r>
                <a:rPr b="0" i="0" lang="it" sz="1500" u="none" strike="noStrike">
                  <a:solidFill>
                    <a:srgbClr val="F8F9FA"/>
                  </a:solidFill>
                  <a:latin typeface="Inter SemiBold"/>
                  <a:ea typeface="Inter SemiBold"/>
                  <a:cs typeface="Inter SemiBold"/>
                  <a:sym typeface="Inter SemiBold"/>
                </a:rPr>
                <a:t>Activation Function</a:t>
              </a:r>
              <a:endParaRPr b="1" i="0" sz="1000" u="none" strike="noStrike">
                <a:solidFill>
                  <a:srgbClr val="10B981"/>
                </a:solidFill>
                <a:latin typeface="Inter"/>
                <a:ea typeface="Inter"/>
                <a:cs typeface="Inter"/>
                <a:sym typeface="Inter"/>
              </a:endParaRPr>
            </a:p>
            <a:p>
              <a:pPr indent="0" lvl="0" marL="0" rtl="0" algn="l">
                <a:spcBef>
                  <a:spcPts val="600"/>
                </a:spcBef>
                <a:spcAft>
                  <a:spcPts val="0"/>
                </a:spcAft>
                <a:buNone/>
              </a:pPr>
              <a:r>
                <a:t/>
              </a:r>
              <a:endParaRPr b="1" i="0" sz="800" u="none" strike="noStrike">
                <a:solidFill>
                  <a:srgbClr val="10B981"/>
                </a:solidFill>
                <a:latin typeface="Inter"/>
                <a:ea typeface="Inter"/>
                <a:cs typeface="Inter"/>
                <a:sym typeface="Inter"/>
              </a:endParaRPr>
            </a:p>
          </p:txBody>
        </p:sp>
      </p:grpSp>
      <p:grpSp>
        <p:nvGrpSpPr>
          <p:cNvPr id="243" name="Google Shape;243;p23"/>
          <p:cNvGrpSpPr/>
          <p:nvPr/>
        </p:nvGrpSpPr>
        <p:grpSpPr>
          <a:xfrm>
            <a:off x="6096000" y="1095375"/>
            <a:ext cx="2667000" cy="3381300"/>
            <a:chOff x="0" y="0"/>
            <a:chExt cx="2667000" cy="3381300"/>
          </a:xfrm>
        </p:grpSpPr>
        <p:sp>
          <p:nvSpPr>
            <p:cNvPr id="244" name="Google Shape;244;p23"/>
            <p:cNvSpPr/>
            <p:nvPr/>
          </p:nvSpPr>
          <p:spPr>
            <a:xfrm>
              <a:off x="0" y="0"/>
              <a:ext cx="2667000" cy="33813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3"/>
            <p:cNvSpPr/>
            <p:nvPr/>
          </p:nvSpPr>
          <p:spPr>
            <a:xfrm>
              <a:off x="0" y="0"/>
              <a:ext cx="2667000" cy="285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3"/>
            <p:cNvSpPr txBox="1"/>
            <p:nvPr/>
          </p:nvSpPr>
          <p:spPr>
            <a:xfrm>
              <a:off x="190500" y="2794975"/>
              <a:ext cx="2286000" cy="404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u="none" strike="noStrike">
                  <a:solidFill>
                    <a:srgbClr val="8B5CF6"/>
                  </a:solidFill>
                  <a:latin typeface="Inter"/>
                  <a:ea typeface="Inter"/>
                  <a:cs typeface="Inter"/>
                  <a:sym typeface="Inter"/>
                </a:rPr>
                <a:t>03 / OPTIMIZATION</a:t>
              </a:r>
              <a:endParaRPr b="1" i="0" sz="800" u="none" strike="noStrike">
                <a:solidFill>
                  <a:srgbClr val="8B5CF6"/>
                </a:solidFill>
                <a:latin typeface="Inter"/>
                <a:ea typeface="Inter"/>
                <a:cs typeface="Inter"/>
                <a:sym typeface="Inter"/>
              </a:endParaRPr>
            </a:p>
            <a:p>
              <a:pPr indent="0" lvl="0" marL="0" rtl="0" algn="l">
                <a:spcBef>
                  <a:spcPts val="300"/>
                </a:spcBef>
                <a:spcAft>
                  <a:spcPts val="0"/>
                </a:spcAft>
                <a:buNone/>
              </a:pPr>
              <a:r>
                <a:rPr b="0" i="0" lang="it" sz="1500" u="none" strike="noStrike">
                  <a:solidFill>
                    <a:srgbClr val="F8F9FA"/>
                  </a:solidFill>
                  <a:latin typeface="Inter SemiBold"/>
                  <a:ea typeface="Inter SemiBold"/>
                  <a:cs typeface="Inter SemiBold"/>
                  <a:sym typeface="Inter SemiBold"/>
                </a:rPr>
                <a:t>Loss &amp; Gradient Descent</a:t>
              </a:r>
              <a:endParaRPr b="1" i="0" sz="1000" u="none" strike="noStrike">
                <a:solidFill>
                  <a:srgbClr val="8B5CF6"/>
                </a:solidFill>
                <a:latin typeface="Inter"/>
                <a:ea typeface="Inter"/>
                <a:cs typeface="Inter"/>
                <a:sym typeface="Inter"/>
              </a:endParaRPr>
            </a:p>
            <a:p>
              <a:pPr indent="0" lvl="0" marL="0" rtl="0" algn="l">
                <a:spcBef>
                  <a:spcPts val="400"/>
                </a:spcBef>
                <a:spcAft>
                  <a:spcPts val="0"/>
                </a:spcAft>
                <a:buNone/>
              </a:pPr>
              <a:r>
                <a:t/>
              </a:r>
              <a:endParaRPr b="1" i="0" sz="800" u="none" strike="noStrike">
                <a:solidFill>
                  <a:srgbClr val="8B5CF6"/>
                </a:solidFill>
                <a:latin typeface="Inter"/>
                <a:ea typeface="Inter"/>
                <a:cs typeface="Inter"/>
                <a:sym typeface="Inter"/>
              </a:endParaRPr>
            </a:p>
          </p:txBody>
        </p:sp>
      </p:grpSp>
      <p:cxnSp>
        <p:nvCxnSpPr>
          <p:cNvPr id="247" name="Google Shape;247;p23"/>
          <p:cNvCxnSpPr/>
          <p:nvPr/>
        </p:nvCxnSpPr>
        <p:spPr>
          <a:xfrm>
            <a:off x="381000" y="46482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248" name="Google Shape;248;p23"/>
          <p:cNvSpPr txBox="1"/>
          <p:nvPr/>
        </p:nvSpPr>
        <p:spPr>
          <a:xfrm>
            <a:off x="381000" y="4714875"/>
            <a:ext cx="83820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800" u="none" strike="noStrike">
                <a:solidFill>
                  <a:srgbClr val="3B82F6"/>
                </a:solidFill>
                <a:latin typeface="Inter SemiBold"/>
                <a:ea typeface="Inter SemiBold"/>
                <a:cs typeface="Inter SemiBold"/>
                <a:sym typeface="Inter SemiBold"/>
              </a:rPr>
              <a:t>Reference:</a:t>
            </a:r>
            <a:r>
              <a:rPr b="0" i="0" lang="it" sz="800" u="none" strike="noStrike">
                <a:solidFill>
                  <a:srgbClr val="64748B"/>
                </a:solidFill>
                <a:latin typeface="Inter"/>
                <a:ea typeface="Inter"/>
                <a:cs typeface="Inter"/>
                <a:sym typeface="Inter"/>
              </a:rPr>
              <a:t> Goodfellow, I., Bengio, Y., &amp; Courville, A. (2016) — </a:t>
            </a:r>
            <a:r>
              <a:rPr b="0" i="1" lang="it" sz="800" u="none" strike="noStrike">
                <a:solidFill>
                  <a:srgbClr val="64748B"/>
                </a:solidFill>
                <a:latin typeface="Inter"/>
                <a:ea typeface="Inter"/>
                <a:cs typeface="Inter"/>
                <a:sym typeface="Inter"/>
              </a:rPr>
              <a:t>Deep Learning</a:t>
            </a:r>
            <a:r>
              <a:rPr b="0" i="0" lang="it" sz="800" u="none" strike="noStrike">
                <a:solidFill>
                  <a:srgbClr val="64748B"/>
                </a:solidFill>
                <a:latin typeface="Inter"/>
                <a:ea typeface="Inter"/>
                <a:cs typeface="Inter"/>
                <a:sym typeface="Inter"/>
              </a:rPr>
              <a:t>, MIT Press.</a:t>
            </a:r>
            <a:endParaRPr b="0" i="0" sz="800" u="none" strike="noStrike">
              <a:solidFill>
                <a:srgbClr val="3B82F6"/>
              </a:solidFill>
              <a:latin typeface="Inter SemiBold"/>
              <a:ea typeface="Inter SemiBold"/>
              <a:cs typeface="Inter SemiBold"/>
              <a:sym typeface="Inter SemiBold"/>
            </a:endParaRPr>
          </a:p>
        </p:txBody>
      </p:sp>
      <p:pic>
        <p:nvPicPr>
          <p:cNvPr id="249" name="Google Shape;249;p23" title="{&quot;red&quot;:203,&quot;green&quot;:213,&quot;blue&quot;:225,&quot;origURL&quot;:&quot;https://saxarona.github.io/mathjax-viewer/?input=%5Ctheta_%7Bt%2B1%7D%20%3D%20%5Ctheta_t%20-%20%5Ceta%20%5Cnabla_%5Ctheta%20%5Cmathcal%7BL%7D(%5Ctheta)#2&quot;,&quot;size&quot;:8,&quot;width&quot;:180,&quot;height&quot;:116.24409448818898,&quot;slideId&quot;:&quot;h61bea7f3a4f8afab_0_1112&quot;,&quot;pageElementId&quot;:&quot;h61bea7f3a4f8afab_0_1128&quot;,&quot;spaceCount&quot;:33,&quot;spaceStart&quot;:90}"/>
          <p:cNvPicPr preferRelativeResize="0"/>
          <p:nvPr/>
        </p:nvPicPr>
        <p:blipFill>
          <a:blip r:embed="rId5">
            <a:alphaModFix/>
          </a:blip>
          <a:stretch>
            <a:fillRect/>
          </a:stretch>
        </p:blipFill>
        <p:spPr>
          <a:xfrm>
            <a:off x="6275133" y="2510300"/>
            <a:ext cx="2308743" cy="250325"/>
          </a:xfrm>
          <a:prstGeom prst="rect">
            <a:avLst/>
          </a:prstGeom>
          <a:noFill/>
          <a:ln>
            <a:noFill/>
          </a:ln>
        </p:spPr>
      </p:pic>
      <p:pic>
        <p:nvPicPr>
          <p:cNvPr id="250" name="Google Shape;250;p23"/>
          <p:cNvPicPr preferRelativeResize="0"/>
          <p:nvPr/>
        </p:nvPicPr>
        <p:blipFill>
          <a:blip r:embed="rId6">
            <a:alphaModFix/>
          </a:blip>
          <a:stretch>
            <a:fillRect/>
          </a:stretch>
        </p:blipFill>
        <p:spPr>
          <a:xfrm>
            <a:off x="499275" y="1446376"/>
            <a:ext cx="2487900" cy="1567377"/>
          </a:xfrm>
          <a:prstGeom prst="rect">
            <a:avLst/>
          </a:prstGeom>
          <a:noFill/>
          <a:ln>
            <a:noFill/>
          </a:ln>
        </p:spPr>
      </p:pic>
      <p:sp>
        <p:nvSpPr>
          <p:cNvPr id="251" name="Google Shape;251;p23"/>
          <p:cNvSpPr txBox="1"/>
          <p:nvPr/>
        </p:nvSpPr>
        <p:spPr>
          <a:xfrm>
            <a:off x="549033" y="2018796"/>
            <a:ext cx="979500" cy="979500"/>
          </a:xfrm>
          <a:prstGeom prst="rect">
            <a:avLst/>
          </a:prstGeom>
          <a:noFill/>
          <a:ln>
            <a:noFill/>
          </a:ln>
        </p:spPr>
        <p:txBody>
          <a:bodyPr anchorCtr="0" anchor="ctr" bIns="29850" lIns="29850" spcFirstLastPara="1" rIns="29850" wrap="square" tIns="29850">
            <a:noAutofit/>
          </a:bodyPr>
          <a:lstStyle/>
          <a:p>
            <a:pPr indent="0" lvl="0" marL="0" rtl="0" algn="l">
              <a:spcBef>
                <a:spcPts val="0"/>
              </a:spcBef>
              <a:spcAft>
                <a:spcPts val="0"/>
              </a:spcAft>
              <a:buNone/>
            </a:pPr>
            <a:r>
              <a:rPr lang="it" sz="457"/>
              <a:t>  </a:t>
            </a:r>
            <a:endParaRPr sz="457"/>
          </a:p>
        </p:txBody>
      </p:sp>
      <p:pic>
        <p:nvPicPr>
          <p:cNvPr id="252" name="Google Shape;252;p23" title="{&quot;red&quot;:203,&quot;green&quot;:213,&quot;blue&quot;:225,&quot;origURL&quot;:&quot;https://saxarona.github.io/mathjax-viewer/?input=%5Cmathcal%7BL%7D(%5Ctheta)%20%3D%20%5Cfrac%7B1%7D%7BN%7D%20%5Csum%5EN_%7Bi%7D%20(y_i%20-%20%5Chat%7By_i%7D)%5E2#2&quot;,&quot;size&quot;:8,&quot;width&quot;:180,&quot;height&quot;:116.24409448818895,&quot;slideId&quot;:&quot;h61bea7f3a4f8afab_0_1112&quot;,&quot;pageElementId&quot;:&quot;SLIDES_API360987683_0&quot;,&quot;spaceCount&quot;:34,&quot;spaceStart&quot;:0}"/>
          <p:cNvPicPr preferRelativeResize="0"/>
          <p:nvPr/>
        </p:nvPicPr>
        <p:blipFill>
          <a:blip r:embed="rId7">
            <a:alphaModFix/>
          </a:blip>
          <a:stretch>
            <a:fillRect/>
          </a:stretch>
        </p:blipFill>
        <p:spPr>
          <a:xfrm>
            <a:off x="6156822" y="1446374"/>
            <a:ext cx="2505730" cy="683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56" name="Shape 256"/>
        <p:cNvGrpSpPr/>
        <p:nvPr/>
      </p:nvGrpSpPr>
      <p:grpSpPr>
        <a:xfrm>
          <a:off x="0" y="0"/>
          <a:ext cx="0" cy="0"/>
          <a:chOff x="0" y="0"/>
          <a:chExt cx="0" cy="0"/>
        </a:xfrm>
      </p:grpSpPr>
      <p:cxnSp>
        <p:nvCxnSpPr>
          <p:cNvPr id="257" name="Google Shape;257;p24"/>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258" name="Google Shape;258;p24"/>
          <p:cNvSpPr txBox="1"/>
          <p:nvPr>
            <p:ph type="title"/>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it" sz="3500">
                <a:solidFill>
                  <a:srgbClr val="F8F9FA"/>
                </a:solidFill>
                <a:latin typeface="Inter SemiBold"/>
                <a:ea typeface="Inter SemiBold"/>
                <a:cs typeface="Inter SemiBold"/>
                <a:sym typeface="Inter SemiBold"/>
              </a:rPr>
              <a:t>Why Neural Networks?</a:t>
            </a:r>
            <a:endParaRPr b="0" sz="2750">
              <a:solidFill>
                <a:srgbClr val="94A3B8"/>
              </a:solidFill>
              <a:latin typeface="Inter"/>
              <a:ea typeface="Inter"/>
              <a:cs typeface="Inter"/>
              <a:sym typeface="Inter"/>
            </a:endParaRPr>
          </a:p>
        </p:txBody>
      </p:sp>
      <p:grpSp>
        <p:nvGrpSpPr>
          <p:cNvPr id="259" name="Google Shape;259;p24"/>
          <p:cNvGrpSpPr/>
          <p:nvPr/>
        </p:nvGrpSpPr>
        <p:grpSpPr>
          <a:xfrm>
            <a:off x="381000" y="1095375"/>
            <a:ext cx="3905400" cy="1095300"/>
            <a:chOff x="381000" y="1095375"/>
            <a:chExt cx="3905400" cy="1095300"/>
          </a:xfrm>
        </p:grpSpPr>
        <p:sp>
          <p:nvSpPr>
            <p:cNvPr id="260" name="Google Shape;260;p24"/>
            <p:cNvSpPr/>
            <p:nvPr/>
          </p:nvSpPr>
          <p:spPr>
            <a:xfrm>
              <a:off x="381000" y="1095375"/>
              <a:ext cx="3905400" cy="1095300"/>
            </a:xfrm>
            <a:prstGeom prst="roundRect">
              <a:avLst>
                <a:gd fmla="val 521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4"/>
            <p:cNvSpPr/>
            <p:nvPr/>
          </p:nvSpPr>
          <p:spPr>
            <a:xfrm>
              <a:off x="381000" y="1095375"/>
              <a:ext cx="38100" cy="1095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4"/>
            <p:cNvSpPr txBox="1"/>
            <p:nvPr/>
          </p:nvSpPr>
          <p:spPr>
            <a:xfrm>
              <a:off x="533400" y="1171575"/>
              <a:ext cx="3619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100">
                  <a:solidFill>
                    <a:srgbClr val="3B82F6"/>
                  </a:solidFill>
                  <a:latin typeface="Inter"/>
                  <a:ea typeface="Inter"/>
                  <a:cs typeface="Inter"/>
                  <a:sym typeface="Inter"/>
                </a:rPr>
                <a:t>01 </a:t>
              </a:r>
              <a:r>
                <a:rPr b="0" lang="it" sz="750">
                  <a:solidFill>
                    <a:srgbClr val="3B82F6"/>
                  </a:solidFill>
                  <a:latin typeface="Inter SemiBold"/>
                  <a:ea typeface="Inter SemiBold"/>
                  <a:cs typeface="Inter SemiBold"/>
                  <a:sym typeface="Inter SemiBold"/>
                </a:rPr>
                <a:t>CAPABILITIES</a:t>
              </a:r>
              <a:endParaRPr b="1" sz="1100">
                <a:solidFill>
                  <a:srgbClr val="3B82F6"/>
                </a:solidFill>
                <a:latin typeface="Inter"/>
                <a:ea typeface="Inter"/>
                <a:cs typeface="Inter"/>
                <a:sym typeface="Inter"/>
              </a:endParaRPr>
            </a:p>
            <a:p>
              <a:pPr indent="0" lvl="0" marL="0" rtl="0" algn="l">
                <a:spcBef>
                  <a:spcPts val="300"/>
                </a:spcBef>
                <a:spcAft>
                  <a:spcPts val="0"/>
                </a:spcAft>
                <a:buNone/>
              </a:pPr>
              <a:r>
                <a:rPr b="0" lang="it" sz="1500">
                  <a:solidFill>
                    <a:srgbClr val="F8F9FA"/>
                  </a:solidFill>
                  <a:latin typeface="Inter SemiBold"/>
                  <a:ea typeface="Inter SemiBold"/>
                  <a:cs typeface="Inter SemiBold"/>
                  <a:sym typeface="Inter SemiBold"/>
                </a:rPr>
                <a:t>Cross-Domain Success</a:t>
              </a:r>
              <a:endParaRPr b="0" sz="1500">
                <a:solidFill>
                  <a:srgbClr val="F8F9FA"/>
                </a:solidFill>
                <a:latin typeface="Inter SemiBold"/>
                <a:ea typeface="Inter SemiBold"/>
                <a:cs typeface="Inter SemiBold"/>
                <a:sym typeface="Inter SemiBold"/>
              </a:endParaRPr>
            </a:p>
            <a:p>
              <a:pPr indent="0" lvl="0" marL="0" rtl="0" algn="l">
                <a:spcBef>
                  <a:spcPts val="400"/>
                </a:spcBef>
                <a:spcAft>
                  <a:spcPts val="0"/>
                </a:spcAft>
                <a:buNone/>
              </a:pPr>
              <a:r>
                <a:rPr b="0" lang="it" sz="850">
                  <a:solidFill>
                    <a:srgbClr val="94A3B8"/>
                  </a:solidFill>
                  <a:latin typeface="Inter Light"/>
                  <a:ea typeface="Inter Light"/>
                  <a:cs typeface="Inter Light"/>
                  <a:sym typeface="Inter Light"/>
                </a:rPr>
                <a:t>Neural networks have demonstrated exceptional problem-solving capabilities across various scientific, engineering, and data-driven domains.</a:t>
              </a:r>
              <a:endParaRPr b="0" sz="850">
                <a:solidFill>
                  <a:srgbClr val="94A3B8"/>
                </a:solidFill>
                <a:latin typeface="Inter Light"/>
                <a:ea typeface="Inter Light"/>
                <a:cs typeface="Inter Light"/>
                <a:sym typeface="Inter Light"/>
              </a:endParaRPr>
            </a:p>
          </p:txBody>
        </p:sp>
      </p:grpSp>
      <p:grpSp>
        <p:nvGrpSpPr>
          <p:cNvPr id="263" name="Google Shape;263;p24"/>
          <p:cNvGrpSpPr/>
          <p:nvPr/>
        </p:nvGrpSpPr>
        <p:grpSpPr>
          <a:xfrm>
            <a:off x="381000" y="2333625"/>
            <a:ext cx="3905400" cy="1095300"/>
            <a:chOff x="381000" y="2333625"/>
            <a:chExt cx="3905400" cy="1095300"/>
          </a:xfrm>
        </p:grpSpPr>
        <p:sp>
          <p:nvSpPr>
            <p:cNvPr id="264" name="Google Shape;264;p24"/>
            <p:cNvSpPr/>
            <p:nvPr/>
          </p:nvSpPr>
          <p:spPr>
            <a:xfrm>
              <a:off x="381000" y="2333625"/>
              <a:ext cx="3905400" cy="1095300"/>
            </a:xfrm>
            <a:prstGeom prst="roundRect">
              <a:avLst>
                <a:gd fmla="val 521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4"/>
            <p:cNvSpPr/>
            <p:nvPr/>
          </p:nvSpPr>
          <p:spPr>
            <a:xfrm>
              <a:off x="381000" y="2333625"/>
              <a:ext cx="38100" cy="1095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4"/>
            <p:cNvSpPr txBox="1"/>
            <p:nvPr/>
          </p:nvSpPr>
          <p:spPr>
            <a:xfrm>
              <a:off x="533400" y="2409825"/>
              <a:ext cx="3619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100">
                  <a:solidFill>
                    <a:srgbClr val="3B82F6"/>
                  </a:solidFill>
                  <a:latin typeface="Inter"/>
                  <a:ea typeface="Inter"/>
                  <a:cs typeface="Inter"/>
                  <a:sym typeface="Inter"/>
                </a:rPr>
                <a:t>0</a:t>
              </a:r>
              <a:r>
                <a:rPr b="1" lang="it" sz="1100">
                  <a:solidFill>
                    <a:srgbClr val="3B82F6"/>
                  </a:solidFill>
                  <a:latin typeface="Inter"/>
                  <a:ea typeface="Inter"/>
                  <a:cs typeface="Inter"/>
                  <a:sym typeface="Inter"/>
                </a:rPr>
                <a:t>2</a:t>
              </a:r>
              <a:r>
                <a:rPr b="1" lang="it" sz="1100">
                  <a:solidFill>
                    <a:srgbClr val="3B82F6"/>
                  </a:solidFill>
                  <a:latin typeface="Inter"/>
                  <a:ea typeface="Inter"/>
                  <a:cs typeface="Inter"/>
                  <a:sym typeface="Inter"/>
                </a:rPr>
                <a:t> </a:t>
              </a:r>
              <a:r>
                <a:rPr b="0" lang="it" sz="750">
                  <a:solidFill>
                    <a:srgbClr val="3B82F6"/>
                  </a:solidFill>
                  <a:latin typeface="Inter SemiBold"/>
                  <a:ea typeface="Inter SemiBold"/>
                  <a:cs typeface="Inter SemiBold"/>
                  <a:sym typeface="Inter SemiBold"/>
                </a:rPr>
                <a:t>FUNCTION APPROXIMATION</a:t>
              </a:r>
              <a:endParaRPr b="1" sz="1100">
                <a:solidFill>
                  <a:srgbClr val="3B82F6"/>
                </a:solidFill>
                <a:latin typeface="Inter"/>
                <a:ea typeface="Inter"/>
                <a:cs typeface="Inter"/>
                <a:sym typeface="Inter"/>
              </a:endParaRPr>
            </a:p>
            <a:p>
              <a:pPr indent="0" lvl="0" marL="0" rtl="0" algn="l">
                <a:spcBef>
                  <a:spcPts val="300"/>
                </a:spcBef>
                <a:spcAft>
                  <a:spcPts val="0"/>
                </a:spcAft>
                <a:buClr>
                  <a:schemeClr val="dk1"/>
                </a:buClr>
                <a:buSzPts val="1100"/>
                <a:buFont typeface="Arial"/>
                <a:buNone/>
              </a:pPr>
              <a:r>
                <a:rPr lang="it" sz="1500">
                  <a:solidFill>
                    <a:srgbClr val="F8F9FA"/>
                  </a:solidFill>
                  <a:latin typeface="Inter SemiBold"/>
                  <a:ea typeface="Inter SemiBold"/>
                  <a:cs typeface="Inter SemiBold"/>
                  <a:sym typeface="Inter SemiBold"/>
                </a:rPr>
                <a:t>High-Dimensional Modeling</a:t>
              </a:r>
              <a:endParaRPr b="0" sz="1500">
                <a:solidFill>
                  <a:srgbClr val="F8F9FA"/>
                </a:solidFill>
                <a:latin typeface="Inter SemiBold"/>
                <a:ea typeface="Inter SemiBold"/>
                <a:cs typeface="Inter SemiBold"/>
                <a:sym typeface="Inter SemiBold"/>
              </a:endParaRPr>
            </a:p>
            <a:p>
              <a:pPr indent="0" lvl="0" marL="0" rtl="0" algn="l">
                <a:spcBef>
                  <a:spcPts val="400"/>
                </a:spcBef>
                <a:spcAft>
                  <a:spcPts val="0"/>
                </a:spcAft>
                <a:buClr>
                  <a:schemeClr val="dk1"/>
                </a:buClr>
                <a:buSzPts val="1100"/>
                <a:buFont typeface="Arial"/>
                <a:buNone/>
              </a:pPr>
              <a:r>
                <a:rPr lang="it" sz="850">
                  <a:solidFill>
                    <a:srgbClr val="94A3B8"/>
                  </a:solidFill>
                  <a:latin typeface="Inter Light"/>
                  <a:ea typeface="Inter Light"/>
                  <a:cs typeface="Inter Light"/>
                  <a:sym typeface="Inter Light"/>
                </a:rPr>
                <a:t>Acts as universal approximators capable of handling non-linear differential equations and high-dimensional continuous systems without grid constraints.</a:t>
              </a:r>
              <a:endParaRPr b="0" sz="850">
                <a:solidFill>
                  <a:srgbClr val="94A3B8"/>
                </a:solidFill>
                <a:latin typeface="Inter Light"/>
                <a:ea typeface="Inter Light"/>
                <a:cs typeface="Inter Light"/>
                <a:sym typeface="Inter Light"/>
              </a:endParaRPr>
            </a:p>
          </p:txBody>
        </p:sp>
      </p:grpSp>
      <p:grpSp>
        <p:nvGrpSpPr>
          <p:cNvPr id="267" name="Google Shape;267;p24"/>
          <p:cNvGrpSpPr/>
          <p:nvPr/>
        </p:nvGrpSpPr>
        <p:grpSpPr>
          <a:xfrm>
            <a:off x="381000" y="3571875"/>
            <a:ext cx="3905400" cy="1095300"/>
            <a:chOff x="381000" y="3571875"/>
            <a:chExt cx="3905400" cy="1095300"/>
          </a:xfrm>
        </p:grpSpPr>
        <p:sp>
          <p:nvSpPr>
            <p:cNvPr id="268" name="Google Shape;268;p24"/>
            <p:cNvSpPr/>
            <p:nvPr/>
          </p:nvSpPr>
          <p:spPr>
            <a:xfrm>
              <a:off x="381000" y="3571875"/>
              <a:ext cx="3905400" cy="1095300"/>
            </a:xfrm>
            <a:prstGeom prst="roundRect">
              <a:avLst>
                <a:gd fmla="val 521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4"/>
            <p:cNvSpPr/>
            <p:nvPr/>
          </p:nvSpPr>
          <p:spPr>
            <a:xfrm>
              <a:off x="381000" y="3571875"/>
              <a:ext cx="38100" cy="1095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4"/>
            <p:cNvSpPr txBox="1"/>
            <p:nvPr/>
          </p:nvSpPr>
          <p:spPr>
            <a:xfrm>
              <a:off x="533400" y="3648075"/>
              <a:ext cx="3619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100">
                  <a:solidFill>
                    <a:srgbClr val="3B82F6"/>
                  </a:solidFill>
                  <a:latin typeface="Inter"/>
                  <a:ea typeface="Inter"/>
                  <a:cs typeface="Inter"/>
                  <a:sym typeface="Inter"/>
                </a:rPr>
                <a:t>03 </a:t>
              </a:r>
              <a:r>
                <a:rPr lang="it" sz="750">
                  <a:solidFill>
                    <a:srgbClr val="3B82F6"/>
                  </a:solidFill>
                  <a:latin typeface="Inter SemiBold"/>
                  <a:ea typeface="Inter SemiBold"/>
                  <a:cs typeface="Inter SemiBold"/>
                  <a:sym typeface="Inter SemiBold"/>
                </a:rPr>
                <a:t>HARDWARE SYNERGY</a:t>
              </a:r>
              <a:endParaRPr b="1" sz="1100">
                <a:solidFill>
                  <a:srgbClr val="3B82F6"/>
                </a:solidFill>
                <a:latin typeface="Inter"/>
                <a:ea typeface="Inter"/>
                <a:cs typeface="Inter"/>
                <a:sym typeface="Inter"/>
              </a:endParaRPr>
            </a:p>
            <a:p>
              <a:pPr indent="0" lvl="0" marL="0" rtl="0" algn="l">
                <a:spcBef>
                  <a:spcPts val="300"/>
                </a:spcBef>
                <a:spcAft>
                  <a:spcPts val="0"/>
                </a:spcAft>
                <a:buNone/>
              </a:pPr>
              <a:r>
                <a:rPr lang="it" sz="1500">
                  <a:solidFill>
                    <a:srgbClr val="F8F9FA"/>
                  </a:solidFill>
                  <a:latin typeface="Inter SemiBold"/>
                  <a:ea typeface="Inter SemiBold"/>
                  <a:cs typeface="Inter SemiBold"/>
                  <a:sym typeface="Inter SemiBold"/>
                </a:rPr>
                <a:t>Computational Progress</a:t>
              </a:r>
              <a:endParaRPr b="0" sz="1500">
                <a:solidFill>
                  <a:srgbClr val="F8F9FA"/>
                </a:solidFill>
                <a:latin typeface="Inter SemiBold"/>
                <a:ea typeface="Inter SemiBold"/>
                <a:cs typeface="Inter SemiBold"/>
                <a:sym typeface="Inter SemiBold"/>
              </a:endParaRPr>
            </a:p>
            <a:p>
              <a:pPr indent="0" lvl="0" marL="0" rtl="0" algn="l">
                <a:spcBef>
                  <a:spcPts val="400"/>
                </a:spcBef>
                <a:spcAft>
                  <a:spcPts val="0"/>
                </a:spcAft>
                <a:buNone/>
              </a:pPr>
              <a:r>
                <a:rPr lang="it" sz="850">
                  <a:solidFill>
                    <a:srgbClr val="94A3B8"/>
                  </a:solidFill>
                  <a:latin typeface="Inter"/>
                  <a:ea typeface="Inter"/>
                  <a:cs typeface="Inter"/>
                  <a:sym typeface="Inter"/>
                </a:rPr>
                <a:t>Modern computational hardware (GPUs, TPUs) is heavily optimized for parallel tensor operations, aligning directly with deep learning architectures.</a:t>
              </a:r>
              <a:r>
                <a:rPr lang="it" sz="1100">
                  <a:solidFill>
                    <a:schemeClr val="dk1"/>
                  </a:solidFill>
                </a:rPr>
                <a:t> </a:t>
              </a:r>
              <a:endParaRPr b="0" sz="850">
                <a:solidFill>
                  <a:srgbClr val="94A3B8"/>
                </a:solidFill>
                <a:latin typeface="Inter Light"/>
                <a:ea typeface="Inter Light"/>
                <a:cs typeface="Inter Light"/>
                <a:sym typeface="Inter Light"/>
              </a:endParaRPr>
            </a:p>
          </p:txBody>
        </p:sp>
      </p:grpSp>
      <p:pic>
        <p:nvPicPr>
          <p:cNvPr id="271" name="Google Shape;271;p24"/>
          <p:cNvPicPr preferRelativeResize="0"/>
          <p:nvPr/>
        </p:nvPicPr>
        <p:blipFill rotWithShape="1">
          <a:blip r:embed="rId4">
            <a:alphaModFix/>
          </a:blip>
          <a:srcRect b="0" l="0" r="42984" t="0"/>
          <a:stretch/>
        </p:blipFill>
        <p:spPr>
          <a:xfrm>
            <a:off x="4916400" y="904875"/>
            <a:ext cx="3677477" cy="3628176"/>
          </a:xfrm>
          <a:prstGeom prst="rect">
            <a:avLst/>
          </a:prstGeom>
          <a:noFill/>
          <a:ln>
            <a:noFill/>
          </a:ln>
        </p:spPr>
      </p:pic>
      <p:sp>
        <p:nvSpPr>
          <p:cNvPr id="272" name="Google Shape;272;p24"/>
          <p:cNvSpPr txBox="1"/>
          <p:nvPr/>
        </p:nvSpPr>
        <p:spPr>
          <a:xfrm>
            <a:off x="4914900" y="4591050"/>
            <a:ext cx="36768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it" sz="750">
                <a:solidFill>
                  <a:srgbClr val="3B82F6"/>
                </a:solidFill>
                <a:latin typeface="Inter SemiBold"/>
                <a:ea typeface="Inter SemiBold"/>
                <a:cs typeface="Inter SemiBold"/>
                <a:sym typeface="Inter SemiBold"/>
              </a:rPr>
              <a:t>NVIDIA Blackwell B200 GPU Die</a:t>
            </a:r>
            <a:endParaRPr b="0" i="0" sz="750">
              <a:solidFill>
                <a:srgbClr val="3B82F6"/>
              </a:solidFill>
              <a:latin typeface="Inter SemiBold"/>
              <a:ea typeface="Inter SemiBold"/>
              <a:cs typeface="Inter SemiBold"/>
              <a:sym typeface="Inter SemiBold"/>
            </a:endParaRPr>
          </a:p>
          <a:p>
            <a:pPr indent="0" lvl="0" marL="0" rtl="0" algn="l">
              <a:spcBef>
                <a:spcPts val="200"/>
              </a:spcBef>
              <a:spcAft>
                <a:spcPts val="0"/>
              </a:spcAft>
              <a:buNone/>
            </a:pPr>
            <a:r>
              <a:t/>
            </a:r>
            <a:endParaRPr b="0" i="0" sz="750">
              <a:solidFill>
                <a:srgbClr val="3B82F6"/>
              </a:solidFill>
              <a:latin typeface="Inter SemiBold"/>
              <a:ea typeface="Inter SemiBold"/>
              <a:cs typeface="Inter SemiBold"/>
              <a:sym typeface="Inter SemiBold"/>
            </a:endParaRPr>
          </a:p>
        </p:txBody>
      </p:sp>
      <p:sp>
        <p:nvSpPr>
          <p:cNvPr id="273" name="Google Shape;27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cxnSp>
        <p:nvCxnSpPr>
          <p:cNvPr id="278" name="Google Shape;278;p25"/>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279" name="Google Shape;279;p25"/>
          <p:cNvGrpSpPr/>
          <p:nvPr/>
        </p:nvGrpSpPr>
        <p:grpSpPr>
          <a:xfrm>
            <a:off x="381000" y="238125"/>
            <a:ext cx="8382000" cy="571500"/>
            <a:chOff x="0" y="0"/>
            <a:chExt cx="8382000" cy="571500"/>
          </a:xfrm>
        </p:grpSpPr>
        <p:sp>
          <p:nvSpPr>
            <p:cNvPr id="280" name="Google Shape;280;p25"/>
            <p:cNvSpPr/>
            <p:nvPr/>
          </p:nvSpPr>
          <p:spPr>
            <a:xfrm>
              <a:off x="0" y="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5"/>
            <p:cNvSpPr txBox="1"/>
            <p:nvPr/>
          </p:nvSpPr>
          <p:spPr>
            <a:xfrm>
              <a:off x="0" y="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3500">
                  <a:solidFill>
                    <a:srgbClr val="F8F9FA"/>
                  </a:solidFill>
                  <a:latin typeface="Inter SemiBold"/>
                  <a:ea typeface="Inter SemiBold"/>
                  <a:cs typeface="Inter SemiBold"/>
                  <a:sym typeface="Inter SemiBold"/>
                </a:rPr>
                <a:t>Limits of Neural Networks</a:t>
              </a:r>
              <a:endParaRPr b="0" sz="3500">
                <a:solidFill>
                  <a:srgbClr val="F8F9FA"/>
                </a:solidFill>
                <a:latin typeface="Inter SemiBold"/>
                <a:ea typeface="Inter SemiBold"/>
                <a:cs typeface="Inter SemiBold"/>
                <a:sym typeface="Inter SemiBold"/>
              </a:endParaRPr>
            </a:p>
            <a:p>
              <a:pPr indent="0" lvl="0" marL="0" rtl="0" algn="l">
                <a:spcBef>
                  <a:spcPts val="400"/>
                </a:spcBef>
                <a:spcAft>
                  <a:spcPts val="0"/>
                </a:spcAft>
                <a:buNone/>
              </a:pPr>
              <a:r>
                <a:t/>
              </a:r>
              <a:endParaRPr b="0" sz="1050">
                <a:solidFill>
                  <a:srgbClr val="94A3B8"/>
                </a:solidFill>
                <a:latin typeface="Inter"/>
                <a:ea typeface="Inter"/>
                <a:cs typeface="Inter"/>
                <a:sym typeface="Inter"/>
              </a:endParaRPr>
            </a:p>
          </p:txBody>
        </p:sp>
      </p:grpSp>
      <p:grpSp>
        <p:nvGrpSpPr>
          <p:cNvPr id="282" name="Google Shape;282;p25"/>
          <p:cNvGrpSpPr/>
          <p:nvPr/>
        </p:nvGrpSpPr>
        <p:grpSpPr>
          <a:xfrm>
            <a:off x="381000" y="1143000"/>
            <a:ext cx="2667000" cy="3524400"/>
            <a:chOff x="0" y="0"/>
            <a:chExt cx="2667000" cy="3524400"/>
          </a:xfrm>
        </p:grpSpPr>
        <p:sp>
          <p:nvSpPr>
            <p:cNvPr id="283" name="Google Shape;283;p25"/>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5"/>
            <p:cNvSpPr/>
            <p:nvPr/>
          </p:nvSpPr>
          <p:spPr>
            <a:xfrm>
              <a:off x="0" y="0"/>
              <a:ext cx="2667000" cy="285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5"/>
            <p:cNvSpPr txBox="1"/>
            <p:nvPr/>
          </p:nvSpPr>
          <p:spPr>
            <a:xfrm>
              <a:off x="190500" y="238125"/>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400">
                  <a:solidFill>
                    <a:srgbClr val="3B82F6"/>
                  </a:solidFill>
                  <a:latin typeface="Inter"/>
                  <a:ea typeface="Inter"/>
                  <a:cs typeface="Inter"/>
                  <a:sym typeface="Inter"/>
                </a:rPr>
                <a:t>01</a:t>
              </a:r>
              <a:endParaRPr b="1" sz="2400">
                <a:solidFill>
                  <a:srgbClr val="3B82F6"/>
                </a:solidFill>
                <a:latin typeface="Inter"/>
                <a:ea typeface="Inter"/>
                <a:cs typeface="Inter"/>
                <a:sym typeface="Inter"/>
              </a:endParaRPr>
            </a:p>
            <a:p>
              <a:pPr indent="0" lvl="0" marL="0" rtl="0" algn="l">
                <a:spcBef>
                  <a:spcPts val="1200"/>
                </a:spcBef>
                <a:spcAft>
                  <a:spcPts val="0"/>
                </a:spcAft>
                <a:buNone/>
              </a:pPr>
              <a:r>
                <a:rPr b="0" lang="it" sz="800">
                  <a:solidFill>
                    <a:srgbClr val="3B82F6"/>
                  </a:solidFill>
                  <a:latin typeface="Inter SemiBold"/>
                  <a:ea typeface="Inter SemiBold"/>
                  <a:cs typeface="Inter SemiBold"/>
                  <a:sym typeface="Inter SemiBold"/>
                </a:rPr>
                <a:t>DATA DEPENDENCY</a:t>
              </a:r>
              <a:endParaRPr b="0" sz="80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1500">
                  <a:solidFill>
                    <a:srgbClr val="F8F9FA"/>
                  </a:solidFill>
                  <a:latin typeface="Inter SemiBold"/>
                  <a:ea typeface="Inter SemiBold"/>
                  <a:cs typeface="Inter SemiBold"/>
                  <a:sym typeface="Inter SemiBold"/>
                </a:rPr>
                <a:t>Limited Data Availability</a:t>
              </a:r>
              <a:endParaRPr b="0" sz="1500">
                <a:solidFill>
                  <a:srgbClr val="F8F9FA"/>
                </a:solidFill>
                <a:latin typeface="Inter SemiBold"/>
                <a:ea typeface="Inter SemiBold"/>
                <a:cs typeface="Inter SemiBold"/>
                <a:sym typeface="Inter SemiBold"/>
              </a:endParaRPr>
            </a:p>
            <a:p>
              <a:pPr indent="0" lvl="0" marL="0" rtl="0" algn="l">
                <a:spcBef>
                  <a:spcPts val="1200"/>
                </a:spcBef>
                <a:spcAft>
                  <a:spcPts val="0"/>
                </a:spcAft>
                <a:buNone/>
              </a:pPr>
              <a:r>
                <a:rPr b="0" lang="it" sz="950">
                  <a:solidFill>
                    <a:srgbClr val="94A3B8"/>
                  </a:solidFill>
                  <a:latin typeface="Inter Light"/>
                  <a:ea typeface="Inter Light"/>
                  <a:cs typeface="Inter Light"/>
                  <a:sym typeface="Inter Light"/>
                </a:rPr>
                <a:t>Standard neural networks rely heavily on large volumes of labeled data, performing poorly or overfitting in data-scarce domains.</a:t>
              </a:r>
              <a:endParaRPr b="0" sz="950">
                <a:solidFill>
                  <a:srgbClr val="94A3B8"/>
                </a:solidFill>
                <a:latin typeface="Inter Light"/>
                <a:ea typeface="Inter Light"/>
                <a:cs typeface="Inter Light"/>
                <a:sym typeface="Inter Light"/>
              </a:endParaRPr>
            </a:p>
          </p:txBody>
        </p:sp>
      </p:grpSp>
      <p:grpSp>
        <p:nvGrpSpPr>
          <p:cNvPr id="286" name="Google Shape;286;p25"/>
          <p:cNvGrpSpPr/>
          <p:nvPr/>
        </p:nvGrpSpPr>
        <p:grpSpPr>
          <a:xfrm>
            <a:off x="3238500" y="1143000"/>
            <a:ext cx="2667000" cy="3524400"/>
            <a:chOff x="0" y="0"/>
            <a:chExt cx="2667000" cy="3524400"/>
          </a:xfrm>
        </p:grpSpPr>
        <p:sp>
          <p:nvSpPr>
            <p:cNvPr id="287" name="Google Shape;287;p25"/>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5"/>
            <p:cNvSpPr/>
            <p:nvPr/>
          </p:nvSpPr>
          <p:spPr>
            <a:xfrm>
              <a:off x="0" y="0"/>
              <a:ext cx="2667000" cy="285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25"/>
            <p:cNvSpPr txBox="1"/>
            <p:nvPr/>
          </p:nvSpPr>
          <p:spPr>
            <a:xfrm>
              <a:off x="190500" y="238125"/>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400">
                  <a:solidFill>
                    <a:srgbClr val="3B82F6"/>
                  </a:solidFill>
                  <a:latin typeface="Inter"/>
                  <a:ea typeface="Inter"/>
                  <a:cs typeface="Inter"/>
                  <a:sym typeface="Inter"/>
                </a:rPr>
                <a:t>02</a:t>
              </a:r>
              <a:endParaRPr b="1" sz="2400">
                <a:solidFill>
                  <a:srgbClr val="3B82F6"/>
                </a:solidFill>
                <a:latin typeface="Inter"/>
                <a:ea typeface="Inter"/>
                <a:cs typeface="Inter"/>
                <a:sym typeface="Inter"/>
              </a:endParaRPr>
            </a:p>
            <a:p>
              <a:pPr indent="0" lvl="0" marL="0" rtl="0" algn="l">
                <a:spcBef>
                  <a:spcPts val="1200"/>
                </a:spcBef>
                <a:spcAft>
                  <a:spcPts val="0"/>
                </a:spcAft>
                <a:buNone/>
              </a:pPr>
              <a:r>
                <a:rPr b="0" lang="it" sz="800">
                  <a:solidFill>
                    <a:srgbClr val="3B82F6"/>
                  </a:solidFill>
                  <a:latin typeface="Inter SemiBold"/>
                  <a:ea typeface="Inter SemiBold"/>
                  <a:cs typeface="Inter SemiBold"/>
                  <a:sym typeface="Inter SemiBold"/>
                </a:rPr>
                <a:t>PHYSICAL CONSISTENCY</a:t>
              </a:r>
              <a:endParaRPr b="0" sz="80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1500">
                  <a:solidFill>
                    <a:srgbClr val="F8F9FA"/>
                  </a:solidFill>
                  <a:latin typeface="Inter SemiBold"/>
                  <a:ea typeface="Inter SemiBold"/>
                  <a:cs typeface="Inter SemiBold"/>
                  <a:sym typeface="Inter SemiBold"/>
                </a:rPr>
                <a:t>No Physical Grounding</a:t>
              </a:r>
              <a:endParaRPr b="0" sz="1500">
                <a:solidFill>
                  <a:srgbClr val="F8F9FA"/>
                </a:solidFill>
                <a:latin typeface="Inter SemiBold"/>
                <a:ea typeface="Inter SemiBold"/>
                <a:cs typeface="Inter SemiBold"/>
                <a:sym typeface="Inter SemiBold"/>
              </a:endParaRPr>
            </a:p>
            <a:p>
              <a:pPr indent="0" lvl="0" marL="0" rtl="0" algn="l">
                <a:spcBef>
                  <a:spcPts val="1200"/>
                </a:spcBef>
                <a:spcAft>
                  <a:spcPts val="0"/>
                </a:spcAft>
                <a:buNone/>
              </a:pPr>
              <a:r>
                <a:rPr b="0" lang="it" sz="950">
                  <a:solidFill>
                    <a:srgbClr val="94A3B8"/>
                  </a:solidFill>
                  <a:latin typeface="Inter Light"/>
                  <a:ea typeface="Inter Light"/>
                  <a:cs typeface="Inter Light"/>
                  <a:sym typeface="Inter Light"/>
                </a:rPr>
                <a:t>Purely data-driven models lack embedded physical laws, often predicting solutions that violate fundamental physical constraints.</a:t>
              </a:r>
              <a:endParaRPr b="0" sz="950">
                <a:solidFill>
                  <a:srgbClr val="94A3B8"/>
                </a:solidFill>
                <a:latin typeface="Inter Light"/>
                <a:ea typeface="Inter Light"/>
                <a:cs typeface="Inter Light"/>
                <a:sym typeface="Inter Light"/>
              </a:endParaRPr>
            </a:p>
          </p:txBody>
        </p:sp>
      </p:grpSp>
      <p:grpSp>
        <p:nvGrpSpPr>
          <p:cNvPr id="290" name="Google Shape;290;p25"/>
          <p:cNvGrpSpPr/>
          <p:nvPr/>
        </p:nvGrpSpPr>
        <p:grpSpPr>
          <a:xfrm>
            <a:off x="6096000" y="1143000"/>
            <a:ext cx="2667000" cy="3524400"/>
            <a:chOff x="0" y="0"/>
            <a:chExt cx="2667000" cy="3524400"/>
          </a:xfrm>
        </p:grpSpPr>
        <p:sp>
          <p:nvSpPr>
            <p:cNvPr id="291" name="Google Shape;291;p25"/>
            <p:cNvSpPr/>
            <p:nvPr/>
          </p:nvSpPr>
          <p:spPr>
            <a:xfrm>
              <a:off x="0" y="0"/>
              <a:ext cx="2667000" cy="3524400"/>
            </a:xfrm>
            <a:prstGeom prst="roundRect">
              <a:avLst>
                <a:gd fmla="val 214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5"/>
            <p:cNvSpPr/>
            <p:nvPr/>
          </p:nvSpPr>
          <p:spPr>
            <a:xfrm>
              <a:off x="0" y="0"/>
              <a:ext cx="2667000" cy="285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5"/>
            <p:cNvSpPr txBox="1"/>
            <p:nvPr/>
          </p:nvSpPr>
          <p:spPr>
            <a:xfrm>
              <a:off x="190500" y="238125"/>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400">
                  <a:solidFill>
                    <a:srgbClr val="3B82F6"/>
                  </a:solidFill>
                  <a:latin typeface="Inter"/>
                  <a:ea typeface="Inter"/>
                  <a:cs typeface="Inter"/>
                  <a:sym typeface="Inter"/>
                </a:rPr>
                <a:t>03</a:t>
              </a:r>
              <a:endParaRPr b="1" sz="2400">
                <a:solidFill>
                  <a:srgbClr val="3B82F6"/>
                </a:solidFill>
                <a:latin typeface="Inter"/>
                <a:ea typeface="Inter"/>
                <a:cs typeface="Inter"/>
                <a:sym typeface="Inter"/>
              </a:endParaRPr>
            </a:p>
            <a:p>
              <a:pPr indent="0" lvl="0" marL="0" rtl="0" algn="l">
                <a:spcBef>
                  <a:spcPts val="1200"/>
                </a:spcBef>
                <a:spcAft>
                  <a:spcPts val="0"/>
                </a:spcAft>
                <a:buNone/>
              </a:pPr>
              <a:r>
                <a:rPr b="0" lang="it" sz="800">
                  <a:solidFill>
                    <a:srgbClr val="3B82F6"/>
                  </a:solidFill>
                  <a:latin typeface="Inter SemiBold"/>
                  <a:ea typeface="Inter SemiBold"/>
                  <a:cs typeface="Inter SemiBold"/>
                  <a:sym typeface="Inter SemiBold"/>
                </a:rPr>
                <a:t>TRANSPARENCY</a:t>
              </a:r>
              <a:endParaRPr b="0" sz="80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lang="it" sz="1500">
                  <a:solidFill>
                    <a:srgbClr val="F8F9FA"/>
                  </a:solidFill>
                  <a:latin typeface="Inter SemiBold"/>
                  <a:ea typeface="Inter SemiBold"/>
                  <a:cs typeface="Inter SemiBold"/>
                  <a:sym typeface="Inter SemiBold"/>
                </a:rPr>
                <a:t>Interpretability</a:t>
              </a:r>
              <a:endParaRPr b="0" sz="1500">
                <a:solidFill>
                  <a:srgbClr val="F8F9FA"/>
                </a:solidFill>
                <a:latin typeface="Inter SemiBold"/>
                <a:ea typeface="Inter SemiBold"/>
                <a:cs typeface="Inter SemiBold"/>
                <a:sym typeface="Inter SemiBold"/>
              </a:endParaRPr>
            </a:p>
            <a:p>
              <a:pPr indent="0" lvl="0" marL="0" rtl="0" algn="l">
                <a:spcBef>
                  <a:spcPts val="1200"/>
                </a:spcBef>
                <a:spcAft>
                  <a:spcPts val="0"/>
                </a:spcAft>
                <a:buNone/>
              </a:pPr>
              <a:r>
                <a:rPr b="0" lang="it" sz="950">
                  <a:solidFill>
                    <a:srgbClr val="94A3B8"/>
                  </a:solidFill>
                  <a:latin typeface="Inter Light"/>
                  <a:ea typeface="Inter Light"/>
                  <a:cs typeface="Inter Light"/>
                  <a:sym typeface="Inter Light"/>
                </a:rPr>
                <a:t>Complex architectures lack interpretability, making it difficult to analyze failure modes or trust outputs in critical applications.</a:t>
              </a:r>
              <a:endParaRPr b="0" sz="950">
                <a:solidFill>
                  <a:srgbClr val="94A3B8"/>
                </a:solidFill>
                <a:latin typeface="Inter Light"/>
                <a:ea typeface="Inter Light"/>
                <a:cs typeface="Inter Light"/>
                <a:sym typeface="Inter Light"/>
              </a:endParaRPr>
            </a:p>
          </p:txBody>
        </p:sp>
      </p:grpSp>
      <p:sp>
        <p:nvSpPr>
          <p:cNvPr id="294" name="Google Shape;29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8" name="Shape 298"/>
        <p:cNvGrpSpPr/>
        <p:nvPr/>
      </p:nvGrpSpPr>
      <p:grpSpPr>
        <a:xfrm>
          <a:off x="0" y="0"/>
          <a:ext cx="0" cy="0"/>
          <a:chOff x="0" y="0"/>
          <a:chExt cx="0" cy="0"/>
        </a:xfrm>
      </p:grpSpPr>
      <p:sp>
        <p:nvSpPr>
          <p:cNvPr id="299" name="Google Shape;299;p26"/>
          <p:cNvSpPr txBox="1"/>
          <p:nvPr/>
        </p:nvSpPr>
        <p:spPr>
          <a:xfrm>
            <a:off x="381000" y="238125"/>
            <a:ext cx="89607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it" sz="3100">
                <a:solidFill>
                  <a:srgbClr val="F8F9FA"/>
                </a:solidFill>
                <a:latin typeface="Inter SemiBold"/>
                <a:ea typeface="Inter SemiBold"/>
                <a:cs typeface="Inter SemiBold"/>
                <a:sym typeface="Inter SemiBold"/>
              </a:rPr>
              <a:t>Physics-Informed Neural Networks (PINNs)</a:t>
            </a:r>
            <a:endParaRPr b="0" sz="3100">
              <a:solidFill>
                <a:srgbClr val="F8F9FA"/>
              </a:solidFill>
              <a:latin typeface="Inter SemiBold"/>
              <a:ea typeface="Inter SemiBold"/>
              <a:cs typeface="Inter SemiBold"/>
              <a:sym typeface="Inter SemiBold"/>
            </a:endParaRPr>
          </a:p>
          <a:p>
            <a:pPr indent="0" lvl="0" marL="0" rtl="0" algn="l">
              <a:spcBef>
                <a:spcPts val="300"/>
              </a:spcBef>
              <a:spcAft>
                <a:spcPts val="0"/>
              </a:spcAft>
              <a:buNone/>
            </a:pPr>
            <a:r>
              <a:t/>
            </a:r>
            <a:endParaRPr b="0" sz="650">
              <a:solidFill>
                <a:srgbClr val="94A3B8"/>
              </a:solidFill>
              <a:latin typeface="Inter"/>
              <a:ea typeface="Inter"/>
              <a:cs typeface="Inter"/>
              <a:sym typeface="Inter"/>
            </a:endParaRPr>
          </a:p>
        </p:txBody>
      </p:sp>
      <p:grpSp>
        <p:nvGrpSpPr>
          <p:cNvPr id="300" name="Google Shape;300;p26"/>
          <p:cNvGrpSpPr/>
          <p:nvPr/>
        </p:nvGrpSpPr>
        <p:grpSpPr>
          <a:xfrm>
            <a:off x="381000" y="1943163"/>
            <a:ext cx="3952800" cy="609600"/>
            <a:chOff x="0" y="-171450"/>
            <a:chExt cx="3952800" cy="609600"/>
          </a:xfrm>
        </p:grpSpPr>
        <p:sp>
          <p:nvSpPr>
            <p:cNvPr id="301" name="Google Shape;301;p26"/>
            <p:cNvSpPr/>
            <p:nvPr/>
          </p:nvSpPr>
          <p:spPr>
            <a:xfrm>
              <a:off x="0" y="-171450"/>
              <a:ext cx="3952800" cy="609600"/>
            </a:xfrm>
            <a:prstGeom prst="roundRect">
              <a:avLst>
                <a:gd fmla="val 9376"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6"/>
            <p:cNvSpPr/>
            <p:nvPr/>
          </p:nvSpPr>
          <p:spPr>
            <a:xfrm>
              <a:off x="0" y="-171450"/>
              <a:ext cx="28500" cy="6096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6"/>
            <p:cNvSpPr txBox="1"/>
            <p:nvPr/>
          </p:nvSpPr>
          <p:spPr>
            <a:xfrm>
              <a:off x="152400" y="-114300"/>
              <a:ext cx="36672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1500">
                  <a:solidFill>
                    <a:srgbClr val="F8F9FA"/>
                  </a:solidFill>
                  <a:latin typeface="Inter SemiBold"/>
                  <a:ea typeface="Inter SemiBold"/>
                  <a:cs typeface="Inter SemiBold"/>
                  <a:sym typeface="Inter SemiBold"/>
                </a:rPr>
                <a:t>Loss Regularization</a:t>
              </a:r>
              <a:endParaRPr b="0" i="0" sz="150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rPr b="0" i="0" lang="it" sz="800">
                  <a:solidFill>
                    <a:srgbClr val="94A3B8"/>
                  </a:solidFill>
                  <a:latin typeface="Inter Light"/>
                  <a:ea typeface="Inter Light"/>
                  <a:cs typeface="Inter Light"/>
                  <a:sym typeface="Inter Light"/>
                </a:rPr>
                <a:t>Embeds partial differential equations (PDEs) directly into the neural network's loss function to serve as an exact regularization mechanism.</a:t>
              </a:r>
              <a:endParaRPr b="0" i="0" sz="800">
                <a:solidFill>
                  <a:srgbClr val="F8F9FA"/>
                </a:solidFill>
                <a:latin typeface="Inter SemiBold"/>
                <a:ea typeface="Inter SemiBold"/>
                <a:cs typeface="Inter SemiBold"/>
                <a:sym typeface="Inter SemiBold"/>
              </a:endParaRPr>
            </a:p>
          </p:txBody>
        </p:sp>
      </p:grpSp>
      <p:grpSp>
        <p:nvGrpSpPr>
          <p:cNvPr id="304" name="Google Shape;304;p26"/>
          <p:cNvGrpSpPr/>
          <p:nvPr/>
        </p:nvGrpSpPr>
        <p:grpSpPr>
          <a:xfrm>
            <a:off x="381000" y="2848113"/>
            <a:ext cx="3952800" cy="609600"/>
            <a:chOff x="0" y="-342900"/>
            <a:chExt cx="3952800" cy="609600"/>
          </a:xfrm>
        </p:grpSpPr>
        <p:sp>
          <p:nvSpPr>
            <p:cNvPr id="305" name="Google Shape;305;p26"/>
            <p:cNvSpPr/>
            <p:nvPr/>
          </p:nvSpPr>
          <p:spPr>
            <a:xfrm>
              <a:off x="0" y="-342900"/>
              <a:ext cx="3952800" cy="609600"/>
            </a:xfrm>
            <a:prstGeom prst="roundRect">
              <a:avLst>
                <a:gd fmla="val 9376"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6"/>
            <p:cNvSpPr/>
            <p:nvPr/>
          </p:nvSpPr>
          <p:spPr>
            <a:xfrm>
              <a:off x="0" y="-342900"/>
              <a:ext cx="28500" cy="6096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6"/>
            <p:cNvSpPr txBox="1"/>
            <p:nvPr/>
          </p:nvSpPr>
          <p:spPr>
            <a:xfrm>
              <a:off x="152400" y="-285750"/>
              <a:ext cx="36672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1500">
                  <a:solidFill>
                    <a:srgbClr val="F8F9FA"/>
                  </a:solidFill>
                  <a:latin typeface="Inter SemiBold"/>
                  <a:ea typeface="Inter SemiBold"/>
                  <a:cs typeface="Inter SemiBold"/>
                  <a:sym typeface="Inter SemiBold"/>
                </a:rPr>
                <a:t>Data Efficiency</a:t>
              </a:r>
              <a:endParaRPr b="0" i="0" sz="150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rPr b="0" i="0" lang="it" sz="800">
                  <a:solidFill>
                    <a:srgbClr val="94A3B8"/>
                  </a:solidFill>
                  <a:latin typeface="Inter Light"/>
                  <a:ea typeface="Inter Light"/>
                  <a:cs typeface="Inter Light"/>
                  <a:sym typeface="Inter Light"/>
                </a:rPr>
                <a:t>Drastically reduces the volume of large labeled datasets required for training while enforcing continuous physical consistency.</a:t>
              </a:r>
              <a:endParaRPr b="0" i="0" sz="800">
                <a:solidFill>
                  <a:srgbClr val="F8F9FA"/>
                </a:solidFill>
                <a:latin typeface="Inter SemiBold"/>
                <a:ea typeface="Inter SemiBold"/>
                <a:cs typeface="Inter SemiBold"/>
                <a:sym typeface="Inter SemiBold"/>
              </a:endParaRPr>
            </a:p>
          </p:txBody>
        </p:sp>
      </p:grpSp>
      <p:grpSp>
        <p:nvGrpSpPr>
          <p:cNvPr id="308" name="Google Shape;308;p26"/>
          <p:cNvGrpSpPr/>
          <p:nvPr/>
        </p:nvGrpSpPr>
        <p:grpSpPr>
          <a:xfrm>
            <a:off x="381000" y="1038225"/>
            <a:ext cx="3952800" cy="609600"/>
            <a:chOff x="0" y="-514350"/>
            <a:chExt cx="3952800" cy="609600"/>
          </a:xfrm>
        </p:grpSpPr>
        <p:sp>
          <p:nvSpPr>
            <p:cNvPr id="309" name="Google Shape;309;p26"/>
            <p:cNvSpPr/>
            <p:nvPr/>
          </p:nvSpPr>
          <p:spPr>
            <a:xfrm>
              <a:off x="0" y="-514350"/>
              <a:ext cx="3952800" cy="609600"/>
            </a:xfrm>
            <a:prstGeom prst="roundRect">
              <a:avLst>
                <a:gd fmla="val 9376"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6"/>
            <p:cNvSpPr/>
            <p:nvPr/>
          </p:nvSpPr>
          <p:spPr>
            <a:xfrm>
              <a:off x="0" y="-514350"/>
              <a:ext cx="28500" cy="6096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6"/>
            <p:cNvSpPr txBox="1"/>
            <p:nvPr/>
          </p:nvSpPr>
          <p:spPr>
            <a:xfrm>
              <a:off x="152400" y="-457200"/>
              <a:ext cx="36672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1500">
                  <a:solidFill>
                    <a:srgbClr val="F8F9FA"/>
                  </a:solidFill>
                  <a:latin typeface="Inter SemiBold"/>
                  <a:ea typeface="Inter SemiBold"/>
                  <a:cs typeface="Inter SemiBold"/>
                  <a:sym typeface="Inter SemiBold"/>
                </a:rPr>
                <a:t>Hybrid Paradigm</a:t>
              </a:r>
              <a:endParaRPr b="0" i="0" sz="150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rPr b="0" i="0" lang="it" sz="800">
                  <a:solidFill>
                    <a:srgbClr val="94A3B8"/>
                  </a:solidFill>
                  <a:latin typeface="Inter Light"/>
                  <a:ea typeface="Inter Light"/>
                  <a:cs typeface="Inter Light"/>
                  <a:sym typeface="Inter Light"/>
                </a:rPr>
                <a:t>Bridges the structural gap between classical numerical PDE solvers and flexible modern deep learning architectures.</a:t>
              </a:r>
              <a:endParaRPr b="0" i="0" sz="800">
                <a:solidFill>
                  <a:srgbClr val="F8F9FA"/>
                </a:solidFill>
                <a:latin typeface="Inter SemiBold"/>
                <a:ea typeface="Inter SemiBold"/>
                <a:cs typeface="Inter SemiBold"/>
                <a:sym typeface="Inter SemiBold"/>
              </a:endParaRPr>
            </a:p>
          </p:txBody>
        </p:sp>
      </p:grpSp>
      <p:sp>
        <p:nvSpPr>
          <p:cNvPr id="312" name="Google Shape;312;p26"/>
          <p:cNvSpPr/>
          <p:nvPr/>
        </p:nvSpPr>
        <p:spPr>
          <a:xfrm>
            <a:off x="4718868" y="1000050"/>
            <a:ext cx="4044144" cy="3362630"/>
          </a:xfrm>
          <a:prstGeom prst="roundRect">
            <a:avLst>
              <a:gd fmla="val 1621" name="adj"/>
            </a:avLst>
          </a:prstGeom>
          <a:solidFill>
            <a:srgbClr val="161A20"/>
          </a:solidFill>
          <a:ln cap="flat" cmpd="sng" w="9100">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3" name="Google Shape;313;p26"/>
          <p:cNvGrpSpPr/>
          <p:nvPr/>
        </p:nvGrpSpPr>
        <p:grpSpPr>
          <a:xfrm>
            <a:off x="381000" y="3753075"/>
            <a:ext cx="3952800" cy="609600"/>
            <a:chOff x="0" y="0"/>
            <a:chExt cx="3952800" cy="609600"/>
          </a:xfrm>
        </p:grpSpPr>
        <p:sp>
          <p:nvSpPr>
            <p:cNvPr id="314" name="Google Shape;314;p26"/>
            <p:cNvSpPr/>
            <p:nvPr/>
          </p:nvSpPr>
          <p:spPr>
            <a:xfrm>
              <a:off x="0" y="0"/>
              <a:ext cx="3952800" cy="609600"/>
            </a:xfrm>
            <a:prstGeom prst="roundRect">
              <a:avLst>
                <a:gd fmla="val 9376"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6"/>
            <p:cNvSpPr/>
            <p:nvPr/>
          </p:nvSpPr>
          <p:spPr>
            <a:xfrm>
              <a:off x="0" y="0"/>
              <a:ext cx="28500" cy="6096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6"/>
            <p:cNvSpPr txBox="1"/>
            <p:nvPr/>
          </p:nvSpPr>
          <p:spPr>
            <a:xfrm>
              <a:off x="152400" y="57150"/>
              <a:ext cx="3667200" cy="495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1500">
                  <a:solidFill>
                    <a:srgbClr val="F8F9FA"/>
                  </a:solidFill>
                  <a:latin typeface="Inter SemiBold"/>
                  <a:ea typeface="Inter SemiBold"/>
                  <a:cs typeface="Inter SemiBold"/>
                  <a:sym typeface="Inter SemiBold"/>
                </a:rPr>
                <a:t>Model Explainability</a:t>
              </a:r>
              <a:endParaRPr b="0" i="0" sz="150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rPr b="0" i="0" lang="it" sz="800">
                  <a:solidFill>
                    <a:srgbClr val="94A3B8"/>
                  </a:solidFill>
                  <a:latin typeface="Inter Light"/>
                  <a:ea typeface="Inter Light"/>
                  <a:cs typeface="Inter Light"/>
                  <a:sym typeface="Inter Light"/>
                </a:rPr>
                <a:t>Provides physical interpretability and transparency by grounding neural representations in governing physical laws.</a:t>
              </a:r>
              <a:endParaRPr b="0" i="0" sz="800">
                <a:solidFill>
                  <a:srgbClr val="F8F9FA"/>
                </a:solidFill>
                <a:latin typeface="Inter SemiBold"/>
                <a:ea typeface="Inter SemiBold"/>
                <a:cs typeface="Inter SemiBold"/>
                <a:sym typeface="Inter SemiBold"/>
              </a:endParaRPr>
            </a:p>
          </p:txBody>
        </p:sp>
      </p:grpSp>
      <p:grpSp>
        <p:nvGrpSpPr>
          <p:cNvPr id="317" name="Google Shape;317;p26"/>
          <p:cNvGrpSpPr/>
          <p:nvPr/>
        </p:nvGrpSpPr>
        <p:grpSpPr>
          <a:xfrm>
            <a:off x="381000" y="4603025"/>
            <a:ext cx="8382000" cy="350100"/>
            <a:chOff x="0" y="-111850"/>
            <a:chExt cx="8382000" cy="350100"/>
          </a:xfrm>
        </p:grpSpPr>
        <p:sp>
          <p:nvSpPr>
            <p:cNvPr id="318" name="Google Shape;318;p26"/>
            <p:cNvSpPr/>
            <p:nvPr/>
          </p:nvSpPr>
          <p:spPr>
            <a:xfrm>
              <a:off x="0" y="0"/>
              <a:ext cx="8382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6"/>
            <p:cNvSpPr txBox="1"/>
            <p:nvPr/>
          </p:nvSpPr>
          <p:spPr>
            <a:xfrm>
              <a:off x="0" y="-111850"/>
              <a:ext cx="8382000" cy="35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3B82F6"/>
                  </a:solidFill>
                  <a:latin typeface="Inter SemiBold"/>
                  <a:ea typeface="Inter SemiBold"/>
                  <a:cs typeface="Inter SemiBold"/>
                  <a:sym typeface="Inter SemiBold"/>
                </a:rPr>
                <a:t>Reference:</a:t>
              </a:r>
              <a:r>
                <a:rPr b="0" lang="it" sz="800">
                  <a:solidFill>
                    <a:srgbClr val="64748B"/>
                  </a:solidFill>
                  <a:latin typeface="Inter"/>
                  <a:ea typeface="Inter"/>
                  <a:cs typeface="Inter"/>
                  <a:sym typeface="Inter"/>
                </a:rPr>
                <a:t> Raissi et al. (2019) — </a:t>
              </a:r>
              <a:r>
                <a:rPr lang="it" sz="800">
                  <a:solidFill>
                    <a:srgbClr val="94A3B8"/>
                  </a:solidFill>
                  <a:latin typeface="Inter"/>
                  <a:ea typeface="Inter"/>
                  <a:cs typeface="Inter"/>
                  <a:sym typeface="Inter"/>
                </a:rPr>
                <a:t>Physics-informed neural networks: A deep learning framework for solving forward and inverse problems involving nonlinear partial differential equations</a:t>
              </a:r>
              <a:endParaRPr b="0" sz="800">
                <a:solidFill>
                  <a:srgbClr val="64748B"/>
                </a:solidFill>
                <a:latin typeface="Inter"/>
                <a:ea typeface="Inter"/>
                <a:cs typeface="Inter"/>
                <a:sym typeface="Inter"/>
              </a:endParaRPr>
            </a:p>
          </p:txBody>
        </p:sp>
      </p:grpSp>
      <p:cxnSp>
        <p:nvCxnSpPr>
          <p:cNvPr id="320" name="Google Shape;320;p26"/>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cxnSp>
        <p:nvCxnSpPr>
          <p:cNvPr id="321" name="Google Shape;321;p26"/>
          <p:cNvCxnSpPr/>
          <p:nvPr/>
        </p:nvCxnSpPr>
        <p:spPr>
          <a:xfrm>
            <a:off x="249700" y="45531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322" name="Google Shape;322;p2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23" name="Google Shape;323;p26"/>
          <p:cNvPicPr preferRelativeResize="0"/>
          <p:nvPr/>
        </p:nvPicPr>
        <p:blipFill rotWithShape="1">
          <a:blip r:embed="rId4">
            <a:alphaModFix/>
          </a:blip>
          <a:srcRect b="0" l="0" r="29972" t="0"/>
          <a:stretch/>
        </p:blipFill>
        <p:spPr>
          <a:xfrm>
            <a:off x="4868025" y="1267363"/>
            <a:ext cx="3688750" cy="2875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7" name="Shape 327"/>
        <p:cNvGrpSpPr/>
        <p:nvPr/>
      </p:nvGrpSpPr>
      <p:grpSpPr>
        <a:xfrm>
          <a:off x="0" y="0"/>
          <a:ext cx="0" cy="0"/>
          <a:chOff x="0" y="0"/>
          <a:chExt cx="0" cy="0"/>
        </a:xfrm>
      </p:grpSpPr>
      <p:sp>
        <p:nvSpPr>
          <p:cNvPr id="328" name="Google Shape;328;p27"/>
          <p:cNvSpPr txBox="1"/>
          <p:nvPr/>
        </p:nvSpPr>
        <p:spPr>
          <a:xfrm>
            <a:off x="381000" y="370350"/>
            <a:ext cx="8382000" cy="44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3300">
                <a:solidFill>
                  <a:srgbClr val="F8F9FA"/>
                </a:solidFill>
                <a:latin typeface="Inter"/>
                <a:ea typeface="Inter"/>
                <a:cs typeface="Inter"/>
                <a:sym typeface="Inter"/>
              </a:rPr>
              <a:t>PINN Framework – Physical Information</a:t>
            </a:r>
            <a:endParaRPr b="1" sz="3300">
              <a:solidFill>
                <a:srgbClr val="F8F9FA"/>
              </a:solidFill>
              <a:latin typeface="Inter"/>
              <a:ea typeface="Inter"/>
              <a:cs typeface="Inter"/>
              <a:sym typeface="Inter"/>
            </a:endParaRPr>
          </a:p>
          <a:p>
            <a:pPr indent="0" lvl="0" marL="0" rtl="0" algn="l">
              <a:spcBef>
                <a:spcPts val="300"/>
              </a:spcBef>
              <a:spcAft>
                <a:spcPts val="0"/>
              </a:spcAft>
              <a:buNone/>
            </a:pPr>
            <a:r>
              <a:t/>
            </a:r>
            <a:endParaRPr b="0" sz="1100">
              <a:solidFill>
                <a:srgbClr val="94A3B8"/>
              </a:solidFill>
              <a:latin typeface="Inter"/>
              <a:ea typeface="Inter"/>
              <a:cs typeface="Inter"/>
              <a:sym typeface="Inter"/>
            </a:endParaRPr>
          </a:p>
        </p:txBody>
      </p:sp>
      <p:cxnSp>
        <p:nvCxnSpPr>
          <p:cNvPr id="329" name="Google Shape;329;p27"/>
          <p:cNvCxnSpPr/>
          <p:nvPr/>
        </p:nvCxnSpPr>
        <p:spPr>
          <a:xfrm>
            <a:off x="381000" y="9334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330" name="Google Shape;330;p27"/>
          <p:cNvGrpSpPr/>
          <p:nvPr/>
        </p:nvGrpSpPr>
        <p:grpSpPr>
          <a:xfrm>
            <a:off x="381000" y="1240600"/>
            <a:ext cx="8382000" cy="3190800"/>
            <a:chOff x="381000" y="1095375"/>
            <a:chExt cx="8382000" cy="3190800"/>
          </a:xfrm>
        </p:grpSpPr>
        <p:sp>
          <p:nvSpPr>
            <p:cNvPr id="331" name="Google Shape;331;p27"/>
            <p:cNvSpPr/>
            <p:nvPr/>
          </p:nvSpPr>
          <p:spPr>
            <a:xfrm>
              <a:off x="1714500" y="1095375"/>
              <a:ext cx="5715000" cy="809700"/>
            </a:xfrm>
            <a:prstGeom prst="roundRect">
              <a:avLst>
                <a:gd fmla="val 9411" name="adj"/>
              </a:avLst>
            </a:prstGeom>
            <a:solidFill>
              <a:srgbClr val="12161F"/>
            </a:solidFill>
            <a:ln cap="flat" cmpd="sng" w="143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solidFill>
                  <a:srgbClr val="EF4444"/>
                </a:solidFill>
              </a:endParaRPr>
            </a:p>
          </p:txBody>
        </p:sp>
        <p:grpSp>
          <p:nvGrpSpPr>
            <p:cNvPr id="332" name="Google Shape;332;p27"/>
            <p:cNvGrpSpPr/>
            <p:nvPr/>
          </p:nvGrpSpPr>
          <p:grpSpPr>
            <a:xfrm>
              <a:off x="381000" y="2047875"/>
              <a:ext cx="4000500" cy="2238300"/>
              <a:chOff x="0" y="0"/>
              <a:chExt cx="4000500" cy="2238300"/>
            </a:xfrm>
          </p:grpSpPr>
          <p:sp>
            <p:nvSpPr>
              <p:cNvPr id="333" name="Google Shape;333;p27"/>
              <p:cNvSpPr/>
              <p:nvPr/>
            </p:nvSpPr>
            <p:spPr>
              <a:xfrm>
                <a:off x="0" y="0"/>
                <a:ext cx="4000500" cy="2238300"/>
              </a:xfrm>
              <a:prstGeom prst="roundRect">
                <a:avLst>
                  <a:gd fmla="val 3404" name="adj"/>
                </a:avLst>
              </a:prstGeom>
              <a:solidFill>
                <a:srgbClr val="12161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7"/>
              <p:cNvSpPr/>
              <p:nvPr/>
            </p:nvSpPr>
            <p:spPr>
              <a:xfrm>
                <a:off x="0" y="0"/>
                <a:ext cx="4000500" cy="114300"/>
              </a:xfrm>
              <a:custGeom>
                <a:rect b="b" l="l" r="r" t="t"/>
                <a:pathLst>
                  <a:path extrusionOk="0" h="120000" w="120000">
                    <a:moveTo>
                      <a:pt x="0" y="80000"/>
                    </a:moveTo>
                    <a:cubicBezTo>
                      <a:pt x="0" y="35800"/>
                      <a:pt x="1023" y="0"/>
                      <a:pt x="2286" y="0"/>
                    </a:cubicBezTo>
                    <a:lnTo>
                      <a:pt x="117714" y="0"/>
                    </a:lnTo>
                    <a:cubicBezTo>
                      <a:pt x="118977" y="0"/>
                      <a:pt x="120000" y="35800"/>
                      <a:pt x="120000" y="80000"/>
                    </a:cubicBezTo>
                    <a:lnTo>
                      <a:pt x="120000" y="120000"/>
                    </a:lnTo>
                    <a:lnTo>
                      <a:pt x="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7"/>
              <p:cNvSpPr txBox="1"/>
              <p:nvPr/>
            </p:nvSpPr>
            <p:spPr>
              <a:xfrm>
                <a:off x="190500" y="209550"/>
                <a:ext cx="36195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3B82F6"/>
                    </a:solidFill>
                    <a:latin typeface="Inter"/>
                    <a:ea typeface="Inter"/>
                    <a:cs typeface="Inter"/>
                    <a:sym typeface="Inter"/>
                  </a:rPr>
                  <a:t>DATA-DRIVEN COMPONENT</a:t>
                </a:r>
                <a:endParaRPr b="1" sz="800">
                  <a:solidFill>
                    <a:srgbClr val="3B82F6"/>
                  </a:solidFill>
                  <a:latin typeface="Inter"/>
                  <a:ea typeface="Inter"/>
                  <a:cs typeface="Inter"/>
                  <a:sym typeface="Inter"/>
                </a:endParaRPr>
              </a:p>
              <a:p>
                <a:pPr indent="0" lvl="0" marL="0" rtl="0" algn="l">
                  <a:spcBef>
                    <a:spcPts val="300"/>
                  </a:spcBef>
                  <a:spcAft>
                    <a:spcPts val="0"/>
                  </a:spcAft>
                  <a:buNone/>
                </a:pPr>
                <a:r>
                  <a:rPr b="1" lang="it" sz="1500">
                    <a:solidFill>
                      <a:srgbClr val="F8F9FA"/>
                    </a:solidFill>
                    <a:latin typeface="Inter"/>
                    <a:ea typeface="Inter"/>
                    <a:cs typeface="Inter"/>
                    <a:sym typeface="Inter"/>
                  </a:rPr>
                  <a:t>Loss of D</a:t>
                </a:r>
                <a:r>
                  <a:rPr b="1" lang="it" sz="1500">
                    <a:solidFill>
                      <a:srgbClr val="F8F9FA"/>
                    </a:solidFill>
                    <a:latin typeface="Inter"/>
                    <a:ea typeface="Inter"/>
                    <a:cs typeface="Inter"/>
                    <a:sym typeface="Inter"/>
                  </a:rPr>
                  <a:t>ata Mismatch</a:t>
                </a:r>
                <a:endParaRPr b="1" sz="1500">
                  <a:solidFill>
                    <a:srgbClr val="F8F9FA"/>
                  </a:solidFill>
                  <a:latin typeface="Inter"/>
                  <a:ea typeface="Inter"/>
                  <a:cs typeface="Inter"/>
                  <a:sym typeface="Inter"/>
                </a:endParaRPr>
              </a:p>
              <a:p>
                <a:pPr indent="0" lvl="0" marL="0" rtl="0" algn="l">
                  <a:spcBef>
                    <a:spcPts val="450"/>
                  </a:spcBef>
                  <a:spcAft>
                    <a:spcPts val="0"/>
                  </a:spcAft>
                  <a:buNone/>
                </a:pPr>
                <a:r>
                  <a:rPr b="0" lang="it" sz="900">
                    <a:solidFill>
                      <a:srgbClr val="94A3B8"/>
                    </a:solidFill>
                    <a:latin typeface="Inter"/>
                    <a:ea typeface="Inter"/>
                    <a:cs typeface="Inter"/>
                    <a:sym typeface="Inter"/>
                  </a:rPr>
                  <a:t>Penalizes difference against sparse experimental observations.</a:t>
                </a:r>
                <a:endParaRPr b="0" sz="900">
                  <a:solidFill>
                    <a:srgbClr val="94A3B8"/>
                  </a:solidFill>
                  <a:latin typeface="Inter"/>
                  <a:ea typeface="Inter"/>
                  <a:cs typeface="Inter"/>
                  <a:sym typeface="Inter"/>
                </a:endParaRPr>
              </a:p>
              <a:p>
                <a:pPr indent="-282575" lvl="0" marL="457200" rtl="0" algn="l">
                  <a:spcBef>
                    <a:spcPts val="750"/>
                  </a:spcBef>
                  <a:spcAft>
                    <a:spcPts val="0"/>
                  </a:spcAft>
                  <a:buClr>
                    <a:srgbClr val="CBD5E1"/>
                  </a:buClr>
                  <a:buSzPts val="850"/>
                  <a:buFont typeface="Inter"/>
                  <a:buChar char="●"/>
                </a:pPr>
                <a:r>
                  <a:rPr b="0" lang="it" sz="850">
                    <a:solidFill>
                      <a:srgbClr val="F8F9FA"/>
                    </a:solidFill>
                    <a:latin typeface="Inter SemiBold"/>
                    <a:ea typeface="Inter SemiBold"/>
                    <a:cs typeface="Inter SemiBold"/>
                    <a:sym typeface="Inter SemiBold"/>
                  </a:rPr>
                  <a:t>Supervised Learning:</a:t>
                </a:r>
                <a:r>
                  <a:rPr lang="it" sz="850">
                    <a:solidFill>
                      <a:srgbClr val="CBD5E1"/>
                    </a:solidFill>
                    <a:latin typeface="Inter"/>
                    <a:ea typeface="Inter"/>
                    <a:cs typeface="Inter"/>
                    <a:sym typeface="Inter"/>
                  </a:rPr>
                  <a:t> Evaluates Mean Squared Error (MSE) at discrete measurement points.</a:t>
                </a:r>
                <a:endParaRPr sz="850">
                  <a:solidFill>
                    <a:srgbClr val="CBD5E1"/>
                  </a:solidFill>
                  <a:latin typeface="Inter"/>
                  <a:ea typeface="Inter"/>
                  <a:cs typeface="Inter"/>
                  <a:sym typeface="Inter"/>
                </a:endParaRPr>
              </a:p>
              <a:p>
                <a:pPr indent="-282575" lvl="0" marL="457200" rtl="0" algn="l">
                  <a:spcBef>
                    <a:spcPts val="450"/>
                  </a:spcBef>
                  <a:spcAft>
                    <a:spcPts val="0"/>
                  </a:spcAft>
                  <a:buClr>
                    <a:srgbClr val="CBD5E1"/>
                  </a:buClr>
                  <a:buSzPts val="850"/>
                  <a:buFont typeface="Inter"/>
                  <a:buChar char="●"/>
                </a:pPr>
                <a:r>
                  <a:rPr b="0" lang="it" sz="850">
                    <a:solidFill>
                      <a:srgbClr val="F8F9FA"/>
                    </a:solidFill>
                    <a:latin typeface="Inter SemiBold"/>
                    <a:ea typeface="Inter SemiBold"/>
                    <a:cs typeface="Inter SemiBold"/>
                    <a:sym typeface="Inter SemiBold"/>
                  </a:rPr>
                  <a:t>Empirical Grounding:</a:t>
                </a:r>
                <a:r>
                  <a:rPr lang="it" sz="850">
                    <a:solidFill>
                      <a:srgbClr val="CBD5E1"/>
                    </a:solidFill>
                    <a:latin typeface="Inter"/>
                    <a:ea typeface="Inter"/>
                    <a:cs typeface="Inter"/>
                    <a:sym typeface="Inter"/>
                  </a:rPr>
                  <a:t> Ensures model predictions conform strictly to observed sensor data &amp; initial/boundary conditions.</a:t>
                </a:r>
                <a:endParaRPr sz="850">
                  <a:solidFill>
                    <a:srgbClr val="CBD5E1"/>
                  </a:solidFill>
                  <a:latin typeface="Inter"/>
                  <a:ea typeface="Inter"/>
                  <a:cs typeface="Inter"/>
                  <a:sym typeface="Inter"/>
                </a:endParaRPr>
              </a:p>
              <a:p>
                <a:pPr indent="0" lvl="0" marL="0" rtl="0" algn="l">
                  <a:spcBef>
                    <a:spcPts val="450"/>
                  </a:spcBef>
                  <a:spcAft>
                    <a:spcPts val="0"/>
                  </a:spcAft>
                  <a:buNone/>
                </a:pPr>
                <a:r>
                  <a:t/>
                </a:r>
                <a:endParaRPr sz="850">
                  <a:solidFill>
                    <a:srgbClr val="CBD5E1"/>
                  </a:solidFill>
                  <a:latin typeface="Inter"/>
                  <a:ea typeface="Inter"/>
                  <a:cs typeface="Inter"/>
                  <a:sym typeface="Inter"/>
                </a:endParaRPr>
              </a:p>
            </p:txBody>
          </p:sp>
        </p:grpSp>
        <p:grpSp>
          <p:nvGrpSpPr>
            <p:cNvPr id="336" name="Google Shape;336;p27"/>
            <p:cNvGrpSpPr/>
            <p:nvPr/>
          </p:nvGrpSpPr>
          <p:grpSpPr>
            <a:xfrm>
              <a:off x="4762500" y="2047875"/>
              <a:ext cx="4000500" cy="2238300"/>
              <a:chOff x="0" y="0"/>
              <a:chExt cx="4000500" cy="2238300"/>
            </a:xfrm>
          </p:grpSpPr>
          <p:sp>
            <p:nvSpPr>
              <p:cNvPr id="337" name="Google Shape;337;p27"/>
              <p:cNvSpPr/>
              <p:nvPr/>
            </p:nvSpPr>
            <p:spPr>
              <a:xfrm>
                <a:off x="0" y="0"/>
                <a:ext cx="4000500" cy="2238300"/>
              </a:xfrm>
              <a:prstGeom prst="roundRect">
                <a:avLst>
                  <a:gd fmla="val 3404" name="adj"/>
                </a:avLst>
              </a:prstGeom>
              <a:solidFill>
                <a:srgbClr val="12161F"/>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7"/>
              <p:cNvSpPr/>
              <p:nvPr/>
            </p:nvSpPr>
            <p:spPr>
              <a:xfrm>
                <a:off x="0" y="0"/>
                <a:ext cx="4000500" cy="114300"/>
              </a:xfrm>
              <a:custGeom>
                <a:rect b="b" l="l" r="r" t="t"/>
                <a:pathLst>
                  <a:path extrusionOk="0" h="120000" w="120000">
                    <a:moveTo>
                      <a:pt x="0" y="80000"/>
                    </a:moveTo>
                    <a:cubicBezTo>
                      <a:pt x="0" y="35800"/>
                      <a:pt x="1023" y="0"/>
                      <a:pt x="2286" y="0"/>
                    </a:cubicBezTo>
                    <a:lnTo>
                      <a:pt x="117714" y="0"/>
                    </a:lnTo>
                    <a:cubicBezTo>
                      <a:pt x="118977" y="0"/>
                      <a:pt x="120000" y="35800"/>
                      <a:pt x="120000" y="80000"/>
                    </a:cubicBezTo>
                    <a:lnTo>
                      <a:pt x="120000" y="120000"/>
                    </a:lnTo>
                    <a:lnTo>
                      <a:pt x="0" y="120000"/>
                    </a:ln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7"/>
              <p:cNvSpPr txBox="1"/>
              <p:nvPr/>
            </p:nvSpPr>
            <p:spPr>
              <a:xfrm>
                <a:off x="190500" y="209550"/>
                <a:ext cx="36195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10B981"/>
                    </a:solidFill>
                    <a:latin typeface="Inter"/>
                    <a:ea typeface="Inter"/>
                    <a:cs typeface="Inter"/>
                    <a:sym typeface="Inter"/>
                  </a:rPr>
                  <a:t>PHYSICS-INFORMED COMPONENT</a:t>
                </a:r>
                <a:endParaRPr b="1" sz="800">
                  <a:solidFill>
                    <a:srgbClr val="10B981"/>
                  </a:solidFill>
                  <a:latin typeface="Inter"/>
                  <a:ea typeface="Inter"/>
                  <a:cs typeface="Inter"/>
                  <a:sym typeface="Inter"/>
                </a:endParaRPr>
              </a:p>
              <a:p>
                <a:pPr indent="0" lvl="0" marL="0" rtl="0" algn="l">
                  <a:spcBef>
                    <a:spcPts val="300"/>
                  </a:spcBef>
                  <a:spcAft>
                    <a:spcPts val="0"/>
                  </a:spcAft>
                  <a:buNone/>
                </a:pPr>
                <a:r>
                  <a:rPr b="1" lang="it" sz="1500">
                    <a:solidFill>
                      <a:srgbClr val="F8F9FA"/>
                    </a:solidFill>
                    <a:latin typeface="Inter"/>
                    <a:ea typeface="Inter"/>
                    <a:cs typeface="Inter"/>
                    <a:sym typeface="Inter"/>
                  </a:rPr>
                  <a:t>Loss of P</a:t>
                </a:r>
                <a:r>
                  <a:rPr b="1" lang="it" sz="1500">
                    <a:solidFill>
                      <a:srgbClr val="F8F9FA"/>
                    </a:solidFill>
                    <a:latin typeface="Inter"/>
                    <a:ea typeface="Inter"/>
                    <a:cs typeface="Inter"/>
                    <a:sym typeface="Inter"/>
                  </a:rPr>
                  <a:t>hysics Residuals</a:t>
                </a:r>
                <a:endParaRPr b="1" sz="1500">
                  <a:solidFill>
                    <a:srgbClr val="F8F9FA"/>
                  </a:solidFill>
                  <a:latin typeface="Inter"/>
                  <a:ea typeface="Inter"/>
                  <a:cs typeface="Inter"/>
                  <a:sym typeface="Inter"/>
                </a:endParaRPr>
              </a:p>
              <a:p>
                <a:pPr indent="0" lvl="0" marL="0" rtl="0" algn="l">
                  <a:spcBef>
                    <a:spcPts val="450"/>
                  </a:spcBef>
                  <a:spcAft>
                    <a:spcPts val="0"/>
                  </a:spcAft>
                  <a:buNone/>
                </a:pPr>
                <a:r>
                  <a:rPr b="0" lang="it" sz="900">
                    <a:solidFill>
                      <a:srgbClr val="94A3B8"/>
                    </a:solidFill>
                    <a:latin typeface="Inter"/>
                    <a:ea typeface="Inter"/>
                    <a:cs typeface="Inter"/>
                    <a:sym typeface="Inter"/>
                  </a:rPr>
                  <a:t>Enforces governing PDE laws at unlabelled collocation points.</a:t>
                </a:r>
                <a:endParaRPr b="0" sz="900">
                  <a:solidFill>
                    <a:srgbClr val="94A3B8"/>
                  </a:solidFill>
                  <a:latin typeface="Inter"/>
                  <a:ea typeface="Inter"/>
                  <a:cs typeface="Inter"/>
                  <a:sym typeface="Inter"/>
                </a:endParaRPr>
              </a:p>
              <a:p>
                <a:pPr indent="-282575" lvl="0" marL="457200" rtl="0" algn="l">
                  <a:spcBef>
                    <a:spcPts val="750"/>
                  </a:spcBef>
                  <a:spcAft>
                    <a:spcPts val="0"/>
                  </a:spcAft>
                  <a:buClr>
                    <a:srgbClr val="CBD5E1"/>
                  </a:buClr>
                  <a:buSzPts val="850"/>
                  <a:buFont typeface="Inter"/>
                  <a:buChar char="●"/>
                </a:pPr>
                <a:r>
                  <a:rPr b="0" lang="it" sz="850">
                    <a:solidFill>
                      <a:srgbClr val="F8F9FA"/>
                    </a:solidFill>
                    <a:latin typeface="Inter SemiBold"/>
                    <a:ea typeface="Inter SemiBold"/>
                    <a:cs typeface="Inter SemiBold"/>
                    <a:sym typeface="Inter SemiBold"/>
                  </a:rPr>
                  <a:t>Exact Differentiation:</a:t>
                </a:r>
                <a:r>
                  <a:rPr lang="it" sz="850">
                    <a:solidFill>
                      <a:srgbClr val="CBD5E1"/>
                    </a:solidFill>
                    <a:latin typeface="Inter"/>
                    <a:ea typeface="Inter"/>
                    <a:cs typeface="Inter"/>
                    <a:sym typeface="Inter"/>
                  </a:rPr>
                  <a:t> Computed across domain collocation points via Automatic Differentiation (AD).</a:t>
                </a:r>
                <a:endParaRPr sz="850">
                  <a:solidFill>
                    <a:srgbClr val="CBD5E1"/>
                  </a:solidFill>
                  <a:latin typeface="Inter"/>
                  <a:ea typeface="Inter"/>
                  <a:cs typeface="Inter"/>
                  <a:sym typeface="Inter"/>
                </a:endParaRPr>
              </a:p>
              <a:p>
                <a:pPr indent="-282575" lvl="0" marL="457200" rtl="0" algn="l">
                  <a:spcBef>
                    <a:spcPts val="450"/>
                  </a:spcBef>
                  <a:spcAft>
                    <a:spcPts val="0"/>
                  </a:spcAft>
                  <a:buClr>
                    <a:srgbClr val="CBD5E1"/>
                  </a:buClr>
                  <a:buSzPts val="850"/>
                  <a:buFont typeface="Inter"/>
                  <a:buChar char="●"/>
                </a:pPr>
                <a:r>
                  <a:rPr b="0" lang="it" sz="850">
                    <a:solidFill>
                      <a:srgbClr val="F8F9FA"/>
                    </a:solidFill>
                    <a:latin typeface="Inter SemiBold"/>
                    <a:ea typeface="Inter SemiBold"/>
                    <a:cs typeface="Inter SemiBold"/>
                    <a:sym typeface="Inter SemiBold"/>
                  </a:rPr>
                  <a:t>PDE Regularization:</a:t>
                </a:r>
                <a:r>
                  <a:rPr lang="it" sz="850">
                    <a:solidFill>
                      <a:srgbClr val="CBD5E1"/>
                    </a:solidFill>
                    <a:latin typeface="Inter"/>
                    <a:ea typeface="Inter"/>
                    <a:cs typeface="Inter"/>
                    <a:sym typeface="Inter"/>
                  </a:rPr>
                  <a:t> Penalizes violations of differential conservation laws (e.g. Navier-Stokes).</a:t>
                </a:r>
                <a:endParaRPr sz="850">
                  <a:solidFill>
                    <a:srgbClr val="CBD5E1"/>
                  </a:solidFill>
                  <a:latin typeface="Inter"/>
                  <a:ea typeface="Inter"/>
                  <a:cs typeface="Inter"/>
                  <a:sym typeface="Inter"/>
                </a:endParaRPr>
              </a:p>
              <a:p>
                <a:pPr indent="-282575" lvl="0" marL="457200" rtl="0" algn="l">
                  <a:spcBef>
                    <a:spcPts val="450"/>
                  </a:spcBef>
                  <a:spcAft>
                    <a:spcPts val="0"/>
                  </a:spcAft>
                  <a:buClr>
                    <a:srgbClr val="CBD5E1"/>
                  </a:buClr>
                  <a:buSzPts val="850"/>
                  <a:buFont typeface="Inter"/>
                  <a:buChar char="●"/>
                </a:pPr>
                <a:r>
                  <a:rPr lang="it" sz="850">
                    <a:solidFill>
                      <a:srgbClr val="F8F9FA"/>
                    </a:solidFill>
                    <a:latin typeface="Inter SemiBold"/>
                    <a:ea typeface="Inter SemiBold"/>
                    <a:cs typeface="Inter SemiBold"/>
                    <a:sym typeface="Inter SemiBold"/>
                  </a:rPr>
                  <a:t>Inverse problem</a:t>
                </a:r>
                <a:r>
                  <a:rPr b="0" lang="it" sz="850">
                    <a:solidFill>
                      <a:srgbClr val="F8F9FA"/>
                    </a:solidFill>
                    <a:latin typeface="Inter SemiBold"/>
                    <a:ea typeface="Inter SemiBold"/>
                    <a:cs typeface="Inter SemiBold"/>
                    <a:sym typeface="Inter SemiBold"/>
                  </a:rPr>
                  <a:t>:</a:t>
                </a:r>
                <a:r>
                  <a:rPr lang="it" sz="850">
                    <a:solidFill>
                      <a:srgbClr val="CBD5E1"/>
                    </a:solidFill>
                    <a:latin typeface="Inter"/>
                    <a:ea typeface="Inter"/>
                    <a:cs typeface="Inter"/>
                    <a:sym typeface="Inter"/>
                  </a:rPr>
                  <a:t> Infer the physical parameters that best suit </a:t>
                </a:r>
                <a:r>
                  <a:rPr lang="it" sz="850">
                    <a:solidFill>
                      <a:srgbClr val="CBD5E1"/>
                    </a:solidFill>
                    <a:latin typeface="Inter"/>
                    <a:ea typeface="Inter"/>
                    <a:cs typeface="Inter"/>
                    <a:sym typeface="Inter"/>
                  </a:rPr>
                  <a:t>experimental</a:t>
                </a:r>
                <a:r>
                  <a:rPr lang="it" sz="850">
                    <a:solidFill>
                      <a:srgbClr val="CBD5E1"/>
                    </a:solidFill>
                    <a:latin typeface="Inter"/>
                    <a:ea typeface="Inter"/>
                    <a:cs typeface="Inter"/>
                    <a:sym typeface="Inter"/>
                  </a:rPr>
                  <a:t> data</a:t>
                </a:r>
                <a:endParaRPr sz="850">
                  <a:solidFill>
                    <a:srgbClr val="CBD5E1"/>
                  </a:solidFill>
                  <a:latin typeface="Inter"/>
                  <a:ea typeface="Inter"/>
                  <a:cs typeface="Inter"/>
                  <a:sym typeface="Inter"/>
                </a:endParaRPr>
              </a:p>
            </p:txBody>
          </p:sp>
        </p:grpSp>
      </p:grpSp>
      <p:pic>
        <p:nvPicPr>
          <p:cNvPr id="340" name="Google Shape;340;p27" title="{&quot;red&quot;:239,&quot;green&quot;:68,&quot;blue&quot;:68,&quot;origURL&quot;:&quot;https://saxarona.github.io/mathjax-viewer/?input=L_%7Btot%7D%20%3D%20L_%7Bdata%7D%20%2B%20L_%7Bphysics%7D#2&quot;,&quot;size&quot;:18,&quot;width&quot;:427.51181102362204,&quot;height&quot;:48.75590551181101,&quot;slideId&quot;:&quot;h1573e524d8e314cf_0_767&quot;,&quot;pageElementId&quot;:&quot;SLIDES_API778259425_0&quot;,&quot;spaceCount&quot;:36,&quot;spaceStart&quot;:0}"/>
          <p:cNvPicPr preferRelativeResize="0"/>
          <p:nvPr/>
        </p:nvPicPr>
        <p:blipFill>
          <a:blip r:embed="rId4">
            <a:alphaModFix/>
          </a:blip>
          <a:stretch>
            <a:fillRect/>
          </a:stretch>
        </p:blipFill>
        <p:spPr>
          <a:xfrm>
            <a:off x="3419852" y="1547060"/>
            <a:ext cx="2304287" cy="244394"/>
          </a:xfrm>
          <a:prstGeom prst="rect">
            <a:avLst/>
          </a:prstGeom>
          <a:noFill/>
          <a:ln>
            <a:noFill/>
          </a:ln>
        </p:spPr>
      </p:pic>
      <p:sp>
        <p:nvSpPr>
          <p:cNvPr id="341" name="Google Shape;34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45" name="Shape 345"/>
        <p:cNvGrpSpPr/>
        <p:nvPr/>
      </p:nvGrpSpPr>
      <p:grpSpPr>
        <a:xfrm>
          <a:off x="0" y="0"/>
          <a:ext cx="0" cy="0"/>
          <a:chOff x="0" y="0"/>
          <a:chExt cx="0" cy="0"/>
        </a:xfrm>
      </p:grpSpPr>
      <p:cxnSp>
        <p:nvCxnSpPr>
          <p:cNvPr id="346" name="Google Shape;346;p28"/>
          <p:cNvCxnSpPr/>
          <p:nvPr/>
        </p:nvCxnSpPr>
        <p:spPr>
          <a:xfrm>
            <a:off x="381000" y="8382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347" name="Google Shape;347;p28"/>
          <p:cNvSpPr txBox="1"/>
          <p:nvPr/>
        </p:nvSpPr>
        <p:spPr>
          <a:xfrm>
            <a:off x="381000" y="285750"/>
            <a:ext cx="8382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2300">
                <a:solidFill>
                  <a:srgbClr val="F8F9FA"/>
                </a:solidFill>
                <a:latin typeface="Inter"/>
                <a:ea typeface="Inter"/>
                <a:cs typeface="Inter"/>
                <a:sym typeface="Inter"/>
              </a:rPr>
              <a:t>PINN Framework – Automatic Differentiation</a:t>
            </a:r>
            <a:endParaRPr b="1" sz="2300">
              <a:solidFill>
                <a:srgbClr val="F8F9FA"/>
              </a:solidFill>
              <a:latin typeface="Inter"/>
              <a:ea typeface="Inter"/>
              <a:cs typeface="Inter"/>
              <a:sym typeface="Inter"/>
            </a:endParaRPr>
          </a:p>
        </p:txBody>
      </p:sp>
      <p:grpSp>
        <p:nvGrpSpPr>
          <p:cNvPr id="348" name="Google Shape;348;p28"/>
          <p:cNvGrpSpPr/>
          <p:nvPr/>
        </p:nvGrpSpPr>
        <p:grpSpPr>
          <a:xfrm>
            <a:off x="381000" y="1028700"/>
            <a:ext cx="4048200" cy="1047900"/>
            <a:chOff x="0" y="0"/>
            <a:chExt cx="4048200" cy="1047900"/>
          </a:xfrm>
        </p:grpSpPr>
        <p:sp>
          <p:nvSpPr>
            <p:cNvPr id="349" name="Google Shape;349;p28"/>
            <p:cNvSpPr/>
            <p:nvPr/>
          </p:nvSpPr>
          <p:spPr>
            <a:xfrm>
              <a:off x="0" y="0"/>
              <a:ext cx="4048200" cy="1047900"/>
            </a:xfrm>
            <a:prstGeom prst="roundRect">
              <a:avLst>
                <a:gd fmla="val 545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8"/>
            <p:cNvSpPr/>
            <p:nvPr/>
          </p:nvSpPr>
          <p:spPr>
            <a:xfrm>
              <a:off x="0" y="0"/>
              <a:ext cx="28500" cy="10479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8"/>
            <p:cNvSpPr txBox="1"/>
            <p:nvPr/>
          </p:nvSpPr>
          <p:spPr>
            <a:xfrm>
              <a:off x="190500" y="133350"/>
              <a:ext cx="3667200" cy="7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680">
                  <a:solidFill>
                    <a:srgbClr val="3B82F6"/>
                  </a:solidFill>
                  <a:latin typeface="Inter"/>
                  <a:ea typeface="Inter"/>
                  <a:cs typeface="Inter"/>
                  <a:sym typeface="Inter"/>
                </a:rPr>
                <a:t>THE ANALOGY</a:t>
              </a:r>
              <a:endParaRPr b="1" i="0" sz="680">
                <a:solidFill>
                  <a:srgbClr val="3B82F6"/>
                </a:solidFill>
                <a:latin typeface="Inter"/>
                <a:ea typeface="Inter"/>
                <a:cs typeface="Inter"/>
                <a:sym typeface="Inter"/>
              </a:endParaRPr>
            </a:p>
            <a:p>
              <a:pPr indent="0" lvl="0" marL="0" rtl="0" algn="l">
                <a:spcBef>
                  <a:spcPts val="200"/>
                </a:spcBef>
                <a:spcAft>
                  <a:spcPts val="0"/>
                </a:spcAft>
                <a:buNone/>
              </a:pPr>
              <a:r>
                <a:rPr b="0" i="0" lang="it" sz="1535">
                  <a:solidFill>
                    <a:srgbClr val="F8F9FA"/>
                  </a:solidFill>
                  <a:latin typeface="Inter SemiBold"/>
                  <a:ea typeface="Inter SemiBold"/>
                  <a:cs typeface="Inter SemiBold"/>
                  <a:sym typeface="Inter SemiBold"/>
                </a:rPr>
                <a:t>Backpropagation vs. Coordinate AD</a:t>
              </a:r>
              <a:endParaRPr b="1" i="0" sz="1280">
                <a:solidFill>
                  <a:srgbClr val="3B82F6"/>
                </a:solidFill>
                <a:latin typeface="Inter"/>
                <a:ea typeface="Inter"/>
                <a:cs typeface="Inter"/>
                <a:sym typeface="Inter"/>
              </a:endParaRPr>
            </a:p>
            <a:p>
              <a:pPr indent="0" lvl="0" marL="0" rtl="0" algn="l">
                <a:spcBef>
                  <a:spcPts val="400"/>
                </a:spcBef>
                <a:spcAft>
                  <a:spcPts val="0"/>
                </a:spcAft>
                <a:buNone/>
              </a:pPr>
              <a:r>
                <a:rPr b="0" i="0" lang="it" sz="723">
                  <a:solidFill>
                    <a:srgbClr val="94A3B8"/>
                  </a:solidFill>
                  <a:latin typeface="Inter Light"/>
                  <a:ea typeface="Inter Light"/>
                  <a:cs typeface="Inter Light"/>
                  <a:sym typeface="Inter Light"/>
                </a:rPr>
                <a:t>Just as standard gradient descent uses automatic differentiation to compute parameter gradients</a:t>
              </a:r>
              <a:r>
                <a:rPr lang="it" sz="723">
                  <a:solidFill>
                    <a:srgbClr val="94A3B8"/>
                  </a:solidFill>
                  <a:latin typeface="Inter Light"/>
                  <a:ea typeface="Inter Light"/>
                  <a:cs typeface="Inter Light"/>
                  <a:sym typeface="Inter Light"/>
                </a:rPr>
                <a:t>, it’s possible to use </a:t>
              </a:r>
              <a:r>
                <a:rPr b="0" i="0" lang="it" sz="723">
                  <a:solidFill>
                    <a:srgbClr val="94A3B8"/>
                  </a:solidFill>
                  <a:latin typeface="Inter Light"/>
                  <a:ea typeface="Inter Light"/>
                  <a:cs typeface="Inter Light"/>
                  <a:sym typeface="Inter Light"/>
                </a:rPr>
                <a:t>computational graph to compute derivatives with respect to spatial inputs</a:t>
              </a:r>
              <a:r>
                <a:rPr lang="it" sz="723">
                  <a:solidFill>
                    <a:srgbClr val="94A3B8"/>
                  </a:solidFill>
                  <a:latin typeface="Inter Light"/>
                  <a:ea typeface="Inter Light"/>
                  <a:cs typeface="Inter Light"/>
                  <a:sym typeface="Inter Light"/>
                </a:rPr>
                <a:t>.</a:t>
              </a:r>
              <a:endParaRPr b="1" i="0" sz="680">
                <a:solidFill>
                  <a:srgbClr val="3B82F6"/>
                </a:solidFill>
                <a:latin typeface="Inter"/>
                <a:ea typeface="Inter"/>
                <a:cs typeface="Inter"/>
                <a:sym typeface="Inter"/>
              </a:endParaRPr>
            </a:p>
          </p:txBody>
        </p:sp>
      </p:grpSp>
      <p:grpSp>
        <p:nvGrpSpPr>
          <p:cNvPr id="352" name="Google Shape;352;p28"/>
          <p:cNvGrpSpPr/>
          <p:nvPr/>
        </p:nvGrpSpPr>
        <p:grpSpPr>
          <a:xfrm>
            <a:off x="381000" y="2266950"/>
            <a:ext cx="4048200" cy="1047900"/>
            <a:chOff x="0" y="0"/>
            <a:chExt cx="4048200" cy="1047900"/>
          </a:xfrm>
        </p:grpSpPr>
        <p:sp>
          <p:nvSpPr>
            <p:cNvPr id="353" name="Google Shape;353;p28"/>
            <p:cNvSpPr/>
            <p:nvPr/>
          </p:nvSpPr>
          <p:spPr>
            <a:xfrm>
              <a:off x="0" y="0"/>
              <a:ext cx="4048200" cy="1047900"/>
            </a:xfrm>
            <a:prstGeom prst="roundRect">
              <a:avLst>
                <a:gd fmla="val 545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8"/>
            <p:cNvSpPr/>
            <p:nvPr/>
          </p:nvSpPr>
          <p:spPr>
            <a:xfrm>
              <a:off x="0" y="0"/>
              <a:ext cx="28500" cy="10479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8"/>
            <p:cNvSpPr txBox="1"/>
            <p:nvPr/>
          </p:nvSpPr>
          <p:spPr>
            <a:xfrm>
              <a:off x="190500" y="133350"/>
              <a:ext cx="3667200" cy="7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a:solidFill>
                    <a:srgbClr val="10B981"/>
                  </a:solidFill>
                  <a:latin typeface="Inter"/>
                  <a:ea typeface="Inter"/>
                  <a:cs typeface="Inter"/>
                  <a:sym typeface="Inter"/>
                </a:rPr>
                <a:t>EXACT DIFFERENTIATION</a:t>
              </a:r>
              <a:endParaRPr b="1" i="0" sz="800">
                <a:solidFill>
                  <a:srgbClr val="10B981"/>
                </a:solidFill>
                <a:latin typeface="Inter"/>
                <a:ea typeface="Inter"/>
                <a:cs typeface="Inter"/>
                <a:sym typeface="Inter"/>
              </a:endParaRPr>
            </a:p>
            <a:p>
              <a:pPr indent="0" lvl="0" marL="0" rtl="0" algn="l">
                <a:spcBef>
                  <a:spcPts val="200"/>
                </a:spcBef>
                <a:spcAft>
                  <a:spcPts val="0"/>
                </a:spcAft>
                <a:buNone/>
              </a:pPr>
              <a:r>
                <a:rPr b="0" i="0" lang="it" sz="1500">
                  <a:solidFill>
                    <a:srgbClr val="F8F9FA"/>
                  </a:solidFill>
                  <a:latin typeface="Inter SemiBold"/>
                  <a:ea typeface="Inter SemiBold"/>
                  <a:cs typeface="Inter SemiBold"/>
                  <a:sym typeface="Inter SemiBold"/>
                </a:rPr>
                <a:t>Pointwise Differential Operators</a:t>
              </a:r>
              <a:endParaRPr b="1" i="0" sz="1200">
                <a:solidFill>
                  <a:srgbClr val="10B981"/>
                </a:solidFill>
                <a:latin typeface="Inter"/>
                <a:ea typeface="Inter"/>
                <a:cs typeface="Inter"/>
                <a:sym typeface="Inter"/>
              </a:endParaRPr>
            </a:p>
            <a:p>
              <a:pPr indent="0" lvl="0" marL="0" rtl="0" algn="l">
                <a:spcBef>
                  <a:spcPts val="400"/>
                </a:spcBef>
                <a:spcAft>
                  <a:spcPts val="0"/>
                </a:spcAft>
                <a:buNone/>
              </a:pPr>
              <a:r>
                <a:rPr b="0" i="0" lang="it" sz="850">
                  <a:solidFill>
                    <a:srgbClr val="94A3B8"/>
                  </a:solidFill>
                  <a:latin typeface="Inter Light"/>
                  <a:ea typeface="Inter Light"/>
                  <a:cs typeface="Inter Light"/>
                  <a:sym typeface="Inter Light"/>
                </a:rPr>
                <a:t>Evaluates exact PDE residuals (                   </a:t>
              </a:r>
              <a:r>
                <a:rPr lang="it" sz="850">
                  <a:solidFill>
                    <a:srgbClr val="94A3B8"/>
                  </a:solidFill>
                  <a:latin typeface="Inter Light"/>
                  <a:ea typeface="Inter Light"/>
                  <a:cs typeface="Inter Light"/>
                  <a:sym typeface="Inter Light"/>
                </a:rPr>
                <a:t>) at  con</a:t>
              </a:r>
              <a:r>
                <a:rPr b="0" i="0" lang="it" sz="850">
                  <a:solidFill>
                    <a:srgbClr val="94A3B8"/>
                  </a:solidFill>
                  <a:latin typeface="Inter Light"/>
                  <a:ea typeface="Inter Light"/>
                  <a:cs typeface="Inter Light"/>
                  <a:sym typeface="Inter Light"/>
                </a:rPr>
                <a:t>tinuous coordinates without truncation errors, avoiding any finite-difference stencil.</a:t>
              </a:r>
              <a:endParaRPr b="1" i="0" sz="800">
                <a:solidFill>
                  <a:srgbClr val="10B981"/>
                </a:solidFill>
                <a:latin typeface="Inter"/>
                <a:ea typeface="Inter"/>
                <a:cs typeface="Inter"/>
                <a:sym typeface="Inter"/>
              </a:endParaRPr>
            </a:p>
          </p:txBody>
        </p:sp>
      </p:grpSp>
      <p:grpSp>
        <p:nvGrpSpPr>
          <p:cNvPr id="356" name="Google Shape;356;p28"/>
          <p:cNvGrpSpPr/>
          <p:nvPr/>
        </p:nvGrpSpPr>
        <p:grpSpPr>
          <a:xfrm>
            <a:off x="381000" y="3505200"/>
            <a:ext cx="4048200" cy="1047900"/>
            <a:chOff x="0" y="0"/>
            <a:chExt cx="4048200" cy="1047900"/>
          </a:xfrm>
        </p:grpSpPr>
        <p:sp>
          <p:nvSpPr>
            <p:cNvPr id="357" name="Google Shape;357;p28"/>
            <p:cNvSpPr/>
            <p:nvPr/>
          </p:nvSpPr>
          <p:spPr>
            <a:xfrm>
              <a:off x="0" y="0"/>
              <a:ext cx="4048200" cy="1047900"/>
            </a:xfrm>
            <a:prstGeom prst="roundRect">
              <a:avLst>
                <a:gd fmla="val 545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8"/>
            <p:cNvSpPr/>
            <p:nvPr/>
          </p:nvSpPr>
          <p:spPr>
            <a:xfrm>
              <a:off x="0" y="0"/>
              <a:ext cx="28500" cy="10479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8"/>
            <p:cNvSpPr txBox="1"/>
            <p:nvPr/>
          </p:nvSpPr>
          <p:spPr>
            <a:xfrm>
              <a:off x="190500" y="133350"/>
              <a:ext cx="3667200" cy="7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a:solidFill>
                    <a:srgbClr val="8B5CF6"/>
                  </a:solidFill>
                  <a:latin typeface="Inter"/>
                  <a:ea typeface="Inter"/>
                  <a:cs typeface="Inter"/>
                  <a:sym typeface="Inter"/>
                </a:rPr>
                <a:t>FUNDAMENTAL PROPERTY</a:t>
              </a:r>
              <a:endParaRPr b="1" i="0" sz="800">
                <a:solidFill>
                  <a:srgbClr val="8B5CF6"/>
                </a:solidFill>
                <a:latin typeface="Inter"/>
                <a:ea typeface="Inter"/>
                <a:cs typeface="Inter"/>
                <a:sym typeface="Inter"/>
              </a:endParaRPr>
            </a:p>
            <a:p>
              <a:pPr indent="0" lvl="0" marL="0" rtl="0" algn="l">
                <a:spcBef>
                  <a:spcPts val="200"/>
                </a:spcBef>
                <a:spcAft>
                  <a:spcPts val="0"/>
                </a:spcAft>
                <a:buNone/>
              </a:pPr>
              <a:r>
                <a:rPr b="0" i="0" lang="it" sz="1500">
                  <a:solidFill>
                    <a:srgbClr val="F8F9FA"/>
                  </a:solidFill>
                  <a:latin typeface="Inter SemiBold"/>
                  <a:ea typeface="Inter SemiBold"/>
                  <a:cs typeface="Inter SemiBold"/>
                  <a:sym typeface="Inter SemiBold"/>
                </a:rPr>
                <a:t>Meshless Formulation</a:t>
              </a:r>
              <a:endParaRPr b="1" i="0" sz="1200">
                <a:solidFill>
                  <a:srgbClr val="8B5CF6"/>
                </a:solidFill>
                <a:latin typeface="Inter"/>
                <a:ea typeface="Inter"/>
                <a:cs typeface="Inter"/>
                <a:sym typeface="Inter"/>
              </a:endParaRPr>
            </a:p>
            <a:p>
              <a:pPr indent="0" lvl="0" marL="0" rtl="0" algn="l">
                <a:spcBef>
                  <a:spcPts val="400"/>
                </a:spcBef>
                <a:spcAft>
                  <a:spcPts val="0"/>
                </a:spcAft>
                <a:buNone/>
              </a:pPr>
              <a:r>
                <a:rPr b="0" i="0" lang="it" sz="850">
                  <a:solidFill>
                    <a:srgbClr val="94A3B8"/>
                  </a:solidFill>
                  <a:latin typeface="Inter Light"/>
                  <a:ea typeface="Inter Light"/>
                  <a:cs typeface="Inter Light"/>
                  <a:sym typeface="Inter Light"/>
                </a:rPr>
                <a:t>Completely decouples differential evaluation from geometric topology: collocation points require no cell connectivity, adjacency lists, or domain re-meshing.</a:t>
              </a:r>
              <a:endParaRPr b="1" i="0" sz="800">
                <a:solidFill>
                  <a:srgbClr val="8B5CF6"/>
                </a:solidFill>
                <a:latin typeface="Inter"/>
                <a:ea typeface="Inter"/>
                <a:cs typeface="Inter"/>
                <a:sym typeface="Inter"/>
              </a:endParaRPr>
            </a:p>
          </p:txBody>
        </p:sp>
      </p:grpSp>
      <p:grpSp>
        <p:nvGrpSpPr>
          <p:cNvPr id="360" name="Google Shape;360;p28"/>
          <p:cNvGrpSpPr/>
          <p:nvPr/>
        </p:nvGrpSpPr>
        <p:grpSpPr>
          <a:xfrm>
            <a:off x="4714875" y="1028700"/>
            <a:ext cx="4048200" cy="3524400"/>
            <a:chOff x="0" y="0"/>
            <a:chExt cx="4048200" cy="3524400"/>
          </a:xfrm>
        </p:grpSpPr>
        <p:sp>
          <p:nvSpPr>
            <p:cNvPr id="361" name="Google Shape;361;p28"/>
            <p:cNvSpPr/>
            <p:nvPr/>
          </p:nvSpPr>
          <p:spPr>
            <a:xfrm>
              <a:off x="0" y="0"/>
              <a:ext cx="4048200" cy="3524400"/>
            </a:xfrm>
            <a:prstGeom prst="roundRect">
              <a:avLst>
                <a:gd fmla="val 162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62" name="Google Shape;362;p28"/>
            <p:cNvPicPr preferRelativeResize="0"/>
            <p:nvPr/>
          </p:nvPicPr>
          <p:blipFill rotWithShape="1">
            <a:blip r:embed="rId4">
              <a:alphaModFix/>
            </a:blip>
            <a:srcRect b="13636" l="0" r="0" t="13636"/>
            <a:stretch/>
          </p:blipFill>
          <p:spPr>
            <a:xfrm>
              <a:off x="190500" y="190500"/>
              <a:ext cx="3667200" cy="2667000"/>
            </a:xfrm>
            <a:prstGeom prst="roundRect">
              <a:avLst>
                <a:gd fmla="val 2142" name="adj"/>
              </a:avLst>
            </a:prstGeom>
            <a:noFill/>
            <a:ln>
              <a:noFill/>
            </a:ln>
          </p:spPr>
        </p:pic>
        <p:sp>
          <p:nvSpPr>
            <p:cNvPr id="363" name="Google Shape;363;p28"/>
            <p:cNvSpPr txBox="1"/>
            <p:nvPr/>
          </p:nvSpPr>
          <p:spPr>
            <a:xfrm>
              <a:off x="190500" y="2971800"/>
              <a:ext cx="36672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it" sz="800">
                  <a:solidFill>
                    <a:srgbClr val="3B82F6"/>
                  </a:solidFill>
                  <a:latin typeface="Inter"/>
                  <a:ea typeface="Inter"/>
                  <a:cs typeface="Inter"/>
                  <a:sym typeface="Inter"/>
                </a:rPr>
                <a:t>PARAMETER SPACE OPTIMIZATION</a:t>
              </a:r>
              <a:endParaRPr b="1" i="0" sz="800">
                <a:solidFill>
                  <a:srgbClr val="3B82F6"/>
                </a:solidFill>
                <a:latin typeface="Inter"/>
                <a:ea typeface="Inter"/>
                <a:cs typeface="Inter"/>
                <a:sym typeface="Inter"/>
              </a:endParaRPr>
            </a:p>
            <a:p>
              <a:pPr indent="0" lvl="0" marL="0" rtl="0" algn="ctr">
                <a:spcBef>
                  <a:spcPts val="200"/>
                </a:spcBef>
                <a:spcAft>
                  <a:spcPts val="0"/>
                </a:spcAft>
                <a:buNone/>
              </a:pPr>
              <a:r>
                <a:rPr b="0" i="0" lang="it" sz="800">
                  <a:solidFill>
                    <a:srgbClr val="94A3B8"/>
                  </a:solidFill>
                  <a:latin typeface="Inter"/>
                  <a:ea typeface="Inter"/>
                  <a:cs typeface="Inter"/>
                  <a:sym typeface="Inter"/>
                </a:rPr>
                <a:t>Loss surface                optimized via gradient descent, driving the physics-based PDE residual to zero across all collocation points.</a:t>
              </a:r>
              <a:endParaRPr b="1" i="0" sz="800">
                <a:solidFill>
                  <a:srgbClr val="3B82F6"/>
                </a:solidFill>
                <a:latin typeface="Inter"/>
                <a:ea typeface="Inter"/>
                <a:cs typeface="Inter"/>
                <a:sym typeface="Inter"/>
              </a:endParaRPr>
            </a:p>
          </p:txBody>
        </p:sp>
      </p:grpSp>
      <p:pic>
        <p:nvPicPr>
          <p:cNvPr id="364" name="Google Shape;364;p28" title="{&quot;red&quot;:148,&quot;green&quot;:163,&quot;blue&quot;:184,&quot;origURL&quot;:&quot;https://saxarona.github.io/mathjax-viewer/?input=%5Cpartial%20u%20%2F%20%5Cpartial%20t%2C%20%5Cnabla%5E2%20u#2&quot;,&quot;size&quot;:8.5,&quot;width&quot;:288.755905511811,&quot;height&quot;:61.511811023622045,&quot;slideId&quot;:&quot;g3fbb57816df_5_7&quot;,&quot;pageElementId&quot;:&quot;h1573e524d8e314cf_0_1625&quot;,&quot;spaceCount&quot;:19,&quot;spaceStart&quot;:86}"/>
          <p:cNvPicPr preferRelativeResize="0"/>
          <p:nvPr/>
        </p:nvPicPr>
        <p:blipFill>
          <a:blip r:embed="rId5">
            <a:alphaModFix/>
          </a:blip>
          <a:stretch>
            <a:fillRect/>
          </a:stretch>
        </p:blipFill>
        <p:spPr>
          <a:xfrm>
            <a:off x="2117067" y="2826149"/>
            <a:ext cx="576072" cy="132017"/>
          </a:xfrm>
          <a:prstGeom prst="rect">
            <a:avLst/>
          </a:prstGeom>
          <a:noFill/>
          <a:ln>
            <a:noFill/>
          </a:ln>
        </p:spPr>
      </p:pic>
      <p:pic>
        <p:nvPicPr>
          <p:cNvPr id="365" name="Google Shape;365;p28" title="{&quot;red&quot;:148,&quot;green&quot;:163,&quot;blue&quot;:184,&quot;origURL&quot;:&quot;https://saxarona.github.io/mathjax-viewer/?input=%5Cmathcal%7BL%7D(W%2C%20b)#2&quot;,&quot;size&quot;:8,&quot;width&quot;:288.755905511811,&quot;height&quot;:31.511811023622048,&quot;slideId&quot;:&quot;g3fbb57816df_5_7&quot;,&quot;pageElementId&quot;:&quot;h1573e524d8e314cf_0_1633&quot;,&quot;spaceCount&quot;:14,&quot;spaceStart&quot;:42}"/>
          <p:cNvPicPr preferRelativeResize="0"/>
          <p:nvPr/>
        </p:nvPicPr>
        <p:blipFill>
          <a:blip r:embed="rId6">
            <a:alphaModFix/>
          </a:blip>
          <a:stretch>
            <a:fillRect/>
          </a:stretch>
        </p:blipFill>
        <p:spPr>
          <a:xfrm>
            <a:off x="5842873" y="4148197"/>
            <a:ext cx="396050" cy="108014"/>
          </a:xfrm>
          <a:prstGeom prst="rect">
            <a:avLst/>
          </a:prstGeom>
          <a:noFill/>
          <a:ln>
            <a:noFill/>
          </a:ln>
        </p:spPr>
      </p:pic>
      <p:sp>
        <p:nvSpPr>
          <p:cNvPr id="366" name="Google Shape;366;p28"/>
          <p:cNvSpPr txBox="1"/>
          <p:nvPr/>
        </p:nvSpPr>
        <p:spPr>
          <a:xfrm>
            <a:off x="381000" y="4714875"/>
            <a:ext cx="8382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800" u="none" strike="noStrike">
                <a:solidFill>
                  <a:srgbClr val="3B82F6"/>
                </a:solidFill>
                <a:latin typeface="Inter SemiBold"/>
                <a:ea typeface="Inter SemiBold"/>
                <a:cs typeface="Inter SemiBold"/>
                <a:sym typeface="Inter SemiBold"/>
              </a:rPr>
              <a:t>Reference:</a:t>
            </a:r>
            <a:r>
              <a:rPr b="0" i="0" lang="it" sz="800" u="none" strike="noStrike">
                <a:solidFill>
                  <a:srgbClr val="64748B"/>
                </a:solidFill>
                <a:latin typeface="Inter"/>
                <a:ea typeface="Inter"/>
                <a:cs typeface="Inter"/>
                <a:sym typeface="Inter"/>
              </a:rPr>
              <a:t> Baydin et al. (2018) — </a:t>
            </a:r>
            <a:r>
              <a:rPr b="0" i="0" lang="it" sz="800" u="none" strike="noStrike">
                <a:solidFill>
                  <a:srgbClr val="94A3B8"/>
                </a:solidFill>
                <a:latin typeface="Inter"/>
                <a:ea typeface="Inter"/>
                <a:cs typeface="Inter"/>
                <a:sym typeface="Inter"/>
              </a:rPr>
              <a:t>Automatic differentiation in machine learning: a survey</a:t>
            </a:r>
            <a:endParaRPr b="0" i="0" sz="800" u="none" strike="noStrike">
              <a:solidFill>
                <a:srgbClr val="3B82F6"/>
              </a:solidFill>
              <a:latin typeface="Inter SemiBold"/>
              <a:ea typeface="Inter SemiBold"/>
              <a:cs typeface="Inter SemiBold"/>
              <a:sym typeface="Inter SemiBold"/>
            </a:endParaRPr>
          </a:p>
        </p:txBody>
      </p:sp>
      <p:cxnSp>
        <p:nvCxnSpPr>
          <p:cNvPr id="367" name="Google Shape;367;p28"/>
          <p:cNvCxnSpPr/>
          <p:nvPr/>
        </p:nvCxnSpPr>
        <p:spPr>
          <a:xfrm>
            <a:off x="265575" y="467217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368" name="Google Shape;368;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2" name="Shape 372"/>
        <p:cNvGrpSpPr/>
        <p:nvPr/>
      </p:nvGrpSpPr>
      <p:grpSpPr>
        <a:xfrm>
          <a:off x="0" y="0"/>
          <a:ext cx="0" cy="0"/>
          <a:chOff x="0" y="0"/>
          <a:chExt cx="0" cy="0"/>
        </a:xfrm>
      </p:grpSpPr>
      <p:sp>
        <p:nvSpPr>
          <p:cNvPr id="373" name="Google Shape;373;p29"/>
          <p:cNvSpPr txBox="1"/>
          <p:nvPr/>
        </p:nvSpPr>
        <p:spPr>
          <a:xfrm>
            <a:off x="381000" y="238125"/>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800">
                <a:solidFill>
                  <a:srgbClr val="F8F9FA"/>
                </a:solidFill>
                <a:latin typeface="Inter"/>
                <a:ea typeface="Inter"/>
                <a:cs typeface="Inter"/>
                <a:sym typeface="Inter"/>
              </a:rPr>
              <a:t>Navier-Stokes Case Study – Flow Past a Cylinder</a:t>
            </a:r>
            <a:endParaRPr b="1" sz="1800">
              <a:solidFill>
                <a:srgbClr val="F8F9FA"/>
              </a:solidFill>
              <a:latin typeface="Inter"/>
              <a:ea typeface="Inter"/>
              <a:cs typeface="Inter"/>
              <a:sym typeface="Inter"/>
            </a:endParaRPr>
          </a:p>
          <a:p>
            <a:pPr indent="0" lvl="0" marL="0" rtl="0" algn="l">
              <a:spcBef>
                <a:spcPts val="225"/>
              </a:spcBef>
              <a:spcAft>
                <a:spcPts val="0"/>
              </a:spcAft>
              <a:buNone/>
            </a:pPr>
            <a:r>
              <a:rPr b="0" lang="it" sz="1000">
                <a:solidFill>
                  <a:srgbClr val="94A3B8"/>
                </a:solidFill>
                <a:latin typeface="Inter"/>
                <a:ea typeface="Inter"/>
                <a:cs typeface="Inter"/>
                <a:sym typeface="Inter"/>
              </a:rPr>
              <a:t>Problem Setup, Physical Assumptions &amp; Flow Regime</a:t>
            </a:r>
            <a:endParaRPr b="0" sz="1000">
              <a:solidFill>
                <a:srgbClr val="94A3B8"/>
              </a:solidFill>
              <a:latin typeface="Inter"/>
              <a:ea typeface="Inter"/>
              <a:cs typeface="Inter"/>
              <a:sym typeface="Inter"/>
            </a:endParaRPr>
          </a:p>
        </p:txBody>
      </p:sp>
      <p:cxnSp>
        <p:nvCxnSpPr>
          <p:cNvPr id="374" name="Google Shape;374;p29"/>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375" name="Google Shape;375;p29"/>
          <p:cNvGrpSpPr/>
          <p:nvPr/>
        </p:nvGrpSpPr>
        <p:grpSpPr>
          <a:xfrm>
            <a:off x="381000" y="1047750"/>
            <a:ext cx="3905400" cy="1124100"/>
            <a:chOff x="0" y="0"/>
            <a:chExt cx="3905400" cy="1124100"/>
          </a:xfrm>
        </p:grpSpPr>
        <p:sp>
          <p:nvSpPr>
            <p:cNvPr id="376" name="Google Shape;376;p29"/>
            <p:cNvSpPr/>
            <p:nvPr/>
          </p:nvSpPr>
          <p:spPr>
            <a:xfrm>
              <a:off x="0" y="0"/>
              <a:ext cx="3905400" cy="1124100"/>
            </a:xfrm>
            <a:prstGeom prst="roundRect">
              <a:avLst>
                <a:gd fmla="val 50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9"/>
            <p:cNvSpPr/>
            <p:nvPr/>
          </p:nvSpPr>
          <p:spPr>
            <a:xfrm>
              <a:off x="0" y="0"/>
              <a:ext cx="28500" cy="1124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9"/>
            <p:cNvSpPr txBox="1"/>
            <p:nvPr/>
          </p:nvSpPr>
          <p:spPr>
            <a:xfrm>
              <a:off x="190500" y="133350"/>
              <a:ext cx="36906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00">
                  <a:solidFill>
                    <a:srgbClr val="3B82F6"/>
                  </a:solidFill>
                  <a:latin typeface="Inter"/>
                  <a:ea typeface="Inter"/>
                  <a:cs typeface="Inter"/>
                  <a:sym typeface="Inter"/>
                </a:rPr>
                <a:t>FLUID PROPERTIES</a:t>
              </a:r>
              <a:endParaRPr b="1" sz="800">
                <a:solidFill>
                  <a:srgbClr val="3B82F6"/>
                </a:solidFill>
                <a:latin typeface="Inter"/>
                <a:ea typeface="Inter"/>
                <a:cs typeface="Inter"/>
                <a:sym typeface="Inter"/>
              </a:endParaRPr>
            </a:p>
            <a:p>
              <a:pPr indent="0" lvl="0" marL="0" rtl="0" algn="l">
                <a:spcBef>
                  <a:spcPts val="225"/>
                </a:spcBef>
                <a:spcAft>
                  <a:spcPts val="0"/>
                </a:spcAft>
                <a:buNone/>
              </a:pPr>
              <a:r>
                <a:rPr b="0" lang="it" sz="1200">
                  <a:solidFill>
                    <a:srgbClr val="F8F9FA"/>
                  </a:solidFill>
                  <a:latin typeface="Inter SemiBold"/>
                  <a:ea typeface="Inter SemiBold"/>
                  <a:cs typeface="Inter SemiBold"/>
                  <a:sym typeface="Inter SemiBold"/>
                </a:rPr>
                <a:t>Physical Assumptions</a:t>
              </a:r>
              <a:endParaRPr b="0" sz="1200">
                <a:solidFill>
                  <a:srgbClr val="F8F9FA"/>
                </a:solidFill>
                <a:latin typeface="Inter SemiBold"/>
                <a:ea typeface="Inter SemiBold"/>
                <a:cs typeface="Inter SemiBold"/>
                <a:sym typeface="Inter SemiBold"/>
              </a:endParaRPr>
            </a:p>
            <a:p>
              <a:pPr indent="-285750" lvl="0" marL="457200" rtl="0" algn="l">
                <a:spcBef>
                  <a:spcPts val="450"/>
                </a:spcBef>
                <a:spcAft>
                  <a:spcPts val="0"/>
                </a:spcAft>
                <a:buClr>
                  <a:srgbClr val="CBD5E1"/>
                </a:buClr>
                <a:buSzPts val="900"/>
                <a:buFont typeface="Inter"/>
                <a:buChar char="●"/>
              </a:pPr>
              <a:r>
                <a:rPr b="0" lang="it" sz="900">
                  <a:solidFill>
                    <a:srgbClr val="F8F9FA"/>
                  </a:solidFill>
                  <a:latin typeface="Inter SemiBold"/>
                  <a:ea typeface="Inter SemiBold"/>
                  <a:cs typeface="Inter SemiBold"/>
                  <a:sym typeface="Inter SemiBold"/>
                </a:rPr>
                <a:t>Newtonian &amp; Incompressible:</a:t>
              </a:r>
              <a:r>
                <a:rPr lang="it" sz="900">
                  <a:solidFill>
                    <a:srgbClr val="CBD5E1"/>
                  </a:solidFill>
                  <a:latin typeface="Inter"/>
                  <a:ea typeface="Inter"/>
                  <a:cs typeface="Inter"/>
                  <a:sym typeface="Inter"/>
                </a:rPr>
                <a:t> Constant viscosity, ∇ · u = 0</a:t>
              </a:r>
              <a:endParaRPr sz="900">
                <a:solidFill>
                  <a:srgbClr val="CBD5E1"/>
                </a:solidFill>
                <a:latin typeface="Inter"/>
                <a:ea typeface="Inter"/>
                <a:cs typeface="Inter"/>
                <a:sym typeface="Inter"/>
              </a:endParaRPr>
            </a:p>
            <a:p>
              <a:pPr indent="-285750" lvl="0" marL="457200" rtl="0" algn="l">
                <a:spcBef>
                  <a:spcPts val="225"/>
                </a:spcBef>
                <a:spcAft>
                  <a:spcPts val="0"/>
                </a:spcAft>
                <a:buClr>
                  <a:srgbClr val="CBD5E1"/>
                </a:buClr>
                <a:buSzPts val="900"/>
                <a:buFont typeface="Inter"/>
                <a:buChar char="●"/>
              </a:pPr>
              <a:r>
                <a:rPr b="0" lang="it" sz="900">
                  <a:solidFill>
                    <a:srgbClr val="F8F9FA"/>
                  </a:solidFill>
                  <a:latin typeface="Inter SemiBold"/>
                  <a:ea typeface="Inter SemiBold"/>
                  <a:cs typeface="Inter SemiBold"/>
                  <a:sym typeface="Inter SemiBold"/>
                </a:rPr>
                <a:t>Governing Model:</a:t>
              </a:r>
              <a:r>
                <a:rPr lang="it" sz="900">
                  <a:solidFill>
                    <a:srgbClr val="CBD5E1"/>
                  </a:solidFill>
                  <a:latin typeface="Inter"/>
                  <a:ea typeface="Inter"/>
                  <a:cs typeface="Inter"/>
                  <a:sym typeface="Inter"/>
                </a:rPr>
                <a:t> 2D Navier-Stokes equations</a:t>
              </a:r>
              <a:endParaRPr sz="900">
                <a:solidFill>
                  <a:srgbClr val="CBD5E1"/>
                </a:solidFill>
                <a:latin typeface="Inter"/>
                <a:ea typeface="Inter"/>
                <a:cs typeface="Inter"/>
                <a:sym typeface="Inter"/>
              </a:endParaRPr>
            </a:p>
          </p:txBody>
        </p:sp>
      </p:grpSp>
      <p:grpSp>
        <p:nvGrpSpPr>
          <p:cNvPr id="379" name="Google Shape;379;p29"/>
          <p:cNvGrpSpPr/>
          <p:nvPr/>
        </p:nvGrpSpPr>
        <p:grpSpPr>
          <a:xfrm>
            <a:off x="381000" y="2324100"/>
            <a:ext cx="3905400" cy="1124100"/>
            <a:chOff x="0" y="0"/>
            <a:chExt cx="3905400" cy="1124100"/>
          </a:xfrm>
        </p:grpSpPr>
        <p:sp>
          <p:nvSpPr>
            <p:cNvPr id="380" name="Google Shape;380;p29"/>
            <p:cNvSpPr/>
            <p:nvPr/>
          </p:nvSpPr>
          <p:spPr>
            <a:xfrm>
              <a:off x="0" y="0"/>
              <a:ext cx="3905400" cy="1124100"/>
            </a:xfrm>
            <a:prstGeom prst="roundRect">
              <a:avLst>
                <a:gd fmla="val 50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9"/>
            <p:cNvSpPr/>
            <p:nvPr/>
          </p:nvSpPr>
          <p:spPr>
            <a:xfrm>
              <a:off x="0" y="0"/>
              <a:ext cx="28500" cy="1124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9"/>
            <p:cNvSpPr txBox="1"/>
            <p:nvPr/>
          </p:nvSpPr>
          <p:spPr>
            <a:xfrm>
              <a:off x="190500" y="133350"/>
              <a:ext cx="3524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00">
                  <a:solidFill>
                    <a:srgbClr val="10B981"/>
                  </a:solidFill>
                  <a:latin typeface="Inter"/>
                  <a:ea typeface="Inter"/>
                  <a:cs typeface="Inter"/>
                  <a:sym typeface="Inter"/>
                </a:rPr>
                <a:t>GEOMETRY &amp; DOMAIN</a:t>
              </a:r>
              <a:endParaRPr b="1" sz="800">
                <a:solidFill>
                  <a:srgbClr val="10B981"/>
                </a:solidFill>
                <a:latin typeface="Inter"/>
                <a:ea typeface="Inter"/>
                <a:cs typeface="Inter"/>
                <a:sym typeface="Inter"/>
              </a:endParaRPr>
            </a:p>
            <a:p>
              <a:pPr indent="0" lvl="0" marL="0" rtl="0" algn="l">
                <a:spcBef>
                  <a:spcPts val="225"/>
                </a:spcBef>
                <a:spcAft>
                  <a:spcPts val="0"/>
                </a:spcAft>
                <a:buNone/>
              </a:pPr>
              <a:r>
                <a:rPr b="0" lang="it" sz="1200">
                  <a:solidFill>
                    <a:srgbClr val="F8F9FA"/>
                  </a:solidFill>
                  <a:latin typeface="Inter SemiBold"/>
                  <a:ea typeface="Inter SemiBold"/>
                  <a:cs typeface="Inter SemiBold"/>
                  <a:sym typeface="Inter SemiBold"/>
                </a:rPr>
                <a:t>2D Flow Setup</a:t>
              </a:r>
              <a:endParaRPr b="0" sz="1200">
                <a:solidFill>
                  <a:srgbClr val="F8F9FA"/>
                </a:solidFill>
                <a:latin typeface="Inter SemiBold"/>
                <a:ea typeface="Inter SemiBold"/>
                <a:cs typeface="Inter SemiBold"/>
                <a:sym typeface="Inter SemiBold"/>
              </a:endParaRPr>
            </a:p>
            <a:p>
              <a:pPr indent="-285750" lvl="0" marL="457200" rtl="0" algn="l">
                <a:spcBef>
                  <a:spcPts val="450"/>
                </a:spcBef>
                <a:spcAft>
                  <a:spcPts val="0"/>
                </a:spcAft>
                <a:buClr>
                  <a:srgbClr val="CBD5E1"/>
                </a:buClr>
                <a:buSzPts val="900"/>
                <a:buFont typeface="Inter"/>
                <a:buChar char="●"/>
              </a:pPr>
              <a:r>
                <a:rPr b="0" lang="it" sz="900">
                  <a:solidFill>
                    <a:srgbClr val="F8F9FA"/>
                  </a:solidFill>
                  <a:latin typeface="Inter SemiBold"/>
                  <a:ea typeface="Inter SemiBold"/>
                  <a:cs typeface="Inter SemiBold"/>
                  <a:sym typeface="Inter SemiBold"/>
                </a:rPr>
                <a:t>Obstacle:</a:t>
              </a:r>
              <a:r>
                <a:rPr lang="it" sz="900">
                  <a:solidFill>
                    <a:srgbClr val="CBD5E1"/>
                  </a:solidFill>
                  <a:latin typeface="Inter"/>
                  <a:ea typeface="Inter"/>
                  <a:cs typeface="Inter"/>
                  <a:sym typeface="Inter"/>
                </a:rPr>
                <a:t> Circular rigid cylinder with downstream wake</a:t>
              </a:r>
              <a:endParaRPr sz="900">
                <a:solidFill>
                  <a:srgbClr val="CBD5E1"/>
                </a:solidFill>
                <a:latin typeface="Inter"/>
                <a:ea typeface="Inter"/>
                <a:cs typeface="Inter"/>
                <a:sym typeface="Inter"/>
              </a:endParaRPr>
            </a:p>
            <a:p>
              <a:pPr indent="-285750" lvl="0" marL="457200" rtl="0" algn="l">
                <a:spcBef>
                  <a:spcPts val="225"/>
                </a:spcBef>
                <a:spcAft>
                  <a:spcPts val="0"/>
                </a:spcAft>
                <a:buClr>
                  <a:srgbClr val="CBD5E1"/>
                </a:buClr>
                <a:buSzPts val="900"/>
                <a:buFont typeface="Inter"/>
                <a:buChar char="●"/>
              </a:pPr>
              <a:r>
                <a:rPr b="0" lang="it" sz="900">
                  <a:solidFill>
                    <a:srgbClr val="F8F9FA"/>
                  </a:solidFill>
                  <a:latin typeface="Inter SemiBold"/>
                  <a:ea typeface="Inter SemiBold"/>
                  <a:cs typeface="Inter SemiBold"/>
                  <a:sym typeface="Inter SemiBold"/>
                </a:rPr>
                <a:t>Sparse Sampling:</a:t>
              </a:r>
              <a:r>
                <a:rPr lang="it" sz="900">
                  <a:solidFill>
                    <a:srgbClr val="CBD5E1"/>
                  </a:solidFill>
                  <a:latin typeface="Inter"/>
                  <a:ea typeface="Inter"/>
                  <a:cs typeface="Inter"/>
                  <a:sym typeface="Inter"/>
                </a:rPr>
                <a:t> N = 5,000 points (1% space-time)</a:t>
              </a:r>
              <a:endParaRPr sz="900">
                <a:solidFill>
                  <a:srgbClr val="CBD5E1"/>
                </a:solidFill>
                <a:latin typeface="Inter"/>
                <a:ea typeface="Inter"/>
                <a:cs typeface="Inter"/>
                <a:sym typeface="Inter"/>
              </a:endParaRPr>
            </a:p>
          </p:txBody>
        </p:sp>
      </p:grpSp>
      <p:grpSp>
        <p:nvGrpSpPr>
          <p:cNvPr id="383" name="Google Shape;383;p29"/>
          <p:cNvGrpSpPr/>
          <p:nvPr/>
        </p:nvGrpSpPr>
        <p:grpSpPr>
          <a:xfrm>
            <a:off x="381000" y="3600450"/>
            <a:ext cx="3905400" cy="1124100"/>
            <a:chOff x="0" y="0"/>
            <a:chExt cx="3905400" cy="1124100"/>
          </a:xfrm>
        </p:grpSpPr>
        <p:sp>
          <p:nvSpPr>
            <p:cNvPr id="384" name="Google Shape;384;p29"/>
            <p:cNvSpPr/>
            <p:nvPr/>
          </p:nvSpPr>
          <p:spPr>
            <a:xfrm>
              <a:off x="0" y="0"/>
              <a:ext cx="3905400" cy="1124100"/>
            </a:xfrm>
            <a:prstGeom prst="roundRect">
              <a:avLst>
                <a:gd fmla="val 50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9"/>
            <p:cNvSpPr/>
            <p:nvPr/>
          </p:nvSpPr>
          <p:spPr>
            <a:xfrm>
              <a:off x="0" y="0"/>
              <a:ext cx="28500" cy="11241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29"/>
            <p:cNvSpPr txBox="1"/>
            <p:nvPr/>
          </p:nvSpPr>
          <p:spPr>
            <a:xfrm>
              <a:off x="190500" y="133350"/>
              <a:ext cx="3524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00">
                  <a:solidFill>
                    <a:srgbClr val="8B5CF6"/>
                  </a:solidFill>
                  <a:latin typeface="Inter"/>
                  <a:ea typeface="Inter"/>
                  <a:cs typeface="Inter"/>
                  <a:sym typeface="Inter"/>
                </a:rPr>
                <a:t>FLOW REGIME</a:t>
              </a:r>
              <a:endParaRPr b="1" sz="800">
                <a:solidFill>
                  <a:srgbClr val="8B5CF6"/>
                </a:solidFill>
                <a:latin typeface="Inter"/>
                <a:ea typeface="Inter"/>
                <a:cs typeface="Inter"/>
                <a:sym typeface="Inter"/>
              </a:endParaRPr>
            </a:p>
            <a:p>
              <a:pPr indent="0" lvl="0" marL="0" rtl="0" algn="l">
                <a:spcBef>
                  <a:spcPts val="225"/>
                </a:spcBef>
                <a:spcAft>
                  <a:spcPts val="0"/>
                </a:spcAft>
                <a:buNone/>
              </a:pPr>
              <a:r>
                <a:rPr b="0" lang="it" sz="1200">
                  <a:solidFill>
                    <a:srgbClr val="F8F9FA"/>
                  </a:solidFill>
                  <a:latin typeface="Inter SemiBold"/>
                  <a:ea typeface="Inter SemiBold"/>
                  <a:cs typeface="Inter SemiBold"/>
                  <a:sym typeface="Inter SemiBold"/>
                </a:rPr>
                <a:t>Reynolds Number (Re = 100)</a:t>
              </a:r>
              <a:endParaRPr b="0" sz="1200">
                <a:solidFill>
                  <a:srgbClr val="F8F9FA"/>
                </a:solidFill>
                <a:latin typeface="Inter SemiBold"/>
                <a:ea typeface="Inter SemiBold"/>
                <a:cs typeface="Inter SemiBold"/>
                <a:sym typeface="Inter SemiBold"/>
              </a:endParaRPr>
            </a:p>
            <a:p>
              <a:pPr indent="-285750" lvl="0" marL="457200" rtl="0" algn="l">
                <a:spcBef>
                  <a:spcPts val="450"/>
                </a:spcBef>
                <a:spcAft>
                  <a:spcPts val="0"/>
                </a:spcAft>
                <a:buClr>
                  <a:srgbClr val="CBD5E1"/>
                </a:buClr>
                <a:buSzPts val="900"/>
                <a:buFont typeface="Inter"/>
                <a:buChar char="●"/>
              </a:pPr>
              <a:r>
                <a:rPr b="0" lang="it" sz="900">
                  <a:solidFill>
                    <a:srgbClr val="F8F9FA"/>
                  </a:solidFill>
                  <a:latin typeface="Inter SemiBold"/>
                  <a:ea typeface="Inter SemiBold"/>
                  <a:cs typeface="Inter SemiBold"/>
                  <a:sym typeface="Inter SemiBold"/>
                </a:rPr>
                <a:t>Vortex Shedding:</a:t>
              </a:r>
              <a:r>
                <a:rPr lang="it" sz="900">
                  <a:solidFill>
                    <a:srgbClr val="CBD5E1"/>
                  </a:solidFill>
                  <a:latin typeface="Inter"/>
                  <a:ea typeface="Inter"/>
                  <a:cs typeface="Inter"/>
                  <a:sym typeface="Inter"/>
                </a:rPr>
                <a:t> Unsteady Kármán vortex street</a:t>
              </a:r>
              <a:endParaRPr sz="900">
                <a:solidFill>
                  <a:srgbClr val="CBD5E1"/>
                </a:solidFill>
                <a:latin typeface="Inter"/>
                <a:ea typeface="Inter"/>
                <a:cs typeface="Inter"/>
                <a:sym typeface="Inter"/>
              </a:endParaRPr>
            </a:p>
            <a:p>
              <a:pPr indent="-285750" lvl="0" marL="457200" rtl="0" algn="l">
                <a:spcBef>
                  <a:spcPts val="225"/>
                </a:spcBef>
                <a:spcAft>
                  <a:spcPts val="0"/>
                </a:spcAft>
                <a:buClr>
                  <a:srgbClr val="CBD5E1"/>
                </a:buClr>
                <a:buSzPts val="900"/>
                <a:buFont typeface="Inter"/>
                <a:buChar char="●"/>
              </a:pPr>
              <a:r>
                <a:rPr b="0" lang="it" sz="900">
                  <a:solidFill>
                    <a:srgbClr val="F8F9FA"/>
                  </a:solidFill>
                  <a:latin typeface="Inter SemiBold"/>
                  <a:ea typeface="Inter SemiBold"/>
                  <a:cs typeface="Inter SemiBold"/>
                  <a:sym typeface="Inter SemiBold"/>
                </a:rPr>
                <a:t>Inverse Identification:</a:t>
              </a:r>
              <a:r>
                <a:rPr lang="it" sz="900">
                  <a:solidFill>
                    <a:srgbClr val="CBD5E1"/>
                  </a:solidFill>
                  <a:latin typeface="Inter"/>
                  <a:ea typeface="Inter"/>
                  <a:cs typeface="Inter"/>
                  <a:sym typeface="Inter"/>
                </a:rPr>
                <a:t> Parameter recovery (λ₁, λ₂)</a:t>
              </a:r>
              <a:endParaRPr sz="900">
                <a:solidFill>
                  <a:srgbClr val="CBD5E1"/>
                </a:solidFill>
                <a:latin typeface="Inter"/>
                <a:ea typeface="Inter"/>
                <a:cs typeface="Inter"/>
                <a:sym typeface="Inter"/>
              </a:endParaRPr>
            </a:p>
          </p:txBody>
        </p:sp>
      </p:grpSp>
      <p:grpSp>
        <p:nvGrpSpPr>
          <p:cNvPr id="387" name="Google Shape;387;p29"/>
          <p:cNvGrpSpPr/>
          <p:nvPr/>
        </p:nvGrpSpPr>
        <p:grpSpPr>
          <a:xfrm>
            <a:off x="4489925" y="1024775"/>
            <a:ext cx="4238700" cy="3676800"/>
            <a:chOff x="0" y="0"/>
            <a:chExt cx="4238700" cy="3676800"/>
          </a:xfrm>
        </p:grpSpPr>
        <p:sp>
          <p:nvSpPr>
            <p:cNvPr id="388" name="Google Shape;388;p29"/>
            <p:cNvSpPr/>
            <p:nvPr/>
          </p:nvSpPr>
          <p:spPr>
            <a:xfrm>
              <a:off x="0" y="0"/>
              <a:ext cx="4238700" cy="3676800"/>
            </a:xfrm>
            <a:prstGeom prst="roundRect">
              <a:avLst>
                <a:gd fmla="val 155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9"/>
            <p:cNvSpPr txBox="1"/>
            <p:nvPr/>
          </p:nvSpPr>
          <p:spPr>
            <a:xfrm>
              <a:off x="190500" y="133350"/>
              <a:ext cx="3857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00">
                  <a:solidFill>
                    <a:srgbClr val="3B82F6"/>
                  </a:solidFill>
                  <a:latin typeface="Inter"/>
                  <a:ea typeface="Inter"/>
                  <a:cs typeface="Inter"/>
                  <a:sym typeface="Inter"/>
                </a:rPr>
                <a:t>FLOW VISUALIZATION</a:t>
              </a:r>
              <a:endParaRPr b="0" sz="1000">
                <a:solidFill>
                  <a:srgbClr val="F8F9FA"/>
                </a:solidFill>
                <a:latin typeface="Inter SemiBold"/>
                <a:ea typeface="Inter SemiBold"/>
                <a:cs typeface="Inter SemiBold"/>
                <a:sym typeface="Inter SemiBold"/>
              </a:endParaRPr>
            </a:p>
          </p:txBody>
        </p:sp>
      </p:grpSp>
      <p:sp>
        <p:nvSpPr>
          <p:cNvPr id="390" name="Google Shape;39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91" name="Google Shape;391;p29" title="flow cylinder.gif"/>
          <p:cNvPicPr preferRelativeResize="0"/>
          <p:nvPr/>
        </p:nvPicPr>
        <p:blipFill rotWithShape="1">
          <a:blip r:embed="rId4">
            <a:alphaModFix/>
          </a:blip>
          <a:srcRect b="13321" l="7605" r="24796" t="6383"/>
          <a:stretch/>
        </p:blipFill>
        <p:spPr>
          <a:xfrm>
            <a:off x="4640150" y="1764913"/>
            <a:ext cx="3938252" cy="2196525"/>
          </a:xfrm>
          <a:prstGeom prst="rect">
            <a:avLst/>
          </a:prstGeom>
          <a:noFill/>
          <a:ln>
            <a:noFill/>
          </a:ln>
        </p:spPr>
      </p:pic>
      <p:sp>
        <p:nvSpPr>
          <p:cNvPr id="392" name="Google Shape;392;p29"/>
          <p:cNvSpPr txBox="1"/>
          <p:nvPr/>
        </p:nvSpPr>
        <p:spPr>
          <a:xfrm>
            <a:off x="381000" y="4761875"/>
            <a:ext cx="8382000" cy="35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3B82F6"/>
                </a:solidFill>
                <a:latin typeface="Inter SemiBold"/>
                <a:ea typeface="Inter SemiBold"/>
                <a:cs typeface="Inter SemiBold"/>
                <a:sym typeface="Inter SemiBold"/>
              </a:rPr>
              <a:t>Reference:</a:t>
            </a:r>
            <a:r>
              <a:rPr b="0" lang="it" sz="800">
                <a:solidFill>
                  <a:srgbClr val="64748B"/>
                </a:solidFill>
                <a:latin typeface="Inter"/>
                <a:ea typeface="Inter"/>
                <a:cs typeface="Inter"/>
                <a:sym typeface="Inter"/>
              </a:rPr>
              <a:t> Raissi et al. (2019) — </a:t>
            </a:r>
            <a:r>
              <a:rPr lang="it" sz="800">
                <a:solidFill>
                  <a:srgbClr val="94A3B8"/>
                </a:solidFill>
                <a:latin typeface="Inter"/>
                <a:ea typeface="Inter"/>
                <a:cs typeface="Inter"/>
                <a:sym typeface="Inter"/>
              </a:rPr>
              <a:t>Physics-informed neural networks: A deep learning framework for solving forward and inverse problems involving nonlinear partial differential equations</a:t>
            </a:r>
            <a:endParaRPr b="0" sz="800">
              <a:solidFill>
                <a:srgbClr val="64748B"/>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6" name="Shape 396"/>
        <p:cNvGrpSpPr/>
        <p:nvPr/>
      </p:nvGrpSpPr>
      <p:grpSpPr>
        <a:xfrm>
          <a:off x="0" y="0"/>
          <a:ext cx="0" cy="0"/>
          <a:chOff x="0" y="0"/>
          <a:chExt cx="0" cy="0"/>
        </a:xfrm>
      </p:grpSpPr>
      <p:grpSp>
        <p:nvGrpSpPr>
          <p:cNvPr id="397" name="Google Shape;397;p30"/>
          <p:cNvGrpSpPr/>
          <p:nvPr/>
        </p:nvGrpSpPr>
        <p:grpSpPr>
          <a:xfrm>
            <a:off x="381000" y="238125"/>
            <a:ext cx="8382000" cy="571500"/>
            <a:chOff x="0" y="0"/>
            <a:chExt cx="8382000" cy="571500"/>
          </a:xfrm>
        </p:grpSpPr>
        <p:sp>
          <p:nvSpPr>
            <p:cNvPr id="398" name="Google Shape;398;p30"/>
            <p:cNvSpPr/>
            <p:nvPr/>
          </p:nvSpPr>
          <p:spPr>
            <a:xfrm>
              <a:off x="0" y="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30"/>
            <p:cNvSpPr txBox="1"/>
            <p:nvPr/>
          </p:nvSpPr>
          <p:spPr>
            <a:xfrm>
              <a:off x="0" y="0"/>
              <a:ext cx="8382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1665">
                  <a:solidFill>
                    <a:srgbClr val="F8F9FA"/>
                  </a:solidFill>
                  <a:latin typeface="Inter"/>
                  <a:ea typeface="Inter"/>
                  <a:cs typeface="Inter"/>
                  <a:sym typeface="Inter"/>
                </a:rPr>
                <a:t>Navier-Stokes Case Study – Physical vs. </a:t>
              </a:r>
              <a:r>
                <a:rPr b="1" lang="it" sz="1665">
                  <a:solidFill>
                    <a:srgbClr val="F8F9FA"/>
                  </a:solidFill>
                  <a:latin typeface="Inter"/>
                  <a:ea typeface="Inter"/>
                  <a:cs typeface="Inter"/>
                  <a:sym typeface="Inter"/>
                </a:rPr>
                <a:t>PINN</a:t>
              </a:r>
              <a:r>
                <a:rPr b="1" i="0" lang="it" sz="1665">
                  <a:solidFill>
                    <a:srgbClr val="F8F9FA"/>
                  </a:solidFill>
                  <a:latin typeface="Inter"/>
                  <a:ea typeface="Inter"/>
                  <a:cs typeface="Inter"/>
                  <a:sym typeface="Inter"/>
                </a:rPr>
                <a:t> Formulation</a:t>
              </a:r>
              <a:endParaRPr b="1" i="0" sz="1665">
                <a:solidFill>
                  <a:srgbClr val="F8F9FA"/>
                </a:solidFill>
                <a:latin typeface="Inter"/>
                <a:ea typeface="Inter"/>
                <a:cs typeface="Inter"/>
                <a:sym typeface="Inter"/>
              </a:endParaRPr>
            </a:p>
            <a:p>
              <a:pPr indent="0" lvl="0" marL="0" rtl="0" algn="l">
                <a:spcBef>
                  <a:spcPts val="300"/>
                </a:spcBef>
                <a:spcAft>
                  <a:spcPts val="0"/>
                </a:spcAft>
                <a:buNone/>
              </a:pPr>
              <a:r>
                <a:rPr b="0" i="0" lang="it" sz="971">
                  <a:solidFill>
                    <a:srgbClr val="94A3B8"/>
                  </a:solidFill>
                  <a:latin typeface="Inter"/>
                  <a:ea typeface="Inter"/>
                  <a:cs typeface="Inter"/>
                  <a:sym typeface="Inter"/>
                </a:rPr>
                <a:t>Inverse Parameter Identification &amp; Physical Model</a:t>
              </a:r>
              <a:endParaRPr b="1" i="0" sz="971">
                <a:solidFill>
                  <a:srgbClr val="F8F9FA"/>
                </a:solidFill>
                <a:latin typeface="Inter"/>
                <a:ea typeface="Inter"/>
                <a:cs typeface="Inter"/>
                <a:sym typeface="Inter"/>
              </a:endParaRPr>
            </a:p>
          </p:txBody>
        </p:sp>
      </p:grpSp>
      <p:cxnSp>
        <p:nvCxnSpPr>
          <p:cNvPr id="400" name="Google Shape;400;p30"/>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401" name="Google Shape;401;p30"/>
          <p:cNvGrpSpPr/>
          <p:nvPr/>
        </p:nvGrpSpPr>
        <p:grpSpPr>
          <a:xfrm>
            <a:off x="4572000" y="1028700"/>
            <a:ext cx="4191000" cy="3876600"/>
            <a:chOff x="0" y="0"/>
            <a:chExt cx="4191000" cy="3876600"/>
          </a:xfrm>
        </p:grpSpPr>
        <p:sp>
          <p:nvSpPr>
            <p:cNvPr id="402" name="Google Shape;402;p30"/>
            <p:cNvSpPr/>
            <p:nvPr/>
          </p:nvSpPr>
          <p:spPr>
            <a:xfrm>
              <a:off x="0" y="0"/>
              <a:ext cx="4191000" cy="3876600"/>
            </a:xfrm>
            <a:prstGeom prst="roundRect">
              <a:avLst>
                <a:gd fmla="val 147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30"/>
            <p:cNvSpPr/>
            <p:nvPr/>
          </p:nvSpPr>
          <p:spPr>
            <a:xfrm>
              <a:off x="0" y="0"/>
              <a:ext cx="28500" cy="38766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30"/>
            <p:cNvSpPr txBox="1"/>
            <p:nvPr/>
          </p:nvSpPr>
          <p:spPr>
            <a:xfrm>
              <a:off x="190500" y="152400"/>
              <a:ext cx="3810000" cy="35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a:solidFill>
                    <a:srgbClr val="8B5CF6"/>
                  </a:solidFill>
                  <a:latin typeface="Inter"/>
                  <a:ea typeface="Inter"/>
                  <a:cs typeface="Inter"/>
                  <a:sym typeface="Inter"/>
                </a:rPr>
                <a:t>PINN FORMULATION</a:t>
              </a:r>
              <a:endParaRPr b="1" i="0" sz="800">
                <a:solidFill>
                  <a:srgbClr val="8B5CF6"/>
                </a:solidFill>
                <a:latin typeface="Inter"/>
                <a:ea typeface="Inter"/>
                <a:cs typeface="Inter"/>
                <a:sym typeface="Inter"/>
              </a:endParaRPr>
            </a:p>
            <a:p>
              <a:pPr indent="0" lvl="0" marL="0" rtl="0" algn="l">
                <a:spcBef>
                  <a:spcPts val="300"/>
                </a:spcBef>
                <a:spcAft>
                  <a:spcPts val="0"/>
                </a:spcAft>
                <a:buNone/>
              </a:pPr>
              <a:r>
                <a:rPr b="0" i="0" lang="it" sz="1100">
                  <a:solidFill>
                    <a:srgbClr val="F8F9FA"/>
                  </a:solidFill>
                  <a:latin typeface="Inter SemiBold"/>
                  <a:ea typeface="Inter SemiBold"/>
                  <a:cs typeface="Inter SemiBold"/>
                  <a:sym typeface="Inter SemiBold"/>
                </a:rPr>
                <a:t>Learned Parameterized Equations</a:t>
              </a:r>
              <a:endParaRPr b="1" i="0" sz="800">
                <a:solidFill>
                  <a:srgbClr val="8B5CF6"/>
                </a:solidFill>
                <a:latin typeface="Inter"/>
                <a:ea typeface="Inter"/>
                <a:cs typeface="Inter"/>
                <a:sym typeface="Inter"/>
              </a:endParaRPr>
            </a:p>
            <a:p>
              <a:pPr indent="0" lvl="0" marL="0" rtl="0" algn="l">
                <a:spcBef>
                  <a:spcPts val="600"/>
                </a:spcBef>
                <a:spcAft>
                  <a:spcPts val="0"/>
                </a:spcAft>
                <a:buNone/>
              </a:pPr>
              <a:r>
                <a:rPr b="0" i="0" lang="it" sz="850">
                  <a:solidFill>
                    <a:srgbClr val="94A3B8"/>
                  </a:solidFill>
                  <a:latin typeface="Inter"/>
                  <a:ea typeface="Inter"/>
                  <a:cs typeface="Inter"/>
                  <a:sym typeface="Inter"/>
                </a:rPr>
                <a:t>The network learns latent fields               and concurrently estimates unknown parameters      and     .</a:t>
              </a:r>
              <a:endParaRPr b="1" i="0" sz="800">
                <a:solidFill>
                  <a:srgbClr val="8B5CF6"/>
                </a:solidFill>
                <a:latin typeface="Inter"/>
                <a:ea typeface="Inter"/>
                <a:cs typeface="Inter"/>
                <a:sym typeface="Inter"/>
              </a:endParaRPr>
            </a:p>
            <a:p>
              <a:pPr indent="0" lvl="0" marL="0" rtl="0" algn="l">
                <a:spcBef>
                  <a:spcPts val="1000"/>
                </a:spcBef>
                <a:spcAft>
                  <a:spcPts val="0"/>
                </a:spcAft>
                <a:buNone/>
              </a:pPr>
              <a:r>
                <a:rPr b="0" i="0" lang="it" sz="850">
                  <a:solidFill>
                    <a:srgbClr val="8B5CF6"/>
                  </a:solidFill>
                  <a:latin typeface="Inter SemiBold"/>
                  <a:ea typeface="Inter SemiBold"/>
                  <a:cs typeface="Inter SemiBold"/>
                  <a:sym typeface="Inter SemiBold"/>
                </a:rPr>
                <a:t>Residual Loss Formulation:</a:t>
              </a:r>
              <a:endParaRPr b="0" i="0" sz="850">
                <a:solidFill>
                  <a:srgbClr val="8B5CF6"/>
                </a:solidFill>
                <a:latin typeface="Inter SemiBold"/>
                <a:ea typeface="Inter SemiBold"/>
                <a:cs typeface="Inter SemiBold"/>
                <a:sym typeface="Inter SemiBold"/>
              </a:endParaRPr>
            </a:p>
            <a:p>
              <a:pPr indent="0" lvl="0" marL="0" rtl="0" algn="l">
                <a:spcBef>
                  <a:spcPts val="1000"/>
                </a:spcBef>
                <a:spcAft>
                  <a:spcPts val="0"/>
                </a:spcAft>
                <a:buNone/>
              </a:pPr>
              <a:r>
                <a:t/>
              </a:r>
              <a:endParaRPr sz="850">
                <a:solidFill>
                  <a:srgbClr val="8B5CF6"/>
                </a:solidFill>
                <a:latin typeface="Inter SemiBold"/>
                <a:ea typeface="Inter SemiBold"/>
                <a:cs typeface="Inter SemiBold"/>
                <a:sym typeface="Inter SemiBold"/>
              </a:endParaRPr>
            </a:p>
            <a:p>
              <a:pPr indent="0" lvl="0" marL="0" rtl="0" algn="l">
                <a:spcBef>
                  <a:spcPts val="1000"/>
                </a:spcBef>
                <a:spcAft>
                  <a:spcPts val="0"/>
                </a:spcAft>
                <a:buNone/>
              </a:pPr>
              <a:r>
                <a:t/>
              </a:r>
              <a:endParaRPr sz="850">
                <a:solidFill>
                  <a:schemeClr val="lt1"/>
                </a:solidFill>
                <a:latin typeface="Inter SemiBold"/>
                <a:ea typeface="Inter SemiBold"/>
                <a:cs typeface="Inter SemiBold"/>
                <a:sym typeface="Inter SemiBold"/>
              </a:endParaRPr>
            </a:p>
            <a:p>
              <a:pPr indent="0" lvl="0" marL="0" rtl="0" algn="l">
                <a:spcBef>
                  <a:spcPts val="400"/>
                </a:spcBef>
                <a:spcAft>
                  <a:spcPts val="0"/>
                </a:spcAft>
                <a:buNone/>
              </a:pPr>
              <a:r>
                <a:rPr b="1" lang="it" sz="850">
                  <a:solidFill>
                    <a:schemeClr val="lt1"/>
                  </a:solidFill>
                  <a:latin typeface="Inter"/>
                  <a:ea typeface="Inter"/>
                  <a:cs typeface="Inter"/>
                  <a:sym typeface="Inter"/>
                </a:rPr>
                <a:t>                                                                            </a:t>
              </a:r>
              <a:endParaRPr b="1" i="0" sz="850">
                <a:solidFill>
                  <a:schemeClr val="lt1"/>
                </a:solidFill>
                <a:latin typeface="Inter"/>
                <a:ea typeface="Inter"/>
                <a:cs typeface="Inter"/>
                <a:sym typeface="Inter"/>
              </a:endParaRPr>
            </a:p>
            <a:p>
              <a:pPr indent="0" lvl="0" marL="0" rtl="0" algn="l">
                <a:spcBef>
                  <a:spcPts val="1000"/>
                </a:spcBef>
                <a:spcAft>
                  <a:spcPts val="0"/>
                </a:spcAft>
                <a:buNone/>
              </a:pPr>
              <a:r>
                <a:rPr b="0" i="0" lang="it" sz="850">
                  <a:solidFill>
                    <a:srgbClr val="8B5CF6"/>
                  </a:solidFill>
                  <a:latin typeface="Inter SemiBold"/>
                  <a:ea typeface="Inter SemiBold"/>
                  <a:cs typeface="Inter SemiBold"/>
                  <a:sym typeface="Inter SemiBold"/>
                </a:rPr>
                <a:t>Exact Continuity Satisfaction (  ):</a:t>
              </a:r>
              <a:endParaRPr b="1" i="0" sz="800">
                <a:solidFill>
                  <a:srgbClr val="8B5CF6"/>
                </a:solidFill>
                <a:latin typeface="Inter"/>
                <a:ea typeface="Inter"/>
                <a:cs typeface="Inter"/>
                <a:sym typeface="Inter"/>
              </a:endParaRPr>
            </a:p>
            <a:p>
              <a:pPr indent="0" lvl="0" marL="0" rtl="0" algn="l">
                <a:spcBef>
                  <a:spcPts val="400"/>
                </a:spcBef>
                <a:spcAft>
                  <a:spcPts val="0"/>
                </a:spcAft>
                <a:buNone/>
              </a:pPr>
              <a:r>
                <a:rPr b="1" lang="it" sz="850">
                  <a:solidFill>
                    <a:schemeClr val="lt1"/>
                  </a:solidFill>
                  <a:latin typeface="Inter"/>
                  <a:ea typeface="Inter"/>
                  <a:cs typeface="Inter"/>
                  <a:sym typeface="Inter"/>
                </a:rPr>
                <a:t>                                                                  </a:t>
              </a:r>
              <a:endParaRPr b="1" i="0" sz="850">
                <a:solidFill>
                  <a:schemeClr val="lt1"/>
                </a:solidFill>
                <a:latin typeface="Inter"/>
                <a:ea typeface="Inter"/>
                <a:cs typeface="Inter"/>
                <a:sym typeface="Inter"/>
              </a:endParaRPr>
            </a:p>
            <a:p>
              <a:pPr indent="0" lvl="0" marL="0" rtl="0" algn="l">
                <a:spcBef>
                  <a:spcPts val="1200"/>
                </a:spcBef>
                <a:spcAft>
                  <a:spcPts val="0"/>
                </a:spcAft>
                <a:buNone/>
              </a:pPr>
              <a:r>
                <a:t/>
              </a:r>
              <a:endParaRPr sz="850">
                <a:solidFill>
                  <a:srgbClr val="F8F9FA"/>
                </a:solidFill>
                <a:latin typeface="Inter SemiBold"/>
                <a:ea typeface="Inter SemiBold"/>
                <a:cs typeface="Inter SemiBold"/>
                <a:sym typeface="Inter SemiBold"/>
              </a:endParaRPr>
            </a:p>
            <a:p>
              <a:pPr indent="0" lvl="0" marL="0" rtl="0" algn="l">
                <a:spcBef>
                  <a:spcPts val="1200"/>
                </a:spcBef>
                <a:spcAft>
                  <a:spcPts val="0"/>
                </a:spcAft>
                <a:buNone/>
              </a:pPr>
              <a:r>
                <a:rPr b="0" i="0" lang="it" sz="850">
                  <a:solidFill>
                    <a:srgbClr val="F8F9FA"/>
                  </a:solidFill>
                  <a:latin typeface="Inter SemiBold"/>
                  <a:ea typeface="Inter SemiBold"/>
                  <a:cs typeface="Inter SemiBold"/>
                  <a:sym typeface="Inter SemiBold"/>
                </a:rPr>
                <a:t>Inverse Parameters Sought by Model:</a:t>
              </a:r>
              <a:endParaRPr b="1" i="0" sz="800">
                <a:solidFill>
                  <a:srgbClr val="8B5CF6"/>
                </a:solidFill>
                <a:latin typeface="Inter"/>
                <a:ea typeface="Inter"/>
                <a:cs typeface="Inter"/>
                <a:sym typeface="Inter"/>
              </a:endParaRPr>
            </a:p>
            <a:p>
              <a:pPr indent="0" lvl="0" marL="0" rtl="0" algn="l">
                <a:spcBef>
                  <a:spcPts val="400"/>
                </a:spcBef>
                <a:spcAft>
                  <a:spcPts val="0"/>
                </a:spcAft>
                <a:buNone/>
              </a:pPr>
              <a:r>
                <a:rPr b="0" i="0" lang="it" sz="850">
                  <a:solidFill>
                    <a:srgbClr val="CBD5E1"/>
                  </a:solidFill>
                  <a:latin typeface="Inter"/>
                  <a:ea typeface="Inter"/>
                  <a:cs typeface="Inter"/>
                  <a:sym typeface="Inter"/>
                </a:rPr>
                <a:t>•     </a:t>
              </a:r>
              <a:r>
                <a:rPr b="0" i="0" lang="it" sz="850">
                  <a:solidFill>
                    <a:srgbClr val="F8F9FA"/>
                  </a:solidFill>
                  <a:latin typeface="Inter SemiBold"/>
                  <a:ea typeface="Inter SemiBold"/>
                  <a:cs typeface="Inter SemiBold"/>
                  <a:sym typeface="Inter SemiBold"/>
                </a:rPr>
                <a:t> (Convective Term):</a:t>
              </a:r>
              <a:r>
                <a:rPr b="0" i="0" lang="it" sz="850">
                  <a:solidFill>
                    <a:srgbClr val="CBD5E1"/>
                  </a:solidFill>
                  <a:latin typeface="Inter"/>
                  <a:ea typeface="Inter"/>
                  <a:cs typeface="Inter"/>
                  <a:sym typeface="Inter"/>
                </a:rPr>
                <a:t> Models inertial advective transport.</a:t>
              </a:r>
              <a:endParaRPr b="1" i="0" sz="800">
                <a:solidFill>
                  <a:srgbClr val="8B5CF6"/>
                </a:solidFill>
                <a:latin typeface="Inter"/>
                <a:ea typeface="Inter"/>
                <a:cs typeface="Inter"/>
                <a:sym typeface="Inter"/>
              </a:endParaRPr>
            </a:p>
            <a:p>
              <a:pPr indent="0" lvl="0" marL="0" rtl="0" algn="l">
                <a:spcBef>
                  <a:spcPts val="200"/>
                </a:spcBef>
                <a:spcAft>
                  <a:spcPts val="0"/>
                </a:spcAft>
                <a:buNone/>
              </a:pPr>
              <a:r>
                <a:rPr b="0" i="0" lang="it" sz="850">
                  <a:solidFill>
                    <a:srgbClr val="CBD5E1"/>
                  </a:solidFill>
                  <a:latin typeface="Inter"/>
                  <a:ea typeface="Inter"/>
                  <a:cs typeface="Inter"/>
                  <a:sym typeface="Inter"/>
                </a:rPr>
                <a:t>•     </a:t>
              </a:r>
              <a:r>
                <a:rPr b="0" i="0" lang="it" sz="850">
                  <a:solidFill>
                    <a:srgbClr val="F8F9FA"/>
                  </a:solidFill>
                  <a:latin typeface="Inter SemiBold"/>
                  <a:ea typeface="Inter SemiBold"/>
                  <a:cs typeface="Inter SemiBold"/>
                  <a:sym typeface="Inter SemiBold"/>
                </a:rPr>
                <a:t> (Diffusive Viscosity):</a:t>
              </a:r>
              <a:r>
                <a:rPr b="0" i="0" lang="it" sz="850">
                  <a:solidFill>
                    <a:srgbClr val="CBD5E1"/>
                  </a:solidFill>
                  <a:latin typeface="Inter"/>
                  <a:ea typeface="Inter"/>
                  <a:cs typeface="Inter"/>
                  <a:sym typeface="Inter"/>
                </a:rPr>
                <a:t> Corresponds to           in the Newtonian case.</a:t>
              </a:r>
              <a:endParaRPr b="1" i="0" sz="800">
                <a:solidFill>
                  <a:srgbClr val="8B5CF6"/>
                </a:solidFill>
                <a:latin typeface="Inter"/>
                <a:ea typeface="Inter"/>
                <a:cs typeface="Inter"/>
                <a:sym typeface="Inter"/>
              </a:endParaRPr>
            </a:p>
          </p:txBody>
        </p:sp>
      </p:grpSp>
      <p:grpSp>
        <p:nvGrpSpPr>
          <p:cNvPr id="405" name="Google Shape;405;p30"/>
          <p:cNvGrpSpPr/>
          <p:nvPr/>
        </p:nvGrpSpPr>
        <p:grpSpPr>
          <a:xfrm>
            <a:off x="381000" y="1034178"/>
            <a:ext cx="4000500" cy="3876600"/>
            <a:chOff x="0" y="0"/>
            <a:chExt cx="4000500" cy="3876600"/>
          </a:xfrm>
        </p:grpSpPr>
        <p:sp>
          <p:nvSpPr>
            <p:cNvPr id="406" name="Google Shape;406;p30"/>
            <p:cNvSpPr/>
            <p:nvPr/>
          </p:nvSpPr>
          <p:spPr>
            <a:xfrm>
              <a:off x="0" y="0"/>
              <a:ext cx="4000500" cy="3876600"/>
            </a:xfrm>
            <a:prstGeom prst="roundRect">
              <a:avLst>
                <a:gd fmla="val 147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30"/>
            <p:cNvSpPr/>
            <p:nvPr/>
          </p:nvSpPr>
          <p:spPr>
            <a:xfrm>
              <a:off x="0" y="0"/>
              <a:ext cx="28500" cy="38766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30"/>
            <p:cNvSpPr txBox="1"/>
            <p:nvPr/>
          </p:nvSpPr>
          <p:spPr>
            <a:xfrm>
              <a:off x="190500" y="152400"/>
              <a:ext cx="3619500" cy="35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740">
                  <a:solidFill>
                    <a:srgbClr val="3B82F6"/>
                  </a:solidFill>
                  <a:latin typeface="Inter"/>
                  <a:ea typeface="Inter"/>
                  <a:cs typeface="Inter"/>
                  <a:sym typeface="Inter"/>
                </a:rPr>
                <a:t>REAL PHYSICAL PROBLEM</a:t>
              </a:r>
              <a:endParaRPr b="1" i="0" sz="740">
                <a:solidFill>
                  <a:srgbClr val="3B82F6"/>
                </a:solidFill>
                <a:latin typeface="Inter"/>
                <a:ea typeface="Inter"/>
                <a:cs typeface="Inter"/>
                <a:sym typeface="Inter"/>
              </a:endParaRPr>
            </a:p>
            <a:p>
              <a:pPr indent="0" lvl="0" marL="0" rtl="0" algn="l">
                <a:spcBef>
                  <a:spcPts val="300"/>
                </a:spcBef>
                <a:spcAft>
                  <a:spcPts val="0"/>
                </a:spcAft>
                <a:buNone/>
              </a:pPr>
              <a:r>
                <a:rPr b="0" i="0" lang="it" sz="1018">
                  <a:solidFill>
                    <a:srgbClr val="F8F9FA"/>
                  </a:solidFill>
                  <a:latin typeface="Inter SemiBold"/>
                  <a:ea typeface="Inter SemiBold"/>
                  <a:cs typeface="Inter SemiBold"/>
                  <a:sym typeface="Inter SemiBold"/>
                </a:rPr>
                <a:t>Real Navier-Stokes Equations</a:t>
              </a:r>
              <a:endParaRPr b="1" i="0" sz="740">
                <a:solidFill>
                  <a:srgbClr val="3B82F6"/>
                </a:solidFill>
                <a:latin typeface="Inter"/>
                <a:ea typeface="Inter"/>
                <a:cs typeface="Inter"/>
                <a:sym typeface="Inter"/>
              </a:endParaRPr>
            </a:p>
            <a:p>
              <a:pPr indent="0" lvl="0" marL="0" rtl="0" algn="l">
                <a:spcBef>
                  <a:spcPts val="600"/>
                </a:spcBef>
                <a:spcAft>
                  <a:spcPts val="0"/>
                </a:spcAft>
                <a:buNone/>
              </a:pPr>
              <a:r>
                <a:t/>
              </a:r>
              <a:endParaRPr b="1" i="0" sz="740">
                <a:solidFill>
                  <a:srgbClr val="3B82F6"/>
                </a:solidFill>
                <a:latin typeface="Inter"/>
                <a:ea typeface="Inter"/>
                <a:cs typeface="Inter"/>
                <a:sym typeface="Inter"/>
              </a:endParaRPr>
            </a:p>
            <a:p>
              <a:pPr indent="0" lvl="0" marL="0" rtl="0" algn="l">
                <a:spcBef>
                  <a:spcPts val="1000"/>
                </a:spcBef>
                <a:spcAft>
                  <a:spcPts val="0"/>
                </a:spcAft>
                <a:buNone/>
              </a:pPr>
              <a:r>
                <a:rPr b="0" i="0" lang="it" sz="786">
                  <a:solidFill>
                    <a:srgbClr val="3B82F6"/>
                  </a:solidFill>
                  <a:latin typeface="Inter SemiBold"/>
                  <a:ea typeface="Inter SemiBold"/>
                  <a:cs typeface="Inter SemiBold"/>
                  <a:sym typeface="Inter SemiBold"/>
                </a:rPr>
                <a:t>Momentum Balance:</a:t>
              </a:r>
              <a:endParaRPr sz="786">
                <a:solidFill>
                  <a:srgbClr val="3B82F6"/>
                </a:solidFill>
                <a:latin typeface="Inter SemiBold"/>
                <a:ea typeface="Inter SemiBold"/>
                <a:cs typeface="Inter SemiBold"/>
                <a:sym typeface="Inter SemiBold"/>
              </a:endParaRPr>
            </a:p>
            <a:p>
              <a:pPr indent="0" lvl="0" marL="0" rtl="0" algn="l">
                <a:spcBef>
                  <a:spcPts val="1000"/>
                </a:spcBef>
                <a:spcAft>
                  <a:spcPts val="0"/>
                </a:spcAft>
                <a:buNone/>
              </a:pPr>
              <a:r>
                <a:t/>
              </a:r>
              <a:endParaRPr sz="786">
                <a:solidFill>
                  <a:srgbClr val="3B82F6"/>
                </a:solidFill>
                <a:latin typeface="Inter SemiBold"/>
                <a:ea typeface="Inter SemiBold"/>
                <a:cs typeface="Inter SemiBold"/>
                <a:sym typeface="Inter SemiBold"/>
              </a:endParaRPr>
            </a:p>
            <a:p>
              <a:pPr indent="0" lvl="0" marL="0" rtl="0" algn="l">
                <a:spcBef>
                  <a:spcPts val="1000"/>
                </a:spcBef>
                <a:spcAft>
                  <a:spcPts val="0"/>
                </a:spcAft>
                <a:buNone/>
              </a:pPr>
              <a:r>
                <a:t/>
              </a:r>
              <a:endParaRPr sz="786">
                <a:solidFill>
                  <a:srgbClr val="3B82F6"/>
                </a:solidFill>
                <a:latin typeface="Inter SemiBold"/>
                <a:ea typeface="Inter SemiBold"/>
                <a:cs typeface="Inter SemiBold"/>
                <a:sym typeface="Inter SemiBold"/>
              </a:endParaRPr>
            </a:p>
            <a:p>
              <a:pPr indent="0" lvl="0" marL="0" rtl="0" algn="l">
                <a:spcBef>
                  <a:spcPts val="1000"/>
                </a:spcBef>
                <a:spcAft>
                  <a:spcPts val="0"/>
                </a:spcAft>
                <a:buNone/>
              </a:pPr>
              <a:r>
                <a:t/>
              </a:r>
              <a:endParaRPr sz="786">
                <a:solidFill>
                  <a:schemeClr val="lt1"/>
                </a:solidFill>
                <a:latin typeface="Inter SemiBold"/>
                <a:ea typeface="Inter SemiBold"/>
                <a:cs typeface="Inter SemiBold"/>
                <a:sym typeface="Inter SemiBold"/>
              </a:endParaRPr>
            </a:p>
            <a:p>
              <a:pPr indent="0" lvl="0" marL="0" rtl="0" algn="l">
                <a:spcBef>
                  <a:spcPts val="400"/>
                </a:spcBef>
                <a:spcAft>
                  <a:spcPts val="0"/>
                </a:spcAft>
                <a:buNone/>
              </a:pPr>
              <a:r>
                <a:rPr b="1" lang="it" sz="740">
                  <a:solidFill>
                    <a:schemeClr val="lt1"/>
                  </a:solidFill>
                  <a:latin typeface="Inter"/>
                  <a:ea typeface="Inter"/>
                  <a:cs typeface="Inter"/>
                  <a:sym typeface="Inter"/>
                </a:rPr>
                <a:t>                                      </a:t>
              </a:r>
              <a:endParaRPr b="1" i="0" sz="740">
                <a:solidFill>
                  <a:schemeClr val="lt1"/>
                </a:solidFill>
                <a:latin typeface="Inter"/>
                <a:ea typeface="Inter"/>
                <a:cs typeface="Inter"/>
                <a:sym typeface="Inter"/>
              </a:endParaRPr>
            </a:p>
            <a:p>
              <a:pPr indent="0" lvl="0" marL="0" rtl="0" algn="l">
                <a:spcBef>
                  <a:spcPts val="400"/>
                </a:spcBef>
                <a:spcAft>
                  <a:spcPts val="0"/>
                </a:spcAft>
                <a:buNone/>
              </a:pPr>
              <a:r>
                <a:rPr b="1" lang="it" sz="786">
                  <a:solidFill>
                    <a:schemeClr val="lt1"/>
                  </a:solidFill>
                  <a:latin typeface="Inter"/>
                  <a:ea typeface="Inter"/>
                  <a:cs typeface="Inter"/>
                  <a:sym typeface="Inter"/>
                </a:rPr>
                <a:t>                                                                                  </a:t>
              </a:r>
              <a:endParaRPr b="1" i="0" sz="786">
                <a:solidFill>
                  <a:schemeClr val="lt1"/>
                </a:solidFill>
                <a:latin typeface="Inter"/>
                <a:ea typeface="Inter"/>
                <a:cs typeface="Inter"/>
                <a:sym typeface="Inter"/>
              </a:endParaRPr>
            </a:p>
            <a:p>
              <a:pPr indent="0" lvl="0" marL="0" rtl="0" algn="l">
                <a:spcBef>
                  <a:spcPts val="1000"/>
                </a:spcBef>
                <a:spcAft>
                  <a:spcPts val="0"/>
                </a:spcAft>
                <a:buNone/>
              </a:pPr>
              <a:r>
                <a:rPr b="0" i="0" lang="it" sz="786">
                  <a:solidFill>
                    <a:srgbClr val="3B82F6"/>
                  </a:solidFill>
                  <a:latin typeface="Inter SemiBold"/>
                  <a:ea typeface="Inter SemiBold"/>
                  <a:cs typeface="Inter SemiBold"/>
                  <a:sym typeface="Inter SemiBold"/>
                </a:rPr>
                <a:t>Continuity Equation:</a:t>
              </a:r>
              <a:endParaRPr b="1" i="0" sz="740">
                <a:solidFill>
                  <a:srgbClr val="3B82F6"/>
                </a:solidFill>
                <a:latin typeface="Inter"/>
                <a:ea typeface="Inter"/>
                <a:cs typeface="Inter"/>
                <a:sym typeface="Inter"/>
              </a:endParaRPr>
            </a:p>
            <a:p>
              <a:pPr indent="0" lvl="0" marL="0" rtl="0" algn="l">
                <a:spcBef>
                  <a:spcPts val="400"/>
                </a:spcBef>
                <a:spcAft>
                  <a:spcPts val="0"/>
                </a:spcAft>
                <a:buNone/>
              </a:pPr>
              <a:r>
                <a:rPr b="1" lang="it" sz="786">
                  <a:solidFill>
                    <a:schemeClr val="lt1"/>
                  </a:solidFill>
                  <a:latin typeface="Inter"/>
                  <a:ea typeface="Inter"/>
                  <a:cs typeface="Inter"/>
                  <a:sym typeface="Inter"/>
                </a:rPr>
                <a:t>                                      </a:t>
              </a:r>
              <a:endParaRPr b="1" sz="786">
                <a:solidFill>
                  <a:schemeClr val="lt1"/>
                </a:solidFill>
                <a:latin typeface="Inter"/>
                <a:ea typeface="Inter"/>
                <a:cs typeface="Inter"/>
                <a:sym typeface="Inter"/>
              </a:endParaRPr>
            </a:p>
            <a:p>
              <a:pPr indent="0" lvl="0" marL="0" rtl="0" algn="l">
                <a:spcBef>
                  <a:spcPts val="400"/>
                </a:spcBef>
                <a:spcAft>
                  <a:spcPts val="0"/>
                </a:spcAft>
                <a:buNone/>
              </a:pPr>
              <a:r>
                <a:t/>
              </a:r>
              <a:endParaRPr b="1" sz="740">
                <a:solidFill>
                  <a:schemeClr val="lt1"/>
                </a:solidFill>
                <a:latin typeface="Inter"/>
                <a:ea typeface="Inter"/>
                <a:cs typeface="Inter"/>
                <a:sym typeface="Inter"/>
              </a:endParaRPr>
            </a:p>
            <a:p>
              <a:pPr indent="0" lvl="0" marL="0" rtl="0" algn="l">
                <a:spcBef>
                  <a:spcPts val="400"/>
                </a:spcBef>
                <a:spcAft>
                  <a:spcPts val="0"/>
                </a:spcAft>
                <a:buNone/>
              </a:pPr>
              <a:r>
                <a:t/>
              </a:r>
              <a:endParaRPr b="1" sz="740">
                <a:solidFill>
                  <a:schemeClr val="lt1"/>
                </a:solidFill>
                <a:latin typeface="Inter"/>
                <a:ea typeface="Inter"/>
                <a:cs typeface="Inter"/>
                <a:sym typeface="Inter"/>
              </a:endParaRPr>
            </a:p>
            <a:p>
              <a:pPr indent="0" lvl="0" marL="0" rtl="0" algn="l">
                <a:spcBef>
                  <a:spcPts val="200"/>
                </a:spcBef>
                <a:spcAft>
                  <a:spcPts val="0"/>
                </a:spcAft>
                <a:buNone/>
              </a:pPr>
              <a:r>
                <a:rPr b="1" lang="it" sz="786">
                  <a:solidFill>
                    <a:schemeClr val="lt1"/>
                  </a:solidFill>
                  <a:latin typeface="Inter"/>
                  <a:ea typeface="Inter"/>
                  <a:cs typeface="Inter"/>
                  <a:sym typeface="Inter"/>
                </a:rPr>
                <a:t>                                                                                  </a:t>
              </a:r>
              <a:endParaRPr b="1" i="0" sz="786">
                <a:solidFill>
                  <a:schemeClr val="lt1"/>
                </a:solidFill>
                <a:latin typeface="Inter"/>
                <a:ea typeface="Inter"/>
                <a:cs typeface="Inter"/>
                <a:sym typeface="Inter"/>
              </a:endParaRPr>
            </a:p>
          </p:txBody>
        </p:sp>
      </p:grpSp>
      <p:pic>
        <p:nvPicPr>
          <p:cNvPr id="409" name="Google Shape;409;p30" title="{&quot;red&quot;:148,&quot;green&quot;:163,&quot;blue&quot;:184,&quot;origURL&quot;:&quot;https://saxarona.github.io/mathjax-viewer/?input=(u%2C%20v%2C%20p)#2&quot;,&quot;size&quot;:8.5,&quot;width&quot;:300,&quot;height&quot;:281.244094488189,&quot;slideId&quot;:&quot;g3fbb57816df_5_13&quot;,&quot;pageElementId&quot;:&quot;g3fbe9a665d1_0_68&quot;,&quot;spaceCount&quot;:13,&quot;spaceStart&quot;:100}"/>
          <p:cNvPicPr preferRelativeResize="0"/>
          <p:nvPr/>
        </p:nvPicPr>
        <p:blipFill>
          <a:blip r:embed="rId4">
            <a:alphaModFix/>
          </a:blip>
          <a:stretch>
            <a:fillRect/>
          </a:stretch>
        </p:blipFill>
        <p:spPr>
          <a:xfrm>
            <a:off x="6403301" y="1579375"/>
            <a:ext cx="384048" cy="120015"/>
          </a:xfrm>
          <a:prstGeom prst="rect">
            <a:avLst/>
          </a:prstGeom>
          <a:noFill/>
          <a:ln>
            <a:noFill/>
          </a:ln>
        </p:spPr>
      </p:pic>
      <p:pic>
        <p:nvPicPr>
          <p:cNvPr id="410" name="Google Shape;410;p30" title="{&quot;red&quot;:148,&quot;green&quot;:163,&quot;blue&quot;:184,&quot;origURL&quot;:&quot;https://saxarona.github.io/mathjax-viewer/?input=%5Clambda_1#2&quot;,&quot;size&quot;:8.5,&quot;width&quot;:300,&quot;height&quot;:281.244094488189,&quot;slideId&quot;:&quot;g3fbb57816df_5_13&quot;,&quot;pageElementId&quot;:&quot;g3fbe9a665d1_0_68&quot;,&quot;spaceCount&quot;:4,&quot;spaceStart&quot;:160}"/>
          <p:cNvPicPr preferRelativeResize="0"/>
          <p:nvPr/>
        </p:nvPicPr>
        <p:blipFill>
          <a:blip r:embed="rId5">
            <a:alphaModFix/>
          </a:blip>
          <a:stretch>
            <a:fillRect/>
          </a:stretch>
        </p:blipFill>
        <p:spPr>
          <a:xfrm>
            <a:off x="5862935" y="1734168"/>
            <a:ext cx="120015" cy="96012"/>
          </a:xfrm>
          <a:prstGeom prst="rect">
            <a:avLst/>
          </a:prstGeom>
          <a:noFill/>
          <a:ln>
            <a:noFill/>
          </a:ln>
        </p:spPr>
      </p:pic>
      <p:pic>
        <p:nvPicPr>
          <p:cNvPr id="411" name="Google Shape;411;p30" title="{&quot;red&quot;:148,&quot;green&quot;:163,&quot;blue&quot;:184,&quot;origURL&quot;:&quot;https://saxarona.github.io/mathjax-viewer/?input=%5Clambda_2#2&quot;,&quot;size&quot;:8.5,&quot;width&quot;:300,&quot;height&quot;:281.244094488189,&quot;slideId&quot;:&quot;g3fbb57816df_5_13&quot;,&quot;pageElementId&quot;:&quot;g3fbe9a665d1_0_68&quot;,&quot;spaceCount&quot;:4,&quot;spaceStart&quot;:169}"/>
          <p:cNvPicPr preferRelativeResize="0"/>
          <p:nvPr/>
        </p:nvPicPr>
        <p:blipFill>
          <a:blip r:embed="rId6">
            <a:alphaModFix/>
          </a:blip>
          <a:stretch>
            <a:fillRect/>
          </a:stretch>
        </p:blipFill>
        <p:spPr>
          <a:xfrm>
            <a:off x="6244352" y="1734168"/>
            <a:ext cx="120015" cy="96012"/>
          </a:xfrm>
          <a:prstGeom prst="rect">
            <a:avLst/>
          </a:prstGeom>
          <a:noFill/>
          <a:ln>
            <a:noFill/>
          </a:ln>
        </p:spPr>
      </p:pic>
      <p:pic>
        <p:nvPicPr>
          <p:cNvPr id="412" name="Google Shape;412;p30" title="{&quot;red&quot;:139,&quot;green&quot;:92,&quot;blue&quot;:246,&quot;origURL&quot;:&quot;https://saxarona.github.io/mathjax-viewer/?input=%5Cpsi#2&quot;,&quot;size&quot;:8.5,&quot;width&quot;:300,&quot;height&quot;:281.244094488189,&quot;slideId&quot;:&quot;g3fbb57816df_5_13&quot;,&quot;pageElementId&quot;:&quot;g3fbe9a665d1_0_68&quot;,&quot;spaceCount&quot;:2,&quot;spaceStart&quot;:305}"/>
          <p:cNvPicPr preferRelativeResize="0"/>
          <p:nvPr/>
        </p:nvPicPr>
        <p:blipFill>
          <a:blip r:embed="rId7">
            <a:alphaModFix/>
          </a:blip>
          <a:stretch>
            <a:fillRect/>
          </a:stretch>
        </p:blipFill>
        <p:spPr>
          <a:xfrm>
            <a:off x="6331290" y="2924577"/>
            <a:ext cx="72009" cy="108013"/>
          </a:xfrm>
          <a:prstGeom prst="rect">
            <a:avLst/>
          </a:prstGeom>
          <a:noFill/>
          <a:ln>
            <a:noFill/>
          </a:ln>
        </p:spPr>
      </p:pic>
      <p:pic>
        <p:nvPicPr>
          <p:cNvPr id="413" name="Google Shape;413;p30" title="{&quot;red&quot;:248,&quot;green&quot;:249,&quot;blue&quot;:250,&quot;origURL&quot;:&quot;https://saxarona.github.io/mathjax-viewer/?input=%5Clambda_1#2&quot;,&quot;size&quot;:8.5,&quot;width&quot;:300,&quot;height&quot;:281.244094488189,&quot;slideId&quot;:&quot;g3fbb57816df_5_13&quot;,&quot;pageElementId&quot;:&quot;g3fbe9a665d1_0_68&quot;,&quot;spaceCount&quot;:4,&quot;spaceStart&quot;:380}"/>
          <p:cNvPicPr preferRelativeResize="0"/>
          <p:nvPr/>
        </p:nvPicPr>
        <p:blipFill>
          <a:blip r:embed="rId8">
            <a:alphaModFix/>
          </a:blip>
          <a:stretch>
            <a:fillRect/>
          </a:stretch>
        </p:blipFill>
        <p:spPr>
          <a:xfrm>
            <a:off x="4861701" y="3845348"/>
            <a:ext cx="120015" cy="96012"/>
          </a:xfrm>
          <a:prstGeom prst="rect">
            <a:avLst/>
          </a:prstGeom>
          <a:noFill/>
          <a:ln>
            <a:noFill/>
          </a:ln>
        </p:spPr>
      </p:pic>
      <p:pic>
        <p:nvPicPr>
          <p:cNvPr id="414" name="Google Shape;414;p30" title="{&quot;red&quot;:248,&quot;green&quot;:249,&quot;blue&quot;:250,&quot;origURL&quot;:&quot;https://saxarona.github.io/mathjax-viewer/?input=%5Clambda_2#2&quot;,&quot;size&quot;:8.5,&quot;width&quot;:300,&quot;height&quot;:281.244094488189,&quot;slideId&quot;:&quot;g3fbb57816df_5_13&quot;,&quot;pageElementId&quot;:&quot;g3fbe9a665d1_0_68&quot;,&quot;spaceCount&quot;:4,&quot;spaceStart&quot;:443}"/>
          <p:cNvPicPr preferRelativeResize="0"/>
          <p:nvPr/>
        </p:nvPicPr>
        <p:blipFill>
          <a:blip r:embed="rId9">
            <a:alphaModFix/>
          </a:blip>
          <a:stretch>
            <a:fillRect/>
          </a:stretch>
        </p:blipFill>
        <p:spPr>
          <a:xfrm>
            <a:off x="4861701" y="3986638"/>
            <a:ext cx="120015" cy="96012"/>
          </a:xfrm>
          <a:prstGeom prst="rect">
            <a:avLst/>
          </a:prstGeom>
          <a:noFill/>
          <a:ln>
            <a:noFill/>
          </a:ln>
        </p:spPr>
      </p:pic>
      <p:pic>
        <p:nvPicPr>
          <p:cNvPr id="415" name="Google Shape;415;p30" title="{&quot;red&quot;:203,&quot;green&quot;:213,&quot;blue&quot;:225,&quot;origURL&quot;:&quot;https://saxarona.github.io/mathjax-viewer/?input=1%2FRe#2&quot;,&quot;size&quot;:8.5,&quot;width&quot;:300,&quot;height&quot;:281.244094488189,&quot;slideId&quot;:&quot;g3fbb57816df_5_13&quot;,&quot;pageElementId&quot;:&quot;g3fbe9a665d1_0_68&quot;,&quot;spaceCount&quot;:9,&quot;spaceStart&quot;:486}"/>
          <p:cNvPicPr preferRelativeResize="0"/>
          <p:nvPr/>
        </p:nvPicPr>
        <p:blipFill>
          <a:blip r:embed="rId10">
            <a:alphaModFix/>
          </a:blip>
          <a:stretch>
            <a:fillRect/>
          </a:stretch>
        </p:blipFill>
        <p:spPr>
          <a:xfrm>
            <a:off x="6935213" y="3986647"/>
            <a:ext cx="264033" cy="120015"/>
          </a:xfrm>
          <a:prstGeom prst="rect">
            <a:avLst/>
          </a:prstGeom>
          <a:noFill/>
          <a:ln>
            <a:noFill/>
          </a:ln>
        </p:spPr>
      </p:pic>
      <p:sp>
        <p:nvSpPr>
          <p:cNvPr id="416" name="Google Shape;41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417" name="Google Shape;417;p30" title="{&quot;red&quot;:255,&quot;green&quot;:255,&quot;blue&quot;:255,&quot;origURL&quot;:&quot;https://saxarona.github.io/mathjax-viewer/?input=f%20%3A%3D%20u_t%20%2B%20%5Clambda_1%20(u%20u_x%20%2B%20v%20u_y)%20%2B%20p_x%20-%20%5Clambda_2%20(u_%7Bxx%7D%20%2B%20u_%7Byy%7D)%20%3D%200#2&quot;,&quot;size&quot;:8.5,&quot;width&quot;:300,&quot;height&quot;:281.244094488189,&quot;slideId&quot;:&quot;g3fbb57816df_5_13&quot;,&quot;pageElementId&quot;:&quot;g3fbe9a665d1_0_68&quot;,&quot;spaceCount&quot;:76,&quot;spaceStart&quot;:186}"/>
          <p:cNvPicPr preferRelativeResize="0"/>
          <p:nvPr/>
        </p:nvPicPr>
        <p:blipFill>
          <a:blip r:embed="rId11">
            <a:alphaModFix/>
          </a:blip>
          <a:stretch>
            <a:fillRect/>
          </a:stretch>
        </p:blipFill>
        <p:spPr>
          <a:xfrm>
            <a:off x="4806722" y="2273882"/>
            <a:ext cx="3721548" cy="173900"/>
          </a:xfrm>
          <a:prstGeom prst="rect">
            <a:avLst/>
          </a:prstGeom>
          <a:noFill/>
          <a:ln>
            <a:noFill/>
          </a:ln>
        </p:spPr>
      </p:pic>
      <p:pic>
        <p:nvPicPr>
          <p:cNvPr id="418" name="Google Shape;418;p30" title="{&quot;red&quot;:255,&quot;green&quot;:255,&quot;blue&quot;:255,&quot;origURL&quot;:&quot;https://saxarona.github.io/mathjax-viewer/?input=u%20%3D%20%5Cfrac%7B%5Cpartial%20%5Cpsi%7D%7B%5Cpartial%20y%7D%2C%20%5Cquad%20v%20%3D%20-%5Cfrac%7B%5Cpartial%20%5Cpsi%7D%7B%5Cpartial%20x%7D%20%5Cimplies%20u_x%20%2B%20v_y%20%5Cequiv%200#2&quot;,&quot;size&quot;:8.5,&quot;width&quot;:300,&quot;height&quot;:281.244094488189,&quot;slideId&quot;:&quot;g3fbb57816df_5_13&quot;,&quot;pageElementId&quot;:&quot;g3fbe9a665d1_0_68&quot;,&quot;spaceCount&quot;:66,&quot;spaceStart&quot;:299}"/>
          <p:cNvPicPr preferRelativeResize="0"/>
          <p:nvPr/>
        </p:nvPicPr>
        <p:blipFill>
          <a:blip r:embed="rId12">
            <a:alphaModFix/>
          </a:blip>
          <a:stretch>
            <a:fillRect/>
          </a:stretch>
        </p:blipFill>
        <p:spPr>
          <a:xfrm>
            <a:off x="5277688" y="3161888"/>
            <a:ext cx="2692822" cy="368675"/>
          </a:xfrm>
          <a:prstGeom prst="rect">
            <a:avLst/>
          </a:prstGeom>
          <a:noFill/>
          <a:ln>
            <a:noFill/>
          </a:ln>
        </p:spPr>
      </p:pic>
      <p:pic>
        <p:nvPicPr>
          <p:cNvPr id="419" name="Google Shape;419;p30" title="{&quot;red&quot;:255,&quot;green&quot;:255,&quot;blue&quot;:255,&quot;origURL&quot;:&quot;https://saxarona.github.io/mathjax-viewer/?input=%5Cfrac%7B%5Cpartial%20v%7D%7B%5Cpartial%20t%7D%20%2B%20u%20%5Cfrac%7B%5Cpartial%20v%7D%7B%5Cpartial%20x%7D%20%2B%20v%20%5Cfrac%7B%5Cpartial%20v%7D%7B%5Cpartial%20y%7D%20%3D%20-%5Cfrac%7B%5Cpartial%20p%7D%7B%5Cpartial%20y%7D%20%2B%20%5Cfrac%7B1%7D%7BRe%7D%20%5Cleft(%20%5Cfrac%7B%5Cpartial%5E2%20v%7D%7B%5Cpartial%20x%5E2%7D%20%2B%20%5Cfrac%7B%5Cpartial%5E2%20v%7D%7B%5Cpartial%20y%5E2%7D%20%5Cright)#2&quot;,&quot;size&quot;:7.862500190734863,&quot;width&quot;:285,&quot;height&quot;:281.244094488189,&quot;slideId&quot;:&quot;g3fbb57816df_5_13&quot;,&quot;pageElementId&quot;:&quot;g3fbb6856301_2_250&quot;,&quot;spaceCount&quot;:82,&quot;spaceStart&quot;:112}"/>
          <p:cNvPicPr preferRelativeResize="0"/>
          <p:nvPr/>
        </p:nvPicPr>
        <p:blipFill>
          <a:blip r:embed="rId13">
            <a:alphaModFix/>
          </a:blip>
          <a:stretch>
            <a:fillRect/>
          </a:stretch>
        </p:blipFill>
        <p:spPr>
          <a:xfrm>
            <a:off x="521184" y="2531901"/>
            <a:ext cx="3634755" cy="422225"/>
          </a:xfrm>
          <a:prstGeom prst="rect">
            <a:avLst/>
          </a:prstGeom>
          <a:noFill/>
          <a:ln>
            <a:noFill/>
          </a:ln>
        </p:spPr>
      </p:pic>
      <p:pic>
        <p:nvPicPr>
          <p:cNvPr id="420" name="Google Shape;420;p30" title="{&quot;red&quot;:255,&quot;green&quot;:255,&quot;blue&quot;:255,&quot;origURL&quot;:&quot;https://saxarona.github.io/mathjax-viewer/?input=%5Cnabla%20%5Ccdot%20%5Cmathbf%7Bu%7D%20%3D%20%5Cfrac%7B%5Cpartial%20u%7D%7B%5Cpartial%20x%7D%20%2B%20%5Cfrac%7B%5Cpartial%20v%7D%7B%5Cpartial%20y%7D%20%3D%200#2&quot;,&quot;size&quot;:7.862500190734863,&quot;width&quot;:285,&quot;height&quot;:281.244094488189,&quot;slideId&quot;:&quot;g3fbb57816df_5_13&quot;,&quot;pageElementId&quot;:&quot;g3fbb6856301_2_250&quot;,&quot;spaceCount&quot;:38,&quot;spaceStart&quot;:216}"/>
          <p:cNvPicPr preferRelativeResize="0"/>
          <p:nvPr/>
        </p:nvPicPr>
        <p:blipFill>
          <a:blip r:embed="rId14">
            <a:alphaModFix/>
          </a:blip>
          <a:stretch>
            <a:fillRect/>
          </a:stretch>
        </p:blipFill>
        <p:spPr>
          <a:xfrm>
            <a:off x="1417924" y="3476676"/>
            <a:ext cx="1562375" cy="368675"/>
          </a:xfrm>
          <a:prstGeom prst="rect">
            <a:avLst/>
          </a:prstGeom>
          <a:noFill/>
          <a:ln>
            <a:noFill/>
          </a:ln>
        </p:spPr>
      </p:pic>
      <p:pic>
        <p:nvPicPr>
          <p:cNvPr id="421" name="Google Shape;421;p30" title="{&quot;red&quot;:255,&quot;green&quot;:255,&quot;blue&quot;:255,&quot;origURL&quot;:&quot;https://saxarona.github.io/mathjax-viewer/?input=%5Cfrac%7B%5Cpartial%20u%7D%7B%5Cpartial%20t%7D%20%2B%20u%20%5Cfrac%7B%5Cpartial%20u%7D%7B%5Cpartial%20x%7D%20%2B%20v%20%5Cfrac%7B%5Cpartial%20u%7D%7B%5Cpartial%20y%7D%20%3D%20-%5Cfrac%7B%5Cpartial%20p%7D%7B%5Cpartial%20x%7D%20%2B%20%5Cfrac%7B1%7D%7BRe%7D%20%5Cleft(%20%5Cfrac%7B%5Cpartial%5E2%20u%7D%7B%5Cpartial%20x%5E2%7D%20%2B%20%5Cfrac%7B%5Cpartial%5E2%20u%7D%7B%5Cpartial%20y%5E2%7D%20%5Cright)#2&quot;,&quot;size&quot;:7.862500190734863,&quot;width&quot;:285,&quot;height&quot;:281.244094488189,&quot;slideId&quot;:&quot;g3fbb57816df_5_13&quot;,&quot;pageElementId&quot;:&quot;g3fbb6856301_2_250&quot;,&quot;spaceCount&quot;:82,&quot;spaceStart&quot;:257}"/>
          <p:cNvPicPr preferRelativeResize="0"/>
          <p:nvPr/>
        </p:nvPicPr>
        <p:blipFill>
          <a:blip r:embed="rId15">
            <a:alphaModFix/>
          </a:blip>
          <a:stretch>
            <a:fillRect/>
          </a:stretch>
        </p:blipFill>
        <p:spPr>
          <a:xfrm>
            <a:off x="536272" y="1965380"/>
            <a:ext cx="3689976" cy="422225"/>
          </a:xfrm>
          <a:prstGeom prst="rect">
            <a:avLst/>
          </a:prstGeom>
          <a:noFill/>
          <a:ln>
            <a:noFill/>
          </a:ln>
        </p:spPr>
      </p:pic>
      <p:pic>
        <p:nvPicPr>
          <p:cNvPr id="422" name="Google Shape;422;p30" title="{&quot;red&quot;:255,&quot;green&quot;:255,&quot;blue&quot;:255,&quot;origURL&quot;:&quot;https://saxarona.github.io/mathjax-viewer/?input=g%20%3A%3D%20v_t%20%2B%20%5Clambda_1%20(u%20v_x%20%2B%20v%20v_y)%20%2B%20p_y%20-%20%5Clambda_2%20(v_%7Bxx%7D%20%2B%20v_%7Byy%7D)%20%3D%200#2&quot;,&quot;size&quot;:8.5,&quot;width&quot;:300,&quot;height&quot;:27.30708661417323,&quot;slideId&quot;:&quot;g3fbb57816df_5_13&quot;,&quot;pageElementId&quot;:&quot;SLIDES_API2019528863_0&quot;,&quot;spaceCount&quot;:77,&quot;spaceStart&quot;:0}"/>
          <p:cNvPicPr preferRelativeResize="0"/>
          <p:nvPr/>
        </p:nvPicPr>
        <p:blipFill>
          <a:blip r:embed="rId16">
            <a:alphaModFix/>
          </a:blip>
          <a:stretch>
            <a:fillRect/>
          </a:stretch>
        </p:blipFill>
        <p:spPr>
          <a:xfrm>
            <a:off x="4806725" y="2531890"/>
            <a:ext cx="3634750" cy="1739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6" name="Shape 426"/>
        <p:cNvGrpSpPr/>
        <p:nvPr/>
      </p:nvGrpSpPr>
      <p:grpSpPr>
        <a:xfrm>
          <a:off x="0" y="0"/>
          <a:ext cx="0" cy="0"/>
          <a:chOff x="0" y="0"/>
          <a:chExt cx="0" cy="0"/>
        </a:xfrm>
      </p:grpSpPr>
      <p:grpSp>
        <p:nvGrpSpPr>
          <p:cNvPr id="427" name="Google Shape;427;p31"/>
          <p:cNvGrpSpPr/>
          <p:nvPr/>
        </p:nvGrpSpPr>
        <p:grpSpPr>
          <a:xfrm>
            <a:off x="381000" y="238125"/>
            <a:ext cx="8382000" cy="571500"/>
            <a:chOff x="0" y="0"/>
            <a:chExt cx="8382000" cy="571500"/>
          </a:xfrm>
        </p:grpSpPr>
        <p:sp>
          <p:nvSpPr>
            <p:cNvPr id="428" name="Google Shape;428;p31"/>
            <p:cNvSpPr/>
            <p:nvPr/>
          </p:nvSpPr>
          <p:spPr>
            <a:xfrm>
              <a:off x="0" y="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31"/>
            <p:cNvSpPr txBox="1"/>
            <p:nvPr/>
          </p:nvSpPr>
          <p:spPr>
            <a:xfrm>
              <a:off x="0" y="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065">
                  <a:solidFill>
                    <a:srgbClr val="F8F9FA"/>
                  </a:solidFill>
                  <a:latin typeface="Inter"/>
                  <a:ea typeface="Inter"/>
                  <a:cs typeface="Inter"/>
                  <a:sym typeface="Inter"/>
                </a:rPr>
                <a:t>Navier-Stokes Case Study – Modeling and Training Parameters</a:t>
              </a:r>
              <a:endParaRPr b="1" sz="2065">
                <a:solidFill>
                  <a:srgbClr val="F8F9FA"/>
                </a:solidFill>
                <a:latin typeface="Inter"/>
                <a:ea typeface="Inter"/>
                <a:cs typeface="Inter"/>
                <a:sym typeface="Inter"/>
              </a:endParaRPr>
            </a:p>
            <a:p>
              <a:pPr indent="0" lvl="0" marL="0" rtl="0" algn="l">
                <a:spcBef>
                  <a:spcPts val="300"/>
                </a:spcBef>
                <a:spcAft>
                  <a:spcPts val="0"/>
                </a:spcAft>
                <a:buNone/>
              </a:pPr>
              <a:r>
                <a:t/>
              </a:r>
              <a:endParaRPr b="0" sz="970">
                <a:solidFill>
                  <a:srgbClr val="94A3B8"/>
                </a:solidFill>
                <a:latin typeface="Inter"/>
                <a:ea typeface="Inter"/>
                <a:cs typeface="Inter"/>
                <a:sym typeface="Inter"/>
              </a:endParaRPr>
            </a:p>
          </p:txBody>
        </p:sp>
      </p:grpSp>
      <p:cxnSp>
        <p:nvCxnSpPr>
          <p:cNvPr id="430" name="Google Shape;430;p31"/>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431" name="Google Shape;431;p31"/>
          <p:cNvGrpSpPr/>
          <p:nvPr/>
        </p:nvGrpSpPr>
        <p:grpSpPr>
          <a:xfrm>
            <a:off x="381000" y="1028700"/>
            <a:ext cx="2571900" cy="3876600"/>
            <a:chOff x="0" y="0"/>
            <a:chExt cx="2571900" cy="3876600"/>
          </a:xfrm>
        </p:grpSpPr>
        <p:sp>
          <p:nvSpPr>
            <p:cNvPr id="432" name="Google Shape;432;p31"/>
            <p:cNvSpPr/>
            <p:nvPr/>
          </p:nvSpPr>
          <p:spPr>
            <a:xfrm>
              <a:off x="0" y="0"/>
              <a:ext cx="2571900" cy="3876600"/>
            </a:xfrm>
            <a:prstGeom prst="roundRect">
              <a:avLst>
                <a:gd fmla="val 222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31"/>
            <p:cNvSpPr/>
            <p:nvPr/>
          </p:nvSpPr>
          <p:spPr>
            <a:xfrm>
              <a:off x="0" y="0"/>
              <a:ext cx="28500" cy="38766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31"/>
            <p:cNvSpPr txBox="1"/>
            <p:nvPr/>
          </p:nvSpPr>
          <p:spPr>
            <a:xfrm>
              <a:off x="152400" y="152400"/>
              <a:ext cx="2267100" cy="3571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3B82F6"/>
                  </a:solidFill>
                  <a:latin typeface="Inter"/>
                  <a:ea typeface="Inter"/>
                  <a:cs typeface="Inter"/>
                  <a:sym typeface="Inter"/>
                </a:rPr>
                <a:t>HYPERPARAMETERS &amp; SETUP</a:t>
              </a:r>
              <a:endParaRPr b="1" sz="800">
                <a:solidFill>
                  <a:srgbClr val="3B82F6"/>
                </a:solidFill>
                <a:latin typeface="Inter"/>
                <a:ea typeface="Inter"/>
                <a:cs typeface="Inter"/>
                <a:sym typeface="Inter"/>
              </a:endParaRPr>
            </a:p>
            <a:p>
              <a:pPr indent="0" lvl="0" marL="0" rtl="0" algn="l">
                <a:spcBef>
                  <a:spcPts val="300"/>
                </a:spcBef>
                <a:spcAft>
                  <a:spcPts val="0"/>
                </a:spcAft>
                <a:buNone/>
              </a:pPr>
              <a:r>
                <a:rPr b="0" lang="it" sz="1100">
                  <a:solidFill>
                    <a:srgbClr val="F8F9FA"/>
                  </a:solidFill>
                  <a:latin typeface="Inter SemiBold"/>
                  <a:ea typeface="Inter SemiBold"/>
                  <a:cs typeface="Inter SemiBold"/>
                  <a:sym typeface="Inter SemiBold"/>
                </a:rPr>
                <a:t>Model Architecture</a:t>
              </a:r>
              <a:endParaRPr b="1" sz="800">
                <a:solidFill>
                  <a:srgbClr val="3B82F6"/>
                </a:solidFill>
                <a:latin typeface="Inter"/>
                <a:ea typeface="Inter"/>
                <a:cs typeface="Inter"/>
                <a:sym typeface="Inter"/>
              </a:endParaRPr>
            </a:p>
            <a:p>
              <a:pPr indent="0" lvl="0" marL="0" rtl="0" algn="l">
                <a:spcBef>
                  <a:spcPts val="1400"/>
                </a:spcBef>
                <a:spcAft>
                  <a:spcPts val="0"/>
                </a:spcAft>
                <a:buNone/>
              </a:pPr>
              <a:r>
                <a:rPr b="0" lang="it" sz="850">
                  <a:solidFill>
                    <a:srgbClr val="3B82F6"/>
                  </a:solidFill>
                  <a:latin typeface="Inter SemiBold"/>
                  <a:ea typeface="Inter SemiBold"/>
                  <a:cs typeface="Inter SemiBold"/>
                  <a:sym typeface="Inter SemiBold"/>
                </a:rPr>
                <a:t>• Activation</a:t>
              </a:r>
              <a:endParaRPr b="1" sz="800">
                <a:solidFill>
                  <a:srgbClr val="3B82F6"/>
                </a:solidFill>
                <a:latin typeface="Inter"/>
                <a:ea typeface="Inter"/>
                <a:cs typeface="Inter"/>
                <a:sym typeface="Inter"/>
              </a:endParaRPr>
            </a:p>
            <a:p>
              <a:pPr indent="0" lvl="0" marL="0" rtl="0" algn="l">
                <a:spcBef>
                  <a:spcPts val="100"/>
                </a:spcBef>
                <a:spcAft>
                  <a:spcPts val="0"/>
                </a:spcAft>
                <a:buNone/>
              </a:pPr>
              <a:r>
                <a:rPr b="0" lang="it" sz="850">
                  <a:solidFill>
                    <a:srgbClr val="F8F9FA"/>
                  </a:solidFill>
                  <a:latin typeface="Inter"/>
                  <a:ea typeface="Inter"/>
                  <a:cs typeface="Inter"/>
                  <a:sym typeface="Inter"/>
                </a:rPr>
                <a:t>tanh</a:t>
              </a:r>
              <a:endParaRPr b="1" sz="800">
                <a:solidFill>
                  <a:srgbClr val="3B82F6"/>
                </a:solidFill>
                <a:latin typeface="Inter"/>
                <a:ea typeface="Inter"/>
                <a:cs typeface="Inter"/>
                <a:sym typeface="Inter"/>
              </a:endParaRPr>
            </a:p>
            <a:p>
              <a:pPr indent="0" lvl="0" marL="0" rtl="0" algn="l">
                <a:spcBef>
                  <a:spcPts val="1000"/>
                </a:spcBef>
                <a:spcAft>
                  <a:spcPts val="0"/>
                </a:spcAft>
                <a:buNone/>
              </a:pPr>
              <a:r>
                <a:rPr b="0" lang="it" sz="850">
                  <a:solidFill>
                    <a:srgbClr val="3B82F6"/>
                  </a:solidFill>
                  <a:latin typeface="Inter SemiBold"/>
                  <a:ea typeface="Inter SemiBold"/>
                  <a:cs typeface="Inter SemiBold"/>
                  <a:sym typeface="Inter SemiBold"/>
                </a:rPr>
                <a:t>• Layers &amp; Neurons</a:t>
              </a:r>
              <a:endParaRPr b="1" sz="800">
                <a:solidFill>
                  <a:srgbClr val="3B82F6"/>
                </a:solidFill>
                <a:latin typeface="Inter"/>
                <a:ea typeface="Inter"/>
                <a:cs typeface="Inter"/>
                <a:sym typeface="Inter"/>
              </a:endParaRPr>
            </a:p>
            <a:p>
              <a:pPr indent="0" lvl="0" marL="0" rtl="0" algn="l">
                <a:spcBef>
                  <a:spcPts val="100"/>
                </a:spcBef>
                <a:spcAft>
                  <a:spcPts val="0"/>
                </a:spcAft>
                <a:buNone/>
              </a:pPr>
              <a:r>
                <a:rPr lang="it" sz="850">
                  <a:solidFill>
                    <a:srgbClr val="F8F9FA"/>
                  </a:solidFill>
                  <a:latin typeface="Inter"/>
                  <a:ea typeface="Inter"/>
                  <a:cs typeface="Inter"/>
                  <a:sym typeface="Inter"/>
                </a:rPr>
                <a:t>1 network with 9</a:t>
              </a:r>
              <a:r>
                <a:rPr b="0" lang="it" sz="850">
                  <a:solidFill>
                    <a:srgbClr val="F8F9FA"/>
                  </a:solidFill>
                  <a:latin typeface="Inter"/>
                  <a:ea typeface="Inter"/>
                  <a:cs typeface="Inter"/>
                  <a:sym typeface="Inter"/>
                </a:rPr>
                <a:t> FC layers × 20 neurons, 2 outputs</a:t>
              </a:r>
              <a:endParaRPr b="1" sz="800">
                <a:solidFill>
                  <a:srgbClr val="3B82F6"/>
                </a:solidFill>
                <a:latin typeface="Inter"/>
                <a:ea typeface="Inter"/>
                <a:cs typeface="Inter"/>
                <a:sym typeface="Inter"/>
              </a:endParaRPr>
            </a:p>
            <a:p>
              <a:pPr indent="0" lvl="0" marL="0" rtl="0" algn="l">
                <a:spcBef>
                  <a:spcPts val="1000"/>
                </a:spcBef>
                <a:spcAft>
                  <a:spcPts val="0"/>
                </a:spcAft>
                <a:buNone/>
              </a:pPr>
              <a:r>
                <a:rPr b="0" lang="it" sz="850">
                  <a:solidFill>
                    <a:srgbClr val="3B82F6"/>
                  </a:solidFill>
                  <a:latin typeface="Inter SemiBold"/>
                  <a:ea typeface="Inter SemiBold"/>
                  <a:cs typeface="Inter SemiBold"/>
                  <a:sym typeface="Inter SemiBold"/>
                </a:rPr>
                <a:t>• Optimization</a:t>
              </a:r>
              <a:endParaRPr b="1" sz="800">
                <a:solidFill>
                  <a:srgbClr val="3B82F6"/>
                </a:solidFill>
                <a:latin typeface="Inter"/>
                <a:ea typeface="Inter"/>
                <a:cs typeface="Inter"/>
                <a:sym typeface="Inter"/>
              </a:endParaRPr>
            </a:p>
            <a:p>
              <a:pPr indent="0" lvl="0" marL="0" rtl="0" algn="l">
                <a:spcBef>
                  <a:spcPts val="100"/>
                </a:spcBef>
                <a:spcAft>
                  <a:spcPts val="0"/>
                </a:spcAft>
                <a:buNone/>
              </a:pPr>
              <a:r>
                <a:rPr b="0" lang="it" sz="850">
                  <a:solidFill>
                    <a:srgbClr val="F8F9FA"/>
                  </a:solidFill>
                  <a:latin typeface="Inter"/>
                  <a:ea typeface="Inter"/>
                  <a:cs typeface="Inter"/>
                  <a:sym typeface="Inter"/>
                </a:rPr>
                <a:t>Adam(200k) + L-BFGS (</a:t>
              </a:r>
              <a:r>
                <a:rPr lang="it" sz="850">
                  <a:solidFill>
                    <a:srgbClr val="F8F9FA"/>
                  </a:solidFill>
                  <a:latin typeface="Inter"/>
                  <a:ea typeface="Inter"/>
                  <a:cs typeface="Inter"/>
                  <a:sym typeface="Inter"/>
                </a:rPr>
                <a:t>5</a:t>
              </a:r>
              <a:r>
                <a:rPr b="0" lang="it" sz="850">
                  <a:solidFill>
                    <a:srgbClr val="F8F9FA"/>
                  </a:solidFill>
                  <a:latin typeface="Inter"/>
                  <a:ea typeface="Inter"/>
                  <a:cs typeface="Inter"/>
                  <a:sym typeface="Inter"/>
                </a:rPr>
                <a:t>0k)</a:t>
              </a:r>
              <a:endParaRPr b="1" sz="800">
                <a:solidFill>
                  <a:srgbClr val="3B82F6"/>
                </a:solidFill>
                <a:latin typeface="Inter"/>
                <a:ea typeface="Inter"/>
                <a:cs typeface="Inter"/>
                <a:sym typeface="Inter"/>
              </a:endParaRPr>
            </a:p>
            <a:p>
              <a:pPr indent="0" lvl="0" marL="0" rtl="0" algn="l">
                <a:spcBef>
                  <a:spcPts val="1000"/>
                </a:spcBef>
                <a:spcAft>
                  <a:spcPts val="0"/>
                </a:spcAft>
                <a:buNone/>
              </a:pPr>
              <a:r>
                <a:rPr b="0" lang="it" sz="850">
                  <a:solidFill>
                    <a:srgbClr val="3B82F6"/>
                  </a:solidFill>
                  <a:latin typeface="Inter SemiBold"/>
                  <a:ea typeface="Inter SemiBold"/>
                  <a:cs typeface="Inter SemiBold"/>
                  <a:sym typeface="Inter SemiBold"/>
                </a:rPr>
                <a:t>• Learning Rate</a:t>
              </a:r>
              <a:endParaRPr b="1" sz="800">
                <a:solidFill>
                  <a:srgbClr val="3B82F6"/>
                </a:solidFill>
                <a:latin typeface="Inter"/>
                <a:ea typeface="Inter"/>
                <a:cs typeface="Inter"/>
                <a:sym typeface="Inter"/>
              </a:endParaRPr>
            </a:p>
            <a:p>
              <a:pPr indent="0" lvl="0" marL="0" rtl="0" algn="l">
                <a:spcBef>
                  <a:spcPts val="100"/>
                </a:spcBef>
                <a:spcAft>
                  <a:spcPts val="0"/>
                </a:spcAft>
                <a:buNone/>
              </a:pPr>
              <a:r>
                <a:rPr b="0" lang="it" sz="850">
                  <a:solidFill>
                    <a:srgbClr val="F8F9FA"/>
                  </a:solidFill>
                  <a:latin typeface="Inter"/>
                  <a:ea typeface="Inter"/>
                  <a:cs typeface="Inter"/>
                  <a:sym typeface="Inter"/>
                </a:rPr>
                <a:t>η₀ = 10⁻³ </a:t>
              </a:r>
              <a:r>
                <a:rPr lang="it" sz="850">
                  <a:solidFill>
                    <a:srgbClr val="F8F9FA"/>
                  </a:solidFill>
                  <a:latin typeface="Inter"/>
                  <a:ea typeface="Inter"/>
                  <a:cs typeface="Inter"/>
                  <a:sym typeface="Inter"/>
                </a:rPr>
                <a:t>fixed</a:t>
              </a:r>
              <a:endParaRPr b="1" sz="800">
                <a:solidFill>
                  <a:srgbClr val="3B82F6"/>
                </a:solidFill>
                <a:latin typeface="Inter"/>
                <a:ea typeface="Inter"/>
                <a:cs typeface="Inter"/>
                <a:sym typeface="Inter"/>
              </a:endParaRPr>
            </a:p>
            <a:p>
              <a:pPr indent="0" lvl="0" marL="0" rtl="0" algn="l">
                <a:spcBef>
                  <a:spcPts val="1000"/>
                </a:spcBef>
                <a:spcAft>
                  <a:spcPts val="0"/>
                </a:spcAft>
                <a:buNone/>
              </a:pPr>
              <a:r>
                <a:rPr b="0" lang="it" sz="850">
                  <a:solidFill>
                    <a:srgbClr val="3B82F6"/>
                  </a:solidFill>
                  <a:latin typeface="Inter SemiBold"/>
                  <a:ea typeface="Inter SemiBold"/>
                  <a:cs typeface="Inter SemiBold"/>
                  <a:sym typeface="Inter SemiBold"/>
                </a:rPr>
                <a:t>• Sampling Points</a:t>
              </a:r>
              <a:endParaRPr b="1" sz="800">
                <a:solidFill>
                  <a:srgbClr val="3B82F6"/>
                </a:solidFill>
                <a:latin typeface="Inter"/>
                <a:ea typeface="Inter"/>
                <a:cs typeface="Inter"/>
                <a:sym typeface="Inter"/>
              </a:endParaRPr>
            </a:p>
            <a:p>
              <a:pPr indent="0" lvl="0" marL="0" rtl="0" algn="l">
                <a:spcBef>
                  <a:spcPts val="100"/>
                </a:spcBef>
                <a:spcAft>
                  <a:spcPts val="0"/>
                </a:spcAft>
                <a:buNone/>
              </a:pPr>
              <a:r>
                <a:rPr b="0" lang="it" sz="850">
                  <a:solidFill>
                    <a:srgbClr val="F8F9FA"/>
                  </a:solidFill>
                  <a:latin typeface="Inter"/>
                  <a:ea typeface="Inter"/>
                  <a:cs typeface="Inter"/>
                  <a:sym typeface="Inter"/>
                </a:rPr>
                <a:t>N = 5,000 </a:t>
              </a:r>
              <a:r>
                <a:rPr lang="it" sz="850">
                  <a:solidFill>
                    <a:srgbClr val="F8F9FA"/>
                  </a:solidFill>
                  <a:latin typeface="Inter"/>
                  <a:ea typeface="Inter"/>
                  <a:cs typeface="Inter"/>
                  <a:sym typeface="Inter"/>
                </a:rPr>
                <a:t>(1% of total data)</a:t>
              </a:r>
              <a:endParaRPr b="1" sz="800">
                <a:solidFill>
                  <a:srgbClr val="3B82F6"/>
                </a:solidFill>
                <a:latin typeface="Inter"/>
                <a:ea typeface="Inter"/>
                <a:cs typeface="Inter"/>
                <a:sym typeface="Inter"/>
              </a:endParaRPr>
            </a:p>
          </p:txBody>
        </p:sp>
      </p:grpSp>
      <p:grpSp>
        <p:nvGrpSpPr>
          <p:cNvPr id="435" name="Google Shape;435;p31"/>
          <p:cNvGrpSpPr/>
          <p:nvPr/>
        </p:nvGrpSpPr>
        <p:grpSpPr>
          <a:xfrm>
            <a:off x="3143250" y="1028700"/>
            <a:ext cx="5619900" cy="3876600"/>
            <a:chOff x="0" y="0"/>
            <a:chExt cx="5619900" cy="3876600"/>
          </a:xfrm>
        </p:grpSpPr>
        <p:sp>
          <p:nvSpPr>
            <p:cNvPr id="436" name="Google Shape;436;p31"/>
            <p:cNvSpPr/>
            <p:nvPr/>
          </p:nvSpPr>
          <p:spPr>
            <a:xfrm>
              <a:off x="0" y="0"/>
              <a:ext cx="5619900" cy="3876600"/>
            </a:xfrm>
            <a:prstGeom prst="roundRect">
              <a:avLst>
                <a:gd fmla="val 147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31"/>
            <p:cNvSpPr/>
            <p:nvPr/>
          </p:nvSpPr>
          <p:spPr>
            <a:xfrm>
              <a:off x="0" y="0"/>
              <a:ext cx="28500" cy="38766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31"/>
            <p:cNvSpPr txBox="1"/>
            <p:nvPr/>
          </p:nvSpPr>
          <p:spPr>
            <a:xfrm>
              <a:off x="190500" y="152400"/>
              <a:ext cx="52389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10B981"/>
                  </a:solidFill>
                  <a:latin typeface="Inter"/>
                  <a:ea typeface="Inter"/>
                  <a:cs typeface="Inter"/>
                  <a:sym typeface="Inter"/>
                </a:rPr>
                <a:t>REPRESENTATIVE FLOW FIELDS</a:t>
              </a:r>
              <a:endParaRPr b="1" sz="800">
                <a:solidFill>
                  <a:srgbClr val="10B981"/>
                </a:solidFill>
                <a:latin typeface="Inter"/>
                <a:ea typeface="Inter"/>
                <a:cs typeface="Inter"/>
                <a:sym typeface="Inter"/>
              </a:endParaRPr>
            </a:p>
            <a:p>
              <a:pPr indent="0" lvl="0" marL="0" rtl="0" algn="l">
                <a:spcBef>
                  <a:spcPts val="200"/>
                </a:spcBef>
                <a:spcAft>
                  <a:spcPts val="0"/>
                </a:spcAft>
                <a:buNone/>
              </a:pPr>
              <a:r>
                <a:rPr b="0" lang="it" sz="1000">
                  <a:solidFill>
                    <a:srgbClr val="F8F9FA"/>
                  </a:solidFill>
                  <a:latin typeface="Inter SemiBold"/>
                  <a:ea typeface="Inter SemiBold"/>
                  <a:cs typeface="Inter SemiBold"/>
                  <a:sym typeface="Inter SemiBold"/>
                </a:rPr>
                <a:t>Velocity (u, v) </a:t>
              </a:r>
              <a:r>
                <a:rPr lang="it" sz="1000">
                  <a:solidFill>
                    <a:srgbClr val="F8F9FA"/>
                  </a:solidFill>
                  <a:latin typeface="Inter SemiBold"/>
                  <a:ea typeface="Inter SemiBold"/>
                  <a:cs typeface="Inter SemiBold"/>
                  <a:sym typeface="Inter SemiBold"/>
                </a:rPr>
                <a:t>data points</a:t>
              </a:r>
              <a:endParaRPr b="1" sz="800">
                <a:solidFill>
                  <a:srgbClr val="10B981"/>
                </a:solidFill>
                <a:latin typeface="Inter"/>
                <a:ea typeface="Inter"/>
                <a:cs typeface="Inter"/>
                <a:sym typeface="Inter"/>
              </a:endParaRPr>
            </a:p>
          </p:txBody>
        </p:sp>
      </p:grpSp>
      <p:pic>
        <p:nvPicPr>
          <p:cNvPr id="439" name="Google Shape;439;p31"/>
          <p:cNvPicPr preferRelativeResize="0"/>
          <p:nvPr/>
        </p:nvPicPr>
        <p:blipFill>
          <a:blip r:embed="rId4">
            <a:alphaModFix/>
          </a:blip>
          <a:stretch>
            <a:fillRect/>
          </a:stretch>
        </p:blipFill>
        <p:spPr>
          <a:xfrm>
            <a:off x="3773350" y="1545375"/>
            <a:ext cx="4305551" cy="3221875"/>
          </a:xfrm>
          <a:prstGeom prst="rect">
            <a:avLst/>
          </a:prstGeom>
          <a:solidFill>
            <a:srgbClr val="161A20"/>
          </a:solidFill>
          <a:ln cap="flat" cmpd="sng" w="9525">
            <a:solidFill>
              <a:srgbClr val="272D35"/>
            </a:solidFill>
            <a:prstDash val="solid"/>
            <a:round/>
            <a:headEnd len="sm" w="sm" type="none"/>
            <a:tailEnd len="sm" w="sm" type="none"/>
          </a:ln>
        </p:spPr>
      </p:pic>
      <p:sp>
        <p:nvSpPr>
          <p:cNvPr id="440" name="Google Shape;44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4" name="Shape 444"/>
        <p:cNvGrpSpPr/>
        <p:nvPr/>
      </p:nvGrpSpPr>
      <p:grpSpPr>
        <a:xfrm>
          <a:off x="0" y="0"/>
          <a:ext cx="0" cy="0"/>
          <a:chOff x="0" y="0"/>
          <a:chExt cx="0" cy="0"/>
        </a:xfrm>
      </p:grpSpPr>
      <p:sp>
        <p:nvSpPr>
          <p:cNvPr id="445" name="Google Shape;445;p32"/>
          <p:cNvSpPr txBox="1"/>
          <p:nvPr/>
        </p:nvSpPr>
        <p:spPr>
          <a:xfrm>
            <a:off x="381000" y="238125"/>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600">
                <a:solidFill>
                  <a:srgbClr val="F8F9FA"/>
                </a:solidFill>
                <a:latin typeface="Inter"/>
                <a:ea typeface="Inter"/>
                <a:cs typeface="Inter"/>
                <a:sym typeface="Inter"/>
              </a:rPr>
              <a:t>Navier-Stokes Results – Accuracy &amp; Pressure Field</a:t>
            </a:r>
            <a:endParaRPr b="1" sz="2600">
              <a:solidFill>
                <a:srgbClr val="F8F9FA"/>
              </a:solidFill>
              <a:latin typeface="Inter"/>
              <a:ea typeface="Inter"/>
              <a:cs typeface="Inter"/>
              <a:sym typeface="Inter"/>
            </a:endParaRPr>
          </a:p>
          <a:p>
            <a:pPr indent="0" lvl="0" marL="0" rtl="0" algn="l">
              <a:spcBef>
                <a:spcPts val="300"/>
              </a:spcBef>
              <a:spcAft>
                <a:spcPts val="0"/>
              </a:spcAft>
              <a:buNone/>
            </a:pPr>
            <a:r>
              <a:t/>
            </a:r>
            <a:endParaRPr b="0" sz="1050">
              <a:solidFill>
                <a:srgbClr val="94A3B8"/>
              </a:solidFill>
              <a:latin typeface="Inter"/>
              <a:ea typeface="Inter"/>
              <a:cs typeface="Inter"/>
              <a:sym typeface="Inter"/>
            </a:endParaRPr>
          </a:p>
        </p:txBody>
      </p:sp>
      <p:cxnSp>
        <p:nvCxnSpPr>
          <p:cNvPr id="446" name="Google Shape;446;p32"/>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447" name="Google Shape;447;p32"/>
          <p:cNvGrpSpPr/>
          <p:nvPr/>
        </p:nvGrpSpPr>
        <p:grpSpPr>
          <a:xfrm>
            <a:off x="381000" y="2714625"/>
            <a:ext cx="4000500" cy="2047800"/>
            <a:chOff x="0" y="1685925"/>
            <a:chExt cx="4000500" cy="2047800"/>
          </a:xfrm>
        </p:grpSpPr>
        <p:sp>
          <p:nvSpPr>
            <p:cNvPr id="448" name="Google Shape;448;p32"/>
            <p:cNvSpPr/>
            <p:nvPr/>
          </p:nvSpPr>
          <p:spPr>
            <a:xfrm>
              <a:off x="0" y="1685925"/>
              <a:ext cx="4000500" cy="2047800"/>
            </a:xfrm>
            <a:prstGeom prst="roundRect">
              <a:avLst>
                <a:gd fmla="val 279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32"/>
            <p:cNvSpPr/>
            <p:nvPr/>
          </p:nvSpPr>
          <p:spPr>
            <a:xfrm>
              <a:off x="0" y="1685925"/>
              <a:ext cx="28500" cy="20478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32"/>
            <p:cNvSpPr txBox="1"/>
            <p:nvPr/>
          </p:nvSpPr>
          <p:spPr>
            <a:xfrm>
              <a:off x="190500" y="1819275"/>
              <a:ext cx="3619500" cy="1781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a:solidFill>
                    <a:srgbClr val="3B82F6"/>
                  </a:solidFill>
                  <a:latin typeface="Inter"/>
                  <a:ea typeface="Inter"/>
                  <a:cs typeface="Inter"/>
                  <a:sym typeface="Inter"/>
                </a:rPr>
                <a:t>QUANTITATIVE VALIDATION</a:t>
              </a:r>
              <a:endParaRPr b="1" i="0" sz="800">
                <a:solidFill>
                  <a:srgbClr val="3B82F6"/>
                </a:solidFill>
                <a:latin typeface="Inter"/>
                <a:ea typeface="Inter"/>
                <a:cs typeface="Inter"/>
                <a:sym typeface="Inter"/>
              </a:endParaRPr>
            </a:p>
            <a:p>
              <a:pPr indent="0" lvl="0" marL="0" rtl="0" algn="l">
                <a:spcBef>
                  <a:spcPts val="200"/>
                </a:spcBef>
                <a:spcAft>
                  <a:spcPts val="0"/>
                </a:spcAft>
                <a:buNone/>
              </a:pPr>
              <a:r>
                <a:rPr b="0" i="0" lang="it" sz="1100">
                  <a:solidFill>
                    <a:srgbClr val="F8F9FA"/>
                  </a:solidFill>
                  <a:latin typeface="Inter SemiBold"/>
                  <a:ea typeface="Inter SemiBold"/>
                  <a:cs typeface="Inter SemiBold"/>
                  <a:sym typeface="Inter SemiBold"/>
                </a:rPr>
                <a:t>Robust Parameter Identification</a:t>
              </a:r>
              <a:endParaRPr b="1" i="0" sz="800">
                <a:solidFill>
                  <a:srgbClr val="3B82F6"/>
                </a:solidFill>
                <a:latin typeface="Inter"/>
                <a:ea typeface="Inter"/>
                <a:cs typeface="Inter"/>
                <a:sym typeface="Inter"/>
              </a:endParaRPr>
            </a:p>
            <a:p>
              <a:pPr indent="0" lvl="0" marL="0" rtl="0" algn="l">
                <a:spcBef>
                  <a:spcPts val="600"/>
                </a:spcBef>
                <a:spcAft>
                  <a:spcPts val="0"/>
                </a:spcAft>
                <a:buNone/>
              </a:pPr>
              <a:r>
                <a:rPr b="0" i="0" lang="it" sz="850">
                  <a:solidFill>
                    <a:srgbClr val="94A3B8"/>
                  </a:solidFill>
                  <a:latin typeface="Inter"/>
                  <a:ea typeface="Inter"/>
                  <a:cs typeface="Inter"/>
                  <a:sym typeface="Inter"/>
                </a:rPr>
                <a:t>Inverse estimation of physical coefficients </a:t>
              </a:r>
              <a:r>
                <a:rPr b="0" i="0" lang="it" sz="850">
                  <a:solidFill>
                    <a:srgbClr val="F8F9FA"/>
                  </a:solidFill>
                  <a:latin typeface="Inter SemiBold"/>
                  <a:ea typeface="Inter SemiBold"/>
                  <a:cs typeface="Inter SemiBold"/>
                  <a:sym typeface="Inter SemiBold"/>
                </a:rPr>
                <a:t>λ₁</a:t>
              </a:r>
              <a:r>
                <a:rPr b="0" i="0" lang="it" sz="850">
                  <a:solidFill>
                    <a:srgbClr val="94A3B8"/>
                  </a:solidFill>
                  <a:latin typeface="Inter"/>
                  <a:ea typeface="Inter"/>
                  <a:cs typeface="Inter"/>
                  <a:sym typeface="Inter"/>
                </a:rPr>
                <a:t> and </a:t>
              </a:r>
              <a:r>
                <a:rPr b="0" i="0" lang="it" sz="850">
                  <a:solidFill>
                    <a:srgbClr val="F8F9FA"/>
                  </a:solidFill>
                  <a:latin typeface="Inter SemiBold"/>
                  <a:ea typeface="Inter SemiBold"/>
                  <a:cs typeface="Inter SemiBold"/>
                  <a:sym typeface="Inter SemiBold"/>
                </a:rPr>
                <a:t>λ₂</a:t>
              </a:r>
              <a:r>
                <a:rPr b="0" i="0" lang="it" sz="850">
                  <a:solidFill>
                    <a:srgbClr val="94A3B8"/>
                  </a:solidFill>
                  <a:latin typeface="Inter"/>
                  <a:ea typeface="Inter"/>
                  <a:cs typeface="Inter"/>
                  <a:sym typeface="Inter"/>
                </a:rPr>
                <a:t>:</a:t>
              </a:r>
              <a:endParaRPr b="1" i="0" sz="800">
                <a:solidFill>
                  <a:srgbClr val="3B82F6"/>
                </a:solidFill>
                <a:latin typeface="Inter"/>
                <a:ea typeface="Inter"/>
                <a:cs typeface="Inter"/>
                <a:sym typeface="Inter"/>
              </a:endParaRPr>
            </a:p>
            <a:p>
              <a:pPr indent="-279400" lvl="0" marL="457200" rtl="0" algn="l">
                <a:spcBef>
                  <a:spcPts val="400"/>
                </a:spcBef>
                <a:spcAft>
                  <a:spcPts val="0"/>
                </a:spcAft>
                <a:buClr>
                  <a:srgbClr val="3B82F6"/>
                </a:buClr>
                <a:buSzPts val="800"/>
                <a:buFont typeface="Inter"/>
                <a:buChar char="●"/>
              </a:pPr>
              <a:r>
                <a:rPr b="0" i="0" lang="it" sz="850">
                  <a:solidFill>
                    <a:srgbClr val="F8F9FA"/>
                  </a:solidFill>
                  <a:latin typeface="Inter Medium"/>
                  <a:ea typeface="Inter Medium"/>
                  <a:cs typeface="Inter Medium"/>
                  <a:sym typeface="Inter Medium"/>
                </a:rPr>
                <a:t>Clean Data:</a:t>
              </a:r>
              <a:r>
                <a:rPr b="1" i="0" lang="it" sz="850">
                  <a:solidFill>
                    <a:srgbClr val="94A3B8"/>
                  </a:solidFill>
                  <a:latin typeface="Inter"/>
                  <a:ea typeface="Inter"/>
                  <a:cs typeface="Inter"/>
                  <a:sym typeface="Inter"/>
                </a:rPr>
                <a:t> λ₁ error </a:t>
              </a:r>
              <a:r>
                <a:rPr b="0" i="0" lang="it" sz="850">
                  <a:solidFill>
                    <a:srgbClr val="10B981"/>
                  </a:solidFill>
                  <a:latin typeface="Inter SemiBold"/>
                  <a:ea typeface="Inter SemiBold"/>
                  <a:cs typeface="Inter SemiBold"/>
                  <a:sym typeface="Inter SemiBold"/>
                </a:rPr>
                <a:t>0.08%</a:t>
              </a:r>
              <a:r>
                <a:rPr b="1" i="0" lang="it" sz="850">
                  <a:solidFill>
                    <a:srgbClr val="94A3B8"/>
                  </a:solidFill>
                  <a:latin typeface="Inter"/>
                  <a:ea typeface="Inter"/>
                  <a:cs typeface="Inter"/>
                  <a:sym typeface="Inter"/>
                </a:rPr>
                <a:t>, λ₂ error </a:t>
              </a:r>
              <a:r>
                <a:rPr b="0" i="0" lang="it" sz="850">
                  <a:solidFill>
                    <a:srgbClr val="10B981"/>
                  </a:solidFill>
                  <a:latin typeface="Inter SemiBold"/>
                  <a:ea typeface="Inter SemiBold"/>
                  <a:cs typeface="Inter SemiBold"/>
                  <a:sym typeface="Inter SemiBold"/>
                </a:rPr>
                <a:t>4.67%</a:t>
              </a:r>
              <a:endParaRPr b="1" i="0" sz="800">
                <a:solidFill>
                  <a:srgbClr val="3B82F6"/>
                </a:solidFill>
                <a:latin typeface="Inter"/>
                <a:ea typeface="Inter"/>
                <a:cs typeface="Inter"/>
                <a:sym typeface="Inter"/>
              </a:endParaRPr>
            </a:p>
            <a:p>
              <a:pPr indent="-279400" lvl="0" marL="457200" rtl="0" algn="l">
                <a:spcBef>
                  <a:spcPts val="400"/>
                </a:spcBef>
                <a:spcAft>
                  <a:spcPts val="0"/>
                </a:spcAft>
                <a:buClr>
                  <a:srgbClr val="3B82F6"/>
                </a:buClr>
                <a:buSzPts val="800"/>
                <a:buFont typeface="Inter"/>
                <a:buChar char="●"/>
              </a:pPr>
              <a:r>
                <a:rPr b="0" i="0" lang="it" sz="850">
                  <a:solidFill>
                    <a:srgbClr val="F8F9FA"/>
                  </a:solidFill>
                  <a:latin typeface="Inter Medium"/>
                  <a:ea typeface="Inter Medium"/>
                  <a:cs typeface="Inter Medium"/>
                  <a:sym typeface="Inter Medium"/>
                </a:rPr>
                <a:t>1% Gaussian Noise:</a:t>
              </a:r>
              <a:r>
                <a:rPr b="1" i="0" lang="it" sz="850">
                  <a:solidFill>
                    <a:srgbClr val="94A3B8"/>
                  </a:solidFill>
                  <a:latin typeface="Inter"/>
                  <a:ea typeface="Inter"/>
                  <a:cs typeface="Inter"/>
                  <a:sym typeface="Inter"/>
                </a:rPr>
                <a:t> λ₁ error </a:t>
              </a:r>
              <a:r>
                <a:rPr b="0" i="0" lang="it" sz="850">
                  <a:solidFill>
                    <a:srgbClr val="10B981"/>
                  </a:solidFill>
                  <a:latin typeface="Inter SemiBold"/>
                  <a:ea typeface="Inter SemiBold"/>
                  <a:cs typeface="Inter SemiBold"/>
                  <a:sym typeface="Inter SemiBold"/>
                </a:rPr>
                <a:t>0.17%</a:t>
              </a:r>
              <a:r>
                <a:rPr b="1" i="0" lang="it" sz="850">
                  <a:solidFill>
                    <a:srgbClr val="94A3B8"/>
                  </a:solidFill>
                  <a:latin typeface="Inter"/>
                  <a:ea typeface="Inter"/>
                  <a:cs typeface="Inter"/>
                  <a:sym typeface="Inter"/>
                </a:rPr>
                <a:t>, λ₂ error </a:t>
              </a:r>
              <a:r>
                <a:rPr b="0" i="0" lang="it" sz="850">
                  <a:solidFill>
                    <a:srgbClr val="10B981"/>
                  </a:solidFill>
                  <a:latin typeface="Inter SemiBold"/>
                  <a:ea typeface="Inter SemiBold"/>
                  <a:cs typeface="Inter SemiBold"/>
                  <a:sym typeface="Inter SemiBold"/>
                </a:rPr>
                <a:t>5.70%</a:t>
              </a:r>
              <a:endParaRPr b="1" i="0" sz="800">
                <a:solidFill>
                  <a:srgbClr val="3B82F6"/>
                </a:solidFill>
                <a:latin typeface="Inter"/>
                <a:ea typeface="Inter"/>
                <a:cs typeface="Inter"/>
                <a:sym typeface="Inter"/>
              </a:endParaRPr>
            </a:p>
            <a:p>
              <a:pPr indent="0" lvl="0" marL="0" rtl="0" algn="l">
                <a:spcBef>
                  <a:spcPts val="800"/>
                </a:spcBef>
                <a:spcAft>
                  <a:spcPts val="0"/>
                </a:spcAft>
                <a:buNone/>
              </a:pPr>
              <a:r>
                <a:rPr b="0" i="0" lang="it" sz="800">
                  <a:solidFill>
                    <a:srgbClr val="3B82F6"/>
                  </a:solidFill>
                  <a:latin typeface="Inter Medium"/>
                  <a:ea typeface="Inter Medium"/>
                  <a:cs typeface="Inter Medium"/>
                  <a:sym typeface="Inter Medium"/>
                </a:rPr>
                <a:t>High stability under experimental measurement noise.</a:t>
              </a:r>
              <a:endParaRPr b="0" i="0" sz="800">
                <a:solidFill>
                  <a:srgbClr val="3B82F6"/>
                </a:solidFill>
                <a:latin typeface="Inter Medium"/>
                <a:ea typeface="Inter Medium"/>
                <a:cs typeface="Inter Medium"/>
                <a:sym typeface="Inter Medium"/>
              </a:endParaRPr>
            </a:p>
            <a:p>
              <a:pPr indent="0" lvl="0" marL="0" rtl="0" algn="l">
                <a:spcBef>
                  <a:spcPts val="800"/>
                </a:spcBef>
                <a:spcAft>
                  <a:spcPts val="0"/>
                </a:spcAft>
                <a:buNone/>
              </a:pPr>
              <a:r>
                <a:t/>
              </a:r>
              <a:endParaRPr sz="800">
                <a:solidFill>
                  <a:srgbClr val="3B82F6"/>
                </a:solidFill>
                <a:latin typeface="Inter Medium"/>
                <a:ea typeface="Inter Medium"/>
                <a:cs typeface="Inter Medium"/>
                <a:sym typeface="Inter Medium"/>
              </a:endParaRPr>
            </a:p>
          </p:txBody>
        </p:sp>
      </p:grpSp>
      <p:grpSp>
        <p:nvGrpSpPr>
          <p:cNvPr id="451" name="Google Shape;451;p32"/>
          <p:cNvGrpSpPr/>
          <p:nvPr/>
        </p:nvGrpSpPr>
        <p:grpSpPr>
          <a:xfrm>
            <a:off x="4762500" y="2714625"/>
            <a:ext cx="4000500" cy="2047800"/>
            <a:chOff x="4381500" y="-257175"/>
            <a:chExt cx="4000500" cy="2047800"/>
          </a:xfrm>
        </p:grpSpPr>
        <p:sp>
          <p:nvSpPr>
            <p:cNvPr id="452" name="Google Shape;452;p32"/>
            <p:cNvSpPr/>
            <p:nvPr/>
          </p:nvSpPr>
          <p:spPr>
            <a:xfrm>
              <a:off x="4381500" y="-257175"/>
              <a:ext cx="4000500" cy="2047800"/>
            </a:xfrm>
            <a:prstGeom prst="roundRect">
              <a:avLst>
                <a:gd fmla="val 279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32"/>
            <p:cNvSpPr/>
            <p:nvPr/>
          </p:nvSpPr>
          <p:spPr>
            <a:xfrm>
              <a:off x="4381500" y="-257175"/>
              <a:ext cx="28500" cy="20478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32"/>
            <p:cNvSpPr txBox="1"/>
            <p:nvPr/>
          </p:nvSpPr>
          <p:spPr>
            <a:xfrm>
              <a:off x="4572000" y="-123825"/>
              <a:ext cx="3619500" cy="1781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a:solidFill>
                    <a:srgbClr val="10B981"/>
                  </a:solidFill>
                  <a:latin typeface="Inter"/>
                  <a:ea typeface="Inter"/>
                  <a:cs typeface="Inter"/>
                  <a:sym typeface="Inter"/>
                </a:rPr>
                <a:t>KEY BREAKTHROUGH</a:t>
              </a:r>
              <a:endParaRPr b="1" i="0" sz="800">
                <a:solidFill>
                  <a:srgbClr val="10B981"/>
                </a:solidFill>
                <a:latin typeface="Inter"/>
                <a:ea typeface="Inter"/>
                <a:cs typeface="Inter"/>
                <a:sym typeface="Inter"/>
              </a:endParaRPr>
            </a:p>
            <a:p>
              <a:pPr indent="0" lvl="0" marL="0" rtl="0" algn="l">
                <a:spcBef>
                  <a:spcPts val="200"/>
                </a:spcBef>
                <a:spcAft>
                  <a:spcPts val="0"/>
                </a:spcAft>
                <a:buNone/>
              </a:pPr>
              <a:r>
                <a:rPr b="0" i="0" lang="it" sz="1100">
                  <a:solidFill>
                    <a:srgbClr val="F8F9FA"/>
                  </a:solidFill>
                  <a:latin typeface="Inter SemiBold"/>
                  <a:ea typeface="Inter SemiBold"/>
                  <a:cs typeface="Inter SemiBold"/>
                  <a:sym typeface="Inter SemiBold"/>
                </a:rPr>
                <a:t>"Hidden" Pressure Field Reconstruction (p)</a:t>
              </a:r>
              <a:endParaRPr b="1" i="0" sz="800">
                <a:solidFill>
                  <a:srgbClr val="10B981"/>
                </a:solidFill>
                <a:latin typeface="Inter"/>
                <a:ea typeface="Inter"/>
                <a:cs typeface="Inter"/>
                <a:sym typeface="Inter"/>
              </a:endParaRPr>
            </a:p>
            <a:p>
              <a:pPr indent="-279400" lvl="0" marL="457200" rtl="0" algn="l">
                <a:spcBef>
                  <a:spcPts val="600"/>
                </a:spcBef>
                <a:spcAft>
                  <a:spcPts val="0"/>
                </a:spcAft>
                <a:buClr>
                  <a:srgbClr val="10B981"/>
                </a:buClr>
                <a:buSzPts val="800"/>
                <a:buFont typeface="Inter"/>
                <a:buChar char="●"/>
              </a:pPr>
              <a:r>
                <a:rPr b="0" i="0" lang="it" sz="850">
                  <a:solidFill>
                    <a:srgbClr val="F8F9FA"/>
                  </a:solidFill>
                  <a:latin typeface="Inter SemiBold"/>
                  <a:ea typeface="Inter SemiBold"/>
                  <a:cs typeface="Inter SemiBold"/>
                  <a:sym typeface="Inter SemiBold"/>
                </a:rPr>
                <a:t>Zero Pressure Training Data:</a:t>
              </a:r>
              <a:r>
                <a:rPr b="1" i="0" lang="it" sz="850">
                  <a:solidFill>
                    <a:srgbClr val="94A3B8"/>
                  </a:solidFill>
                  <a:latin typeface="Inter"/>
                  <a:ea typeface="Inter"/>
                  <a:cs typeface="Inter"/>
                  <a:sym typeface="Inter"/>
                </a:rPr>
                <a:t> No pressure measurements were supplied during training.</a:t>
              </a:r>
              <a:endParaRPr b="1" i="0" sz="800">
                <a:solidFill>
                  <a:srgbClr val="10B981"/>
                </a:solidFill>
                <a:latin typeface="Inter"/>
                <a:ea typeface="Inter"/>
                <a:cs typeface="Inter"/>
                <a:sym typeface="Inter"/>
              </a:endParaRPr>
            </a:p>
            <a:p>
              <a:pPr indent="-279400" lvl="0" marL="457200" rtl="0" algn="l">
                <a:spcBef>
                  <a:spcPts val="500"/>
                </a:spcBef>
                <a:spcAft>
                  <a:spcPts val="0"/>
                </a:spcAft>
                <a:buClr>
                  <a:srgbClr val="10B981"/>
                </a:buClr>
                <a:buSzPts val="800"/>
                <a:buFont typeface="Inter"/>
                <a:buChar char="●"/>
              </a:pPr>
              <a:r>
                <a:rPr b="0" i="0" lang="it" sz="850">
                  <a:solidFill>
                    <a:srgbClr val="F8F9FA"/>
                  </a:solidFill>
                  <a:latin typeface="Inter SemiBold"/>
                  <a:ea typeface="Inter SemiBold"/>
                  <a:cs typeface="Inter SemiBold"/>
                  <a:sym typeface="Inter SemiBold"/>
                </a:rPr>
                <a:t>Physics-Driven Inference:</a:t>
              </a:r>
              <a:r>
                <a:rPr b="1" i="0" lang="it" sz="850">
                  <a:solidFill>
                    <a:srgbClr val="94A3B8"/>
                  </a:solidFill>
                  <a:latin typeface="Inter"/>
                  <a:ea typeface="Inter"/>
                  <a:cs typeface="Inter"/>
                  <a:sym typeface="Inter"/>
                </a:rPr>
                <a:t> The complete scalar pressure field </a:t>
              </a:r>
              <a:r>
                <a:rPr b="0" i="0" lang="it" sz="850">
                  <a:solidFill>
                    <a:srgbClr val="10B981"/>
                  </a:solidFill>
                  <a:latin typeface="Inter Medium"/>
                  <a:ea typeface="Inter Medium"/>
                  <a:cs typeface="Inter Medium"/>
                  <a:sym typeface="Inter Medium"/>
                </a:rPr>
                <a:t>p(t, x, y)</a:t>
              </a:r>
              <a:r>
                <a:rPr b="1" i="0" lang="it" sz="850">
                  <a:solidFill>
                    <a:srgbClr val="94A3B8"/>
                  </a:solidFill>
                  <a:latin typeface="Inter"/>
                  <a:ea typeface="Inter"/>
                  <a:cs typeface="Inter"/>
                  <a:sym typeface="Inter"/>
                </a:rPr>
                <a:t> is inferred strictly via pressure gradient constraints in momentum equations.</a:t>
              </a:r>
              <a:endParaRPr b="1" i="0" sz="800">
                <a:solidFill>
                  <a:srgbClr val="10B981"/>
                </a:solidFill>
                <a:latin typeface="Inter"/>
                <a:ea typeface="Inter"/>
                <a:cs typeface="Inter"/>
                <a:sym typeface="Inter"/>
              </a:endParaRPr>
            </a:p>
            <a:p>
              <a:pPr indent="0" lvl="0" marL="0" rtl="0" algn="l">
                <a:spcBef>
                  <a:spcPts val="800"/>
                </a:spcBef>
                <a:spcAft>
                  <a:spcPts val="0"/>
                </a:spcAft>
                <a:buNone/>
              </a:pPr>
              <a:r>
                <a:rPr b="1" i="1" lang="it" sz="780">
                  <a:solidFill>
                    <a:srgbClr val="94A3B8"/>
                  </a:solidFill>
                  <a:latin typeface="Inter"/>
                  <a:ea typeface="Inter"/>
                  <a:cs typeface="Inter"/>
                  <a:sym typeface="Inter"/>
                </a:rPr>
                <a:t>Matches pressure reference up to an additive constant.</a:t>
              </a:r>
              <a:endParaRPr b="1" i="0" sz="780">
                <a:solidFill>
                  <a:srgbClr val="10B981"/>
                </a:solidFill>
                <a:latin typeface="Inter"/>
                <a:ea typeface="Inter"/>
                <a:cs typeface="Inter"/>
                <a:sym typeface="Inter"/>
              </a:endParaRPr>
            </a:p>
          </p:txBody>
        </p:sp>
      </p:grpSp>
      <p:pic>
        <p:nvPicPr>
          <p:cNvPr id="455" name="Google Shape;455;p32"/>
          <p:cNvPicPr preferRelativeResize="0"/>
          <p:nvPr/>
        </p:nvPicPr>
        <p:blipFill rotWithShape="1">
          <a:blip r:embed="rId4">
            <a:alphaModFix/>
          </a:blip>
          <a:srcRect b="0" l="0" r="0" t="0"/>
          <a:stretch/>
        </p:blipFill>
        <p:spPr>
          <a:xfrm>
            <a:off x="1844421" y="971550"/>
            <a:ext cx="5455200" cy="1587600"/>
          </a:xfrm>
          <a:prstGeom prst="rect">
            <a:avLst/>
          </a:prstGeom>
          <a:noFill/>
          <a:ln>
            <a:noFill/>
          </a:ln>
        </p:spPr>
      </p:pic>
      <p:sp>
        <p:nvSpPr>
          <p:cNvPr id="456" name="Google Shape;4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3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2" name="Google Shape;462;p33"/>
          <p:cNvSpPr txBox="1"/>
          <p:nvPr/>
        </p:nvSpPr>
        <p:spPr>
          <a:xfrm>
            <a:off x="381000" y="238125"/>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3200">
                <a:solidFill>
                  <a:srgbClr val="F8F9FA"/>
                </a:solidFill>
                <a:latin typeface="Inter"/>
                <a:ea typeface="Inter"/>
                <a:cs typeface="Inter"/>
                <a:sym typeface="Inter"/>
              </a:rPr>
              <a:t>ViscoelasticNet</a:t>
            </a:r>
            <a:endParaRPr b="1" sz="3200">
              <a:solidFill>
                <a:srgbClr val="F8F9FA"/>
              </a:solidFill>
              <a:latin typeface="Inter"/>
              <a:ea typeface="Inter"/>
              <a:cs typeface="Inter"/>
              <a:sym typeface="Inter"/>
            </a:endParaRPr>
          </a:p>
          <a:p>
            <a:pPr indent="0" lvl="0" marL="0" rtl="0" algn="l">
              <a:spcBef>
                <a:spcPts val="225"/>
              </a:spcBef>
              <a:spcAft>
                <a:spcPts val="0"/>
              </a:spcAft>
              <a:buNone/>
            </a:pPr>
            <a:r>
              <a:t/>
            </a:r>
            <a:endParaRPr b="0" sz="1050">
              <a:solidFill>
                <a:srgbClr val="94A3B8"/>
              </a:solidFill>
              <a:latin typeface="Inter"/>
              <a:ea typeface="Inter"/>
              <a:cs typeface="Inter"/>
              <a:sym typeface="Inter"/>
            </a:endParaRPr>
          </a:p>
        </p:txBody>
      </p:sp>
      <p:cxnSp>
        <p:nvCxnSpPr>
          <p:cNvPr id="463" name="Google Shape;463;p33"/>
          <p:cNvCxnSpPr/>
          <p:nvPr/>
        </p:nvCxnSpPr>
        <p:spPr>
          <a:xfrm>
            <a:off x="381000" y="8382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464" name="Google Shape;464;p33"/>
          <p:cNvGrpSpPr/>
          <p:nvPr/>
        </p:nvGrpSpPr>
        <p:grpSpPr>
          <a:xfrm>
            <a:off x="381000" y="990600"/>
            <a:ext cx="4000500" cy="1733700"/>
            <a:chOff x="0" y="0"/>
            <a:chExt cx="4000500" cy="1733700"/>
          </a:xfrm>
        </p:grpSpPr>
        <p:sp>
          <p:nvSpPr>
            <p:cNvPr id="465" name="Google Shape;465;p33"/>
            <p:cNvSpPr/>
            <p:nvPr/>
          </p:nvSpPr>
          <p:spPr>
            <a:xfrm>
              <a:off x="0" y="0"/>
              <a:ext cx="4000500" cy="1733700"/>
            </a:xfrm>
            <a:prstGeom prst="roundRect">
              <a:avLst>
                <a:gd fmla="val 329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33"/>
            <p:cNvSpPr/>
            <p:nvPr/>
          </p:nvSpPr>
          <p:spPr>
            <a:xfrm>
              <a:off x="0" y="0"/>
              <a:ext cx="28500" cy="1733700"/>
            </a:xfrm>
            <a:prstGeom prst="roundRect">
              <a:avLst>
                <a:gd fmla="val 49999"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33"/>
            <p:cNvSpPr txBox="1"/>
            <p:nvPr/>
          </p:nvSpPr>
          <p:spPr>
            <a:xfrm>
              <a:off x="171450" y="114300"/>
              <a:ext cx="3695700" cy="1505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800">
                  <a:solidFill>
                    <a:srgbClr val="3B82F6"/>
                  </a:solidFill>
                  <a:latin typeface="Inter"/>
                  <a:ea typeface="Inter"/>
                  <a:cs typeface="Inter"/>
                  <a:sym typeface="Inter"/>
                </a:rPr>
                <a:t>CORE DOMAIN </a:t>
              </a:r>
              <a:endParaRPr b="1" sz="800">
                <a:solidFill>
                  <a:srgbClr val="64748B"/>
                </a:solidFill>
                <a:latin typeface="Inter"/>
                <a:ea typeface="Inter"/>
                <a:cs typeface="Inter"/>
                <a:sym typeface="Inter"/>
              </a:endParaRPr>
            </a:p>
            <a:p>
              <a:pPr indent="0" lvl="0" marL="0" rtl="0" algn="l">
                <a:spcBef>
                  <a:spcPts val="0"/>
                </a:spcBef>
                <a:spcAft>
                  <a:spcPts val="0"/>
                </a:spcAft>
                <a:buNone/>
              </a:pPr>
              <a:r>
                <a:rPr b="0" i="0" lang="it" sz="1100">
                  <a:solidFill>
                    <a:srgbClr val="F8F9FA"/>
                  </a:solidFill>
                  <a:latin typeface="Inter SemiBold"/>
                  <a:ea typeface="Inter SemiBold"/>
                  <a:cs typeface="Inter SemiBold"/>
                  <a:sym typeface="Inter SemiBold"/>
                </a:rPr>
                <a:t>Viscoelastic Fluid Modeling</a:t>
              </a:r>
              <a:endParaRPr b="1" i="0" sz="800">
                <a:solidFill>
                  <a:srgbClr val="3B82F6"/>
                </a:solidFill>
                <a:latin typeface="Inter"/>
                <a:ea typeface="Inter"/>
                <a:cs typeface="Inter"/>
                <a:sym typeface="Inter"/>
              </a:endParaRPr>
            </a:p>
            <a:p>
              <a:pPr indent="0" lvl="0" marL="0" rtl="0" algn="l">
                <a:spcBef>
                  <a:spcPts val="800"/>
                </a:spcBef>
                <a:spcAft>
                  <a:spcPts val="0"/>
                </a:spcAft>
                <a:buNone/>
              </a:pPr>
              <a:r>
                <a:rPr b="1" i="0" lang="it" sz="800">
                  <a:solidFill>
                    <a:srgbClr val="3B82F6"/>
                  </a:solidFill>
                  <a:latin typeface="Inter"/>
                  <a:ea typeface="Inter"/>
                  <a:cs typeface="Inter"/>
                  <a:sym typeface="Inter"/>
                </a:rPr>
                <a:t>KEY CHARACTERISTICS</a:t>
              </a:r>
              <a:endParaRPr b="1" i="0" sz="800">
                <a:solidFill>
                  <a:srgbClr val="3B82F6"/>
                </a:solidFill>
                <a:latin typeface="Inter"/>
                <a:ea typeface="Inter"/>
                <a:cs typeface="Inter"/>
                <a:sym typeface="Inter"/>
              </a:endParaRPr>
            </a:p>
            <a:p>
              <a:pPr indent="-279400" lvl="0" marL="457200" rtl="0" algn="l">
                <a:spcBef>
                  <a:spcPts val="200"/>
                </a:spcBef>
                <a:spcAft>
                  <a:spcPts val="0"/>
                </a:spcAft>
                <a:buClr>
                  <a:srgbClr val="3B82F6"/>
                </a:buClr>
                <a:buSzPts val="800"/>
                <a:buFont typeface="Inter"/>
                <a:buChar char="●"/>
              </a:pPr>
              <a:r>
                <a:rPr b="0" i="0" lang="it" sz="850">
                  <a:solidFill>
                    <a:srgbClr val="F8F9FA"/>
                  </a:solidFill>
                  <a:latin typeface="Inter Medium"/>
                  <a:ea typeface="Inter Medium"/>
                  <a:cs typeface="Inter Medium"/>
                  <a:sym typeface="Inter Medium"/>
                </a:rPr>
                <a:t>Non-Newtonian Flow</a:t>
              </a:r>
              <a:endParaRPr b="1" i="0" sz="800">
                <a:solidFill>
                  <a:srgbClr val="3B82F6"/>
                </a:solidFill>
                <a:latin typeface="Inter"/>
                <a:ea typeface="Inter"/>
                <a:cs typeface="Inter"/>
                <a:sym typeface="Inter"/>
              </a:endParaRPr>
            </a:p>
            <a:p>
              <a:pPr indent="-279400" lvl="0" marL="457200" rtl="0" algn="l">
                <a:spcBef>
                  <a:spcPts val="200"/>
                </a:spcBef>
                <a:spcAft>
                  <a:spcPts val="0"/>
                </a:spcAft>
                <a:buClr>
                  <a:srgbClr val="3B82F6"/>
                </a:buClr>
                <a:buSzPts val="800"/>
                <a:buFont typeface="Inter"/>
                <a:buChar char="●"/>
              </a:pPr>
              <a:r>
                <a:rPr b="0" i="0" lang="it" sz="850">
                  <a:solidFill>
                    <a:srgbClr val="F8F9FA"/>
                  </a:solidFill>
                  <a:latin typeface="Inter Medium"/>
                  <a:ea typeface="Inter Medium"/>
                  <a:cs typeface="Inter Medium"/>
                  <a:sym typeface="Inter Medium"/>
                </a:rPr>
                <a:t>Non-Linear Stresses</a:t>
              </a:r>
              <a:endParaRPr b="1" i="0" sz="800">
                <a:solidFill>
                  <a:srgbClr val="3B82F6"/>
                </a:solidFill>
                <a:latin typeface="Inter"/>
                <a:ea typeface="Inter"/>
                <a:cs typeface="Inter"/>
                <a:sym typeface="Inter"/>
              </a:endParaRPr>
            </a:p>
            <a:p>
              <a:pPr indent="-279400" lvl="0" marL="457200" rtl="0" algn="l">
                <a:spcBef>
                  <a:spcPts val="200"/>
                </a:spcBef>
                <a:spcAft>
                  <a:spcPts val="0"/>
                </a:spcAft>
                <a:buClr>
                  <a:srgbClr val="3B82F6"/>
                </a:buClr>
                <a:buSzPts val="800"/>
                <a:buFont typeface="Inter"/>
                <a:buChar char="●"/>
              </a:pPr>
              <a:r>
                <a:rPr b="0" i="0" lang="it" sz="850">
                  <a:solidFill>
                    <a:srgbClr val="F8F9FA"/>
                  </a:solidFill>
                  <a:latin typeface="Inter Medium"/>
                  <a:ea typeface="Inter Medium"/>
                  <a:cs typeface="Inter Medium"/>
                  <a:sym typeface="Inter Medium"/>
                </a:rPr>
                <a:t>High Weissenberg Instabilities</a:t>
              </a:r>
              <a:endParaRPr b="1" i="0" sz="800">
                <a:solidFill>
                  <a:srgbClr val="3B82F6"/>
                </a:solidFill>
                <a:latin typeface="Inter"/>
                <a:ea typeface="Inter"/>
                <a:cs typeface="Inter"/>
                <a:sym typeface="Inter"/>
              </a:endParaRPr>
            </a:p>
          </p:txBody>
        </p:sp>
      </p:grpSp>
      <p:grpSp>
        <p:nvGrpSpPr>
          <p:cNvPr id="468" name="Google Shape;468;p33"/>
          <p:cNvGrpSpPr/>
          <p:nvPr/>
        </p:nvGrpSpPr>
        <p:grpSpPr>
          <a:xfrm>
            <a:off x="381000" y="2876550"/>
            <a:ext cx="4000500" cy="1733700"/>
            <a:chOff x="-2886075" y="1885950"/>
            <a:chExt cx="4000500" cy="1733700"/>
          </a:xfrm>
        </p:grpSpPr>
        <p:sp>
          <p:nvSpPr>
            <p:cNvPr id="469" name="Google Shape;469;p33"/>
            <p:cNvSpPr/>
            <p:nvPr/>
          </p:nvSpPr>
          <p:spPr>
            <a:xfrm>
              <a:off x="-2886075" y="1885950"/>
              <a:ext cx="4000500" cy="1733700"/>
            </a:xfrm>
            <a:prstGeom prst="roundRect">
              <a:avLst>
                <a:gd fmla="val 329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33"/>
            <p:cNvSpPr/>
            <p:nvPr/>
          </p:nvSpPr>
          <p:spPr>
            <a:xfrm>
              <a:off x="-2886075" y="1885950"/>
              <a:ext cx="28500" cy="1733700"/>
            </a:xfrm>
            <a:prstGeom prst="roundRect">
              <a:avLst>
                <a:gd fmla="val 49999"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33"/>
            <p:cNvSpPr txBox="1"/>
            <p:nvPr/>
          </p:nvSpPr>
          <p:spPr>
            <a:xfrm>
              <a:off x="-2714625" y="2000250"/>
              <a:ext cx="3695700" cy="1505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740">
                  <a:solidFill>
                    <a:srgbClr val="10B981"/>
                  </a:solidFill>
                  <a:latin typeface="Inter"/>
                  <a:ea typeface="Inter"/>
                  <a:cs typeface="Inter"/>
                  <a:sym typeface="Inter"/>
                </a:rPr>
                <a:t>INVERSE FORMULATION </a:t>
              </a:r>
              <a:endParaRPr b="1" sz="740">
                <a:solidFill>
                  <a:srgbClr val="64748B"/>
                </a:solidFill>
                <a:latin typeface="Inter"/>
                <a:ea typeface="Inter"/>
                <a:cs typeface="Inter"/>
                <a:sym typeface="Inter"/>
              </a:endParaRPr>
            </a:p>
            <a:p>
              <a:pPr indent="0" lvl="0" marL="0" rtl="0" algn="l">
                <a:spcBef>
                  <a:spcPts val="0"/>
                </a:spcBef>
                <a:spcAft>
                  <a:spcPts val="0"/>
                </a:spcAft>
                <a:buNone/>
              </a:pPr>
              <a:r>
                <a:rPr b="0" i="0" lang="it" sz="1018">
                  <a:solidFill>
                    <a:srgbClr val="F8F9FA"/>
                  </a:solidFill>
                  <a:latin typeface="Inter SemiBold"/>
                  <a:ea typeface="Inter SemiBold"/>
                  <a:cs typeface="Inter SemiBold"/>
                  <a:sym typeface="Inter SemiBold"/>
                </a:rPr>
                <a:t>Parameters &amp; VE Model Selection</a:t>
              </a:r>
              <a:endParaRPr b="1" i="0" sz="740">
                <a:solidFill>
                  <a:srgbClr val="10B981"/>
                </a:solidFill>
                <a:latin typeface="Inter"/>
                <a:ea typeface="Inter"/>
                <a:cs typeface="Inter"/>
                <a:sym typeface="Inter"/>
              </a:endParaRPr>
            </a:p>
            <a:p>
              <a:pPr indent="0" lvl="0" marL="0" rtl="0" algn="l">
                <a:spcBef>
                  <a:spcPts val="800"/>
                </a:spcBef>
                <a:spcAft>
                  <a:spcPts val="0"/>
                </a:spcAft>
                <a:buNone/>
              </a:pPr>
              <a:r>
                <a:rPr b="1" i="0" lang="it" sz="740">
                  <a:solidFill>
                    <a:srgbClr val="10B981"/>
                  </a:solidFill>
                  <a:latin typeface="Inter"/>
                  <a:ea typeface="Inter"/>
                  <a:cs typeface="Inter"/>
                  <a:sym typeface="Inter"/>
                </a:rPr>
                <a:t>CAPABILITIES</a:t>
              </a:r>
              <a:endParaRPr b="1" i="0" sz="740">
                <a:solidFill>
                  <a:srgbClr val="10B981"/>
                </a:solidFill>
                <a:latin typeface="Inter"/>
                <a:ea typeface="Inter"/>
                <a:cs typeface="Inter"/>
                <a:sym typeface="Inter"/>
              </a:endParaRPr>
            </a:p>
            <a:p>
              <a:pPr indent="-275590" lvl="0" marL="457200" rtl="0" algn="l">
                <a:spcBef>
                  <a:spcPts val="200"/>
                </a:spcBef>
                <a:spcAft>
                  <a:spcPts val="0"/>
                </a:spcAft>
                <a:buClr>
                  <a:srgbClr val="10B981"/>
                </a:buClr>
                <a:buSzPts val="740"/>
                <a:buFont typeface="Inter"/>
                <a:buChar char="●"/>
              </a:pPr>
              <a:r>
                <a:rPr b="0" i="0" lang="it" sz="786">
                  <a:solidFill>
                    <a:srgbClr val="F8F9FA"/>
                  </a:solidFill>
                  <a:latin typeface="Inter Medium"/>
                  <a:ea typeface="Inter Medium"/>
                  <a:cs typeface="Inter Medium"/>
                  <a:sym typeface="Inter Medium"/>
                </a:rPr>
                <a:t>Parameter Estimation:</a:t>
              </a:r>
              <a:r>
                <a:rPr b="1" i="0" lang="it" sz="740">
                  <a:solidFill>
                    <a:srgbClr val="10B981"/>
                  </a:solidFill>
                  <a:latin typeface="Inter"/>
                  <a:ea typeface="Inter"/>
                  <a:cs typeface="Inter"/>
                  <a:sym typeface="Inter"/>
                </a:rPr>
                <a:t> </a:t>
              </a:r>
              <a:r>
                <a:rPr b="0" i="0" lang="it" sz="786">
                  <a:solidFill>
                    <a:srgbClr val="94A3B8"/>
                  </a:solidFill>
                  <a:latin typeface="Inter"/>
                  <a:ea typeface="Inter"/>
                  <a:cs typeface="Inter"/>
                  <a:sym typeface="Inter"/>
                </a:rPr>
                <a:t>Learns relaxation time (  ) and viscosity parameters (  ) directly from data.</a:t>
              </a:r>
              <a:endParaRPr b="1" i="0" sz="740">
                <a:solidFill>
                  <a:srgbClr val="10B981"/>
                </a:solidFill>
                <a:latin typeface="Inter"/>
                <a:ea typeface="Inter"/>
                <a:cs typeface="Inter"/>
                <a:sym typeface="Inter"/>
              </a:endParaRPr>
            </a:p>
            <a:p>
              <a:pPr indent="-275590" lvl="0" marL="457200" rtl="0" algn="l">
                <a:spcBef>
                  <a:spcPts val="200"/>
                </a:spcBef>
                <a:spcAft>
                  <a:spcPts val="0"/>
                </a:spcAft>
                <a:buClr>
                  <a:srgbClr val="10B981"/>
                </a:buClr>
                <a:buSzPts val="740"/>
                <a:buFont typeface="Inter"/>
                <a:buChar char="●"/>
              </a:pPr>
              <a:r>
                <a:rPr b="0" i="0" lang="it" sz="786">
                  <a:solidFill>
                    <a:srgbClr val="F8F9FA"/>
                  </a:solidFill>
                  <a:latin typeface="Inter Medium"/>
                  <a:ea typeface="Inter Medium"/>
                  <a:cs typeface="Inter Medium"/>
                  <a:sym typeface="Inter Medium"/>
                </a:rPr>
                <a:t>Constitutive Discovery:</a:t>
              </a:r>
              <a:r>
                <a:rPr b="1" i="0" lang="it" sz="740">
                  <a:solidFill>
                    <a:srgbClr val="10B981"/>
                  </a:solidFill>
                  <a:latin typeface="Inter"/>
                  <a:ea typeface="Inter"/>
                  <a:cs typeface="Inter"/>
                  <a:sym typeface="Inter"/>
                </a:rPr>
                <a:t> </a:t>
              </a:r>
              <a:r>
                <a:rPr b="0" i="0" lang="it" sz="786">
                  <a:solidFill>
                    <a:srgbClr val="94A3B8"/>
                  </a:solidFill>
                  <a:latin typeface="Inter"/>
                  <a:ea typeface="Inter"/>
                  <a:cs typeface="Inter"/>
                  <a:sym typeface="Inter"/>
                </a:rPr>
                <a:t>Classifies Oldroyd-B, Giesekus, or PTT model dynamics.</a:t>
              </a:r>
              <a:endParaRPr b="1" i="0" sz="740">
                <a:solidFill>
                  <a:srgbClr val="10B981"/>
                </a:solidFill>
                <a:latin typeface="Inter"/>
                <a:ea typeface="Inter"/>
                <a:cs typeface="Inter"/>
                <a:sym typeface="Inter"/>
              </a:endParaRPr>
            </a:p>
            <a:p>
              <a:pPr indent="-275590" lvl="0" marL="457200" rtl="0" algn="l">
                <a:spcBef>
                  <a:spcPts val="200"/>
                </a:spcBef>
                <a:spcAft>
                  <a:spcPts val="0"/>
                </a:spcAft>
                <a:buClr>
                  <a:srgbClr val="10B981"/>
                </a:buClr>
                <a:buSzPts val="740"/>
                <a:buFont typeface="Inter"/>
                <a:buChar char="●"/>
              </a:pPr>
              <a:r>
                <a:rPr b="0" i="0" lang="it" sz="786">
                  <a:solidFill>
                    <a:srgbClr val="F8F9FA"/>
                  </a:solidFill>
                  <a:latin typeface="Inter Medium"/>
                  <a:ea typeface="Inter Medium"/>
                  <a:cs typeface="Inter Medium"/>
                  <a:sym typeface="Inter Medium"/>
                </a:rPr>
                <a:t>Data-Driven:</a:t>
              </a:r>
              <a:r>
                <a:rPr b="1" i="0" lang="it" sz="740">
                  <a:solidFill>
                    <a:srgbClr val="10B981"/>
                  </a:solidFill>
                  <a:latin typeface="Inter"/>
                  <a:ea typeface="Inter"/>
                  <a:cs typeface="Inter"/>
                  <a:sym typeface="Inter"/>
                </a:rPr>
                <a:t> </a:t>
              </a:r>
              <a:r>
                <a:rPr b="0" i="0" lang="it" sz="786">
                  <a:solidFill>
                    <a:srgbClr val="94A3B8"/>
                  </a:solidFill>
                  <a:latin typeface="Inter"/>
                  <a:ea typeface="Inter"/>
                  <a:cs typeface="Inter"/>
                  <a:sym typeface="Inter"/>
                </a:rPr>
                <a:t>Reconstructs stress fields from sparse velocity observations.</a:t>
              </a:r>
              <a:endParaRPr b="1" i="0" sz="740">
                <a:solidFill>
                  <a:srgbClr val="10B981"/>
                </a:solidFill>
                <a:latin typeface="Inter"/>
                <a:ea typeface="Inter"/>
                <a:cs typeface="Inter"/>
                <a:sym typeface="Inter"/>
              </a:endParaRPr>
            </a:p>
          </p:txBody>
        </p:sp>
      </p:grpSp>
      <p:grpSp>
        <p:nvGrpSpPr>
          <p:cNvPr id="472" name="Google Shape;472;p33"/>
          <p:cNvGrpSpPr/>
          <p:nvPr/>
        </p:nvGrpSpPr>
        <p:grpSpPr>
          <a:xfrm>
            <a:off x="4572000" y="990600"/>
            <a:ext cx="4191000" cy="3619500"/>
            <a:chOff x="-1581150" y="0"/>
            <a:chExt cx="4191000" cy="3619500"/>
          </a:xfrm>
        </p:grpSpPr>
        <p:sp>
          <p:nvSpPr>
            <p:cNvPr id="473" name="Google Shape;473;p33"/>
            <p:cNvSpPr/>
            <p:nvPr/>
          </p:nvSpPr>
          <p:spPr>
            <a:xfrm>
              <a:off x="-1581150" y="0"/>
              <a:ext cx="4191000" cy="3619500"/>
            </a:xfrm>
            <a:prstGeom prst="roundRect">
              <a:avLst>
                <a:gd fmla="val 1578"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33"/>
            <p:cNvSpPr/>
            <p:nvPr/>
          </p:nvSpPr>
          <p:spPr>
            <a:xfrm>
              <a:off x="-1581150" y="0"/>
              <a:ext cx="28500" cy="3619500"/>
            </a:xfrm>
            <a:prstGeom prst="roundRect">
              <a:avLst>
                <a:gd fmla="val 49999"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33"/>
            <p:cNvSpPr txBox="1"/>
            <p:nvPr/>
          </p:nvSpPr>
          <p:spPr>
            <a:xfrm>
              <a:off x="-1409700" y="114300"/>
              <a:ext cx="3848100" cy="32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680">
                  <a:solidFill>
                    <a:srgbClr val="8B5CF6"/>
                  </a:solidFill>
                  <a:latin typeface="Inter"/>
                  <a:ea typeface="Inter"/>
                  <a:cs typeface="Inter"/>
                  <a:sym typeface="Inter"/>
                </a:rPr>
                <a:t>BENCHMARK CASE STUDIES</a:t>
              </a:r>
              <a:endParaRPr b="1" i="0" sz="680">
                <a:solidFill>
                  <a:srgbClr val="8B5CF6"/>
                </a:solidFill>
                <a:latin typeface="Inter"/>
                <a:ea typeface="Inter"/>
                <a:cs typeface="Inter"/>
                <a:sym typeface="Inter"/>
              </a:endParaRPr>
            </a:p>
            <a:p>
              <a:pPr indent="0" lvl="0" marL="0" rtl="0" algn="l">
                <a:spcBef>
                  <a:spcPts val="150"/>
                </a:spcBef>
                <a:spcAft>
                  <a:spcPts val="0"/>
                </a:spcAft>
                <a:buNone/>
              </a:pPr>
              <a:r>
                <a:rPr b="0" i="0" lang="it" sz="935">
                  <a:solidFill>
                    <a:srgbClr val="F8F9FA"/>
                  </a:solidFill>
                  <a:latin typeface="Inter SemiBold"/>
                  <a:ea typeface="Inter SemiBold"/>
                  <a:cs typeface="Inter SemiBold"/>
                  <a:sym typeface="Inter SemiBold"/>
                </a:rPr>
                <a:t>Stenosis &amp; Cross-Slot Flows</a:t>
              </a:r>
              <a:endParaRPr b="1" i="0" sz="680">
                <a:solidFill>
                  <a:srgbClr val="8B5CF6"/>
                </a:solidFill>
                <a:latin typeface="Inter"/>
                <a:ea typeface="Inter"/>
                <a:cs typeface="Inter"/>
                <a:sym typeface="Inter"/>
              </a:endParaRPr>
            </a:p>
          </p:txBody>
        </p:sp>
      </p:grpSp>
      <p:cxnSp>
        <p:nvCxnSpPr>
          <p:cNvPr id="476" name="Google Shape;476;p33"/>
          <p:cNvCxnSpPr/>
          <p:nvPr/>
        </p:nvCxnSpPr>
        <p:spPr>
          <a:xfrm>
            <a:off x="381000" y="47434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477" name="Google Shape;477;p33"/>
          <p:cNvSpPr txBox="1"/>
          <p:nvPr/>
        </p:nvSpPr>
        <p:spPr>
          <a:xfrm>
            <a:off x="381000" y="4819650"/>
            <a:ext cx="8382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750">
                <a:solidFill>
                  <a:srgbClr val="79C0FF"/>
                </a:solidFill>
                <a:latin typeface="Inter SemiBold"/>
                <a:ea typeface="Inter SemiBold"/>
                <a:cs typeface="Inter SemiBold"/>
                <a:sym typeface="Inter SemiBold"/>
              </a:rPr>
              <a:t>Reference:</a:t>
            </a:r>
            <a:r>
              <a:rPr b="0" lang="it" sz="750">
                <a:solidFill>
                  <a:srgbClr val="94A3B8"/>
                </a:solidFill>
                <a:latin typeface="Inter SemiBold"/>
                <a:ea typeface="Inter SemiBold"/>
                <a:cs typeface="Inter SemiBold"/>
                <a:sym typeface="Inter SemiBold"/>
              </a:rPr>
              <a:t> </a:t>
            </a:r>
            <a:r>
              <a:rPr lang="it" sz="750">
                <a:solidFill>
                  <a:srgbClr val="64748B"/>
                </a:solidFill>
                <a:latin typeface="Inter"/>
                <a:ea typeface="Inter"/>
                <a:cs typeface="Inter"/>
                <a:sym typeface="Inter"/>
              </a:rPr>
              <a:t>Thakur et al. (2024) -  ViscoelasticNet: A physics informed neural network framework for stress discovery and model selection</a:t>
            </a:r>
            <a:endParaRPr b="0" sz="750">
              <a:solidFill>
                <a:srgbClr val="64748B"/>
              </a:solidFill>
              <a:latin typeface="Inter"/>
              <a:ea typeface="Inter"/>
              <a:cs typeface="Inter"/>
              <a:sym typeface="Inter"/>
            </a:endParaRPr>
          </a:p>
        </p:txBody>
      </p:sp>
      <p:pic>
        <p:nvPicPr>
          <p:cNvPr id="478" name="Google Shape;478;p33"/>
          <p:cNvPicPr preferRelativeResize="0"/>
          <p:nvPr/>
        </p:nvPicPr>
        <p:blipFill>
          <a:blip r:embed="rId4">
            <a:alphaModFix/>
          </a:blip>
          <a:stretch>
            <a:fillRect/>
          </a:stretch>
        </p:blipFill>
        <p:spPr>
          <a:xfrm>
            <a:off x="4976459" y="1475000"/>
            <a:ext cx="3382100" cy="1423325"/>
          </a:xfrm>
          <a:prstGeom prst="rect">
            <a:avLst/>
          </a:prstGeom>
          <a:noFill/>
          <a:ln>
            <a:noFill/>
          </a:ln>
        </p:spPr>
      </p:pic>
      <p:pic>
        <p:nvPicPr>
          <p:cNvPr id="479" name="Google Shape;479;p33"/>
          <p:cNvPicPr preferRelativeResize="0"/>
          <p:nvPr/>
        </p:nvPicPr>
        <p:blipFill>
          <a:blip r:embed="rId5">
            <a:alphaModFix/>
          </a:blip>
          <a:stretch>
            <a:fillRect/>
          </a:stretch>
        </p:blipFill>
        <p:spPr>
          <a:xfrm>
            <a:off x="5614988" y="3111263"/>
            <a:ext cx="2105025" cy="1495425"/>
          </a:xfrm>
          <a:prstGeom prst="rect">
            <a:avLst/>
          </a:prstGeom>
          <a:noFill/>
          <a:ln>
            <a:noFill/>
          </a:ln>
        </p:spPr>
      </p:pic>
      <p:pic>
        <p:nvPicPr>
          <p:cNvPr id="480" name="Google Shape;480;p33" title="{&quot;red&quot;:148,&quot;green&quot;:163,&quot;blue&quot;:184,&quot;origURL&quot;:&quot;https://saxarona.github.io/mathjax-viewer/?input=%5Clambda#2&quot;,&quot;size&quot;:7.862500190734863,&quot;width&quot;:291,&quot;height&quot;:118.51181102362204,&quot;slideId&quot;:&quot;g3fbe9a665d1_0_826&quot;,&quot;pageElementId&quot;:&quot;g3fbe9a665d1_0_836&quot;,&quot;spaceCount&quot;:2,&quot;spaceStart&quot;:221}"/>
          <p:cNvPicPr preferRelativeResize="0"/>
          <p:nvPr/>
        </p:nvPicPr>
        <p:blipFill>
          <a:blip r:embed="rId6">
            <a:alphaModFix/>
          </a:blip>
          <a:stretch>
            <a:fillRect/>
          </a:stretch>
        </p:blipFill>
        <p:spPr>
          <a:xfrm>
            <a:off x="3168848" y="3543820"/>
            <a:ext cx="60008" cy="84011"/>
          </a:xfrm>
          <a:prstGeom prst="rect">
            <a:avLst/>
          </a:prstGeom>
          <a:noFill/>
          <a:ln>
            <a:noFill/>
          </a:ln>
        </p:spPr>
      </p:pic>
      <p:pic>
        <p:nvPicPr>
          <p:cNvPr id="481" name="Google Shape;481;p33" title="{&quot;red&quot;:148,&quot;green&quot;:163,&quot;blue&quot;:184,&quot;origURL&quot;:&quot;https://saxarona.github.io/mathjax-viewer/?input=%5Ceta#2&quot;,&quot;size&quot;:7.862500190734863,&quot;width&quot;:291,&quot;height&quot;:118.51181102362204,&quot;slideId&quot;:&quot;g3fbe9a665d1_0_826&quot;,&quot;pageElementId&quot;:&quot;g3fbe9a665d1_0_836&quot;,&quot;spaceCount&quot;:2,&quot;spaceStart&quot;:251}"/>
          <p:cNvPicPr preferRelativeResize="0"/>
          <p:nvPr/>
        </p:nvPicPr>
        <p:blipFill>
          <a:blip r:embed="rId7">
            <a:alphaModFix/>
          </a:blip>
          <a:stretch>
            <a:fillRect/>
          </a:stretch>
        </p:blipFill>
        <p:spPr>
          <a:xfrm>
            <a:off x="1606940" y="3822984"/>
            <a:ext cx="60007" cy="72009"/>
          </a:xfrm>
          <a:prstGeom prst="rect">
            <a:avLst/>
          </a:prstGeom>
          <a:noFill/>
          <a:ln>
            <a:noFill/>
          </a:ln>
        </p:spPr>
      </p:pic>
      <p:sp>
        <p:nvSpPr>
          <p:cNvPr id="482" name="Google Shape;482;p3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6" name="Shape 486"/>
        <p:cNvGrpSpPr/>
        <p:nvPr/>
      </p:nvGrpSpPr>
      <p:grpSpPr>
        <a:xfrm>
          <a:off x="0" y="0"/>
          <a:ext cx="0" cy="0"/>
          <a:chOff x="0" y="0"/>
          <a:chExt cx="0" cy="0"/>
        </a:xfrm>
      </p:grpSpPr>
      <p:sp>
        <p:nvSpPr>
          <p:cNvPr id="487" name="Google Shape;487;p34"/>
          <p:cNvSpPr txBox="1"/>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3000">
                <a:solidFill>
                  <a:srgbClr val="F8F9FA"/>
                </a:solidFill>
                <a:latin typeface="Inter"/>
                <a:ea typeface="Inter"/>
                <a:cs typeface="Inter"/>
                <a:sym typeface="Inter"/>
              </a:rPr>
              <a:t>ViscoelasticNet: Constitutive model(s)</a:t>
            </a:r>
            <a:endParaRPr b="1" sz="3000">
              <a:solidFill>
                <a:srgbClr val="F8F9FA"/>
              </a:solidFill>
              <a:latin typeface="Inter"/>
              <a:ea typeface="Inter"/>
              <a:cs typeface="Inter"/>
              <a:sym typeface="Inter"/>
            </a:endParaRPr>
          </a:p>
          <a:p>
            <a:pPr indent="0" lvl="0" marL="0" rtl="0" algn="l">
              <a:spcBef>
                <a:spcPts val="300"/>
              </a:spcBef>
              <a:spcAft>
                <a:spcPts val="0"/>
              </a:spcAft>
              <a:buNone/>
            </a:pPr>
            <a:r>
              <a:t/>
            </a:r>
            <a:endParaRPr b="0" sz="1050">
              <a:solidFill>
                <a:srgbClr val="94A3B8"/>
              </a:solidFill>
              <a:latin typeface="Inter"/>
              <a:ea typeface="Inter"/>
              <a:cs typeface="Inter"/>
              <a:sym typeface="Inter"/>
            </a:endParaRPr>
          </a:p>
        </p:txBody>
      </p:sp>
      <p:cxnSp>
        <p:nvCxnSpPr>
          <p:cNvPr id="488" name="Google Shape;488;p34"/>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489" name="Google Shape;489;p34"/>
          <p:cNvGrpSpPr/>
          <p:nvPr/>
        </p:nvGrpSpPr>
        <p:grpSpPr>
          <a:xfrm>
            <a:off x="381000" y="987000"/>
            <a:ext cx="8420434" cy="2554962"/>
            <a:chOff x="0" y="-22500"/>
            <a:chExt cx="8439000" cy="1260900"/>
          </a:xfrm>
        </p:grpSpPr>
        <p:sp>
          <p:nvSpPr>
            <p:cNvPr id="490" name="Google Shape;490;p34"/>
            <p:cNvSpPr/>
            <p:nvPr/>
          </p:nvSpPr>
          <p:spPr>
            <a:xfrm>
              <a:off x="0" y="0"/>
              <a:ext cx="8382000" cy="1238400"/>
            </a:xfrm>
            <a:prstGeom prst="roundRect">
              <a:avLst>
                <a:gd fmla="val 461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34"/>
            <p:cNvSpPr/>
            <p:nvPr/>
          </p:nvSpPr>
          <p:spPr>
            <a:xfrm flipH="1" rot="10800000">
              <a:off x="0" y="-22500"/>
              <a:ext cx="8439000" cy="22500"/>
            </a:xfrm>
            <a:prstGeom prst="roundRect">
              <a:avLst>
                <a:gd fmla="val 50000"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34"/>
            <p:cNvSpPr txBox="1"/>
            <p:nvPr/>
          </p:nvSpPr>
          <p:spPr>
            <a:xfrm>
              <a:off x="142875" y="95250"/>
              <a:ext cx="8096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chemeClr val="lt1"/>
                  </a:solidFill>
                  <a:latin typeface="Inter"/>
                  <a:ea typeface="Inter"/>
                  <a:cs typeface="Inter"/>
                  <a:sym typeface="Inter"/>
                </a:rPr>
                <a:t>UNIFIED CONSTITUTIVE FORMULATION</a:t>
              </a:r>
              <a:endParaRPr b="1" sz="800">
                <a:solidFill>
                  <a:schemeClr val="lt1"/>
                </a:solidFill>
                <a:latin typeface="Inter"/>
                <a:ea typeface="Inter"/>
                <a:cs typeface="Inter"/>
                <a:sym typeface="Inter"/>
              </a:endParaRPr>
            </a:p>
            <a:p>
              <a:pPr indent="0" lvl="0" marL="0" rtl="0" algn="l">
                <a:spcBef>
                  <a:spcPts val="150"/>
                </a:spcBef>
                <a:spcAft>
                  <a:spcPts val="0"/>
                </a:spcAft>
                <a:buNone/>
              </a:pPr>
              <a:r>
                <a:t/>
              </a:r>
              <a:endParaRPr b="0" sz="1000">
                <a:solidFill>
                  <a:srgbClr val="94A3B8"/>
                </a:solidFill>
                <a:latin typeface="Inter SemiBold"/>
                <a:ea typeface="Inter SemiBold"/>
                <a:cs typeface="Inter SemiBold"/>
                <a:sym typeface="Inter SemiBold"/>
              </a:endParaRPr>
            </a:p>
            <a:p>
              <a:pPr indent="0" lvl="0" marL="0" rtl="0" algn="ctr">
                <a:spcBef>
                  <a:spcPts val="600"/>
                </a:spcBef>
                <a:spcAft>
                  <a:spcPts val="0"/>
                </a:spcAft>
                <a:buNone/>
              </a:pPr>
              <a:r>
                <a:t/>
              </a:r>
              <a:endParaRPr sz="850">
                <a:solidFill>
                  <a:srgbClr val="94A3B8"/>
                </a:solidFill>
                <a:latin typeface="Inter"/>
                <a:ea typeface="Inter"/>
                <a:cs typeface="Inter"/>
                <a:sym typeface="Inter"/>
              </a:endParaRPr>
            </a:p>
          </p:txBody>
        </p:sp>
      </p:grpSp>
      <p:sp>
        <p:nvSpPr>
          <p:cNvPr id="493" name="Google Shape;493;p34"/>
          <p:cNvSpPr txBox="1"/>
          <p:nvPr/>
        </p:nvSpPr>
        <p:spPr>
          <a:xfrm>
            <a:off x="400225" y="3602100"/>
            <a:ext cx="8382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50">
                <a:solidFill>
                  <a:srgbClr val="8B5CF6"/>
                </a:solidFill>
                <a:latin typeface="Inter"/>
                <a:ea typeface="Inter"/>
                <a:cs typeface="Inter"/>
                <a:sym typeface="Inter"/>
              </a:rPr>
              <a:t>MODEL SELECTION CRITERIA</a:t>
            </a:r>
            <a:endParaRPr b="0" sz="950">
              <a:solidFill>
                <a:srgbClr val="94A3B8"/>
              </a:solidFill>
              <a:latin typeface="Inter"/>
              <a:ea typeface="Inter"/>
              <a:cs typeface="Inter"/>
              <a:sym typeface="Inter"/>
            </a:endParaRPr>
          </a:p>
        </p:txBody>
      </p:sp>
      <p:grpSp>
        <p:nvGrpSpPr>
          <p:cNvPr id="494" name="Google Shape;494;p34"/>
          <p:cNvGrpSpPr/>
          <p:nvPr/>
        </p:nvGrpSpPr>
        <p:grpSpPr>
          <a:xfrm>
            <a:off x="381000" y="3841425"/>
            <a:ext cx="1981200" cy="1035387"/>
            <a:chOff x="0" y="0"/>
            <a:chExt cx="1981200" cy="2095500"/>
          </a:xfrm>
        </p:grpSpPr>
        <p:sp>
          <p:nvSpPr>
            <p:cNvPr id="495" name="Google Shape;495;p34"/>
            <p:cNvSpPr/>
            <p:nvPr/>
          </p:nvSpPr>
          <p:spPr>
            <a:xfrm>
              <a:off x="0" y="0"/>
              <a:ext cx="1981200" cy="2095500"/>
            </a:xfrm>
            <a:prstGeom prst="roundRect">
              <a:avLst>
                <a:gd fmla="val 28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34"/>
            <p:cNvSpPr/>
            <p:nvPr/>
          </p:nvSpPr>
          <p:spPr>
            <a:xfrm>
              <a:off x="0" y="4800"/>
              <a:ext cx="19812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34"/>
            <p:cNvSpPr txBox="1"/>
            <p:nvPr/>
          </p:nvSpPr>
          <p:spPr>
            <a:xfrm>
              <a:off x="133350" y="133350"/>
              <a:ext cx="17145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900">
                  <a:solidFill>
                    <a:srgbClr val="F8F9FA"/>
                  </a:solidFill>
                  <a:latin typeface="Inter"/>
                  <a:ea typeface="Inter"/>
                  <a:cs typeface="Inter"/>
                  <a:sym typeface="Inter"/>
                </a:rPr>
                <a:t>ϵ = 0, α = 0</a:t>
              </a:r>
              <a:endParaRPr b="1" sz="900">
                <a:solidFill>
                  <a:srgbClr val="F8F9FA"/>
                </a:solidFill>
                <a:latin typeface="Inter"/>
                <a:ea typeface="Inter"/>
                <a:cs typeface="Inter"/>
                <a:sym typeface="Inter"/>
              </a:endParaRPr>
            </a:p>
            <a:p>
              <a:pPr indent="0" lvl="0" marL="0" rtl="0" algn="l">
                <a:spcBef>
                  <a:spcPts val="300"/>
                </a:spcBef>
                <a:spcAft>
                  <a:spcPts val="0"/>
                </a:spcAft>
                <a:buNone/>
              </a:pPr>
              <a:r>
                <a:rPr b="1" lang="it" sz="1050">
                  <a:solidFill>
                    <a:srgbClr val="3B82F6"/>
                  </a:solidFill>
                  <a:latin typeface="Inter"/>
                  <a:ea typeface="Inter"/>
                  <a:cs typeface="Inter"/>
                  <a:sym typeface="Inter"/>
                </a:rPr>
                <a:t>Oldroyd-B Model</a:t>
              </a:r>
              <a:endParaRPr b="1" sz="1050">
                <a:solidFill>
                  <a:srgbClr val="3B82F6"/>
                </a:solidFill>
                <a:latin typeface="Inter"/>
                <a:ea typeface="Inter"/>
                <a:cs typeface="Inter"/>
                <a:sym typeface="Inter"/>
              </a:endParaRPr>
            </a:p>
            <a:p>
              <a:pPr indent="0" lvl="0" marL="0" rtl="0" algn="l">
                <a:spcBef>
                  <a:spcPts val="750"/>
                </a:spcBef>
                <a:spcAft>
                  <a:spcPts val="0"/>
                </a:spcAft>
                <a:buNone/>
              </a:pPr>
              <a:r>
                <a:rPr b="0" lang="it" sz="820">
                  <a:solidFill>
                    <a:srgbClr val="94A3B8"/>
                  </a:solidFill>
                  <a:latin typeface="Inter Light"/>
                  <a:ea typeface="Inter Light"/>
                  <a:cs typeface="Inter Light"/>
                  <a:sym typeface="Inter Light"/>
                </a:rPr>
                <a:t>Standard quasi-linear fluid model with constant viscosity and relaxation time.</a:t>
              </a:r>
              <a:endParaRPr b="0" sz="820">
                <a:solidFill>
                  <a:srgbClr val="94A3B8"/>
                </a:solidFill>
                <a:latin typeface="Inter Light"/>
                <a:ea typeface="Inter Light"/>
                <a:cs typeface="Inter Light"/>
                <a:sym typeface="Inter Light"/>
              </a:endParaRPr>
            </a:p>
          </p:txBody>
        </p:sp>
      </p:grpSp>
      <p:grpSp>
        <p:nvGrpSpPr>
          <p:cNvPr id="498" name="Google Shape;498;p34"/>
          <p:cNvGrpSpPr/>
          <p:nvPr/>
        </p:nvGrpSpPr>
        <p:grpSpPr>
          <a:xfrm>
            <a:off x="2514600" y="3841425"/>
            <a:ext cx="1981200" cy="1035387"/>
            <a:chOff x="0" y="0"/>
            <a:chExt cx="1981200" cy="2095500"/>
          </a:xfrm>
        </p:grpSpPr>
        <p:sp>
          <p:nvSpPr>
            <p:cNvPr id="499" name="Google Shape;499;p34"/>
            <p:cNvSpPr/>
            <p:nvPr/>
          </p:nvSpPr>
          <p:spPr>
            <a:xfrm>
              <a:off x="0" y="0"/>
              <a:ext cx="1981200" cy="2095500"/>
            </a:xfrm>
            <a:prstGeom prst="roundRect">
              <a:avLst>
                <a:gd fmla="val 28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34"/>
            <p:cNvSpPr/>
            <p:nvPr/>
          </p:nvSpPr>
          <p:spPr>
            <a:xfrm>
              <a:off x="0" y="0"/>
              <a:ext cx="19812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34"/>
            <p:cNvSpPr txBox="1"/>
            <p:nvPr/>
          </p:nvSpPr>
          <p:spPr>
            <a:xfrm>
              <a:off x="133350" y="133350"/>
              <a:ext cx="17145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900">
                  <a:solidFill>
                    <a:srgbClr val="F8F9FA"/>
                  </a:solidFill>
                  <a:latin typeface="Inter"/>
                  <a:ea typeface="Inter"/>
                  <a:cs typeface="Inter"/>
                  <a:sym typeface="Inter"/>
                </a:rPr>
                <a:t>ϵ = 0, α ≠ 0</a:t>
              </a:r>
              <a:endParaRPr b="1" sz="900">
                <a:solidFill>
                  <a:srgbClr val="F8F9FA"/>
                </a:solidFill>
                <a:latin typeface="Inter"/>
                <a:ea typeface="Inter"/>
                <a:cs typeface="Inter"/>
                <a:sym typeface="Inter"/>
              </a:endParaRPr>
            </a:p>
            <a:p>
              <a:pPr indent="0" lvl="0" marL="0" rtl="0" algn="l">
                <a:spcBef>
                  <a:spcPts val="300"/>
                </a:spcBef>
                <a:spcAft>
                  <a:spcPts val="0"/>
                </a:spcAft>
                <a:buNone/>
              </a:pPr>
              <a:r>
                <a:rPr b="1" lang="it" sz="1050">
                  <a:solidFill>
                    <a:srgbClr val="10B981"/>
                  </a:solidFill>
                  <a:latin typeface="Inter"/>
                  <a:ea typeface="Inter"/>
                  <a:cs typeface="Inter"/>
                  <a:sym typeface="Inter"/>
                </a:rPr>
                <a:t>Giesekus Model</a:t>
              </a:r>
              <a:endParaRPr b="1" sz="1050">
                <a:solidFill>
                  <a:srgbClr val="10B981"/>
                </a:solidFill>
                <a:latin typeface="Inter"/>
                <a:ea typeface="Inter"/>
                <a:cs typeface="Inter"/>
                <a:sym typeface="Inter"/>
              </a:endParaRPr>
            </a:p>
            <a:p>
              <a:pPr indent="0" lvl="0" marL="0" rtl="0" algn="l">
                <a:spcBef>
                  <a:spcPts val="750"/>
                </a:spcBef>
                <a:spcAft>
                  <a:spcPts val="0"/>
                </a:spcAft>
                <a:buNone/>
              </a:pPr>
              <a:r>
                <a:rPr b="0" lang="it" sz="820">
                  <a:solidFill>
                    <a:srgbClr val="94A3B8"/>
                  </a:solidFill>
                  <a:latin typeface="Inter Light"/>
                  <a:ea typeface="Inter Light"/>
                  <a:cs typeface="Inter Light"/>
                  <a:sym typeface="Inter Light"/>
                </a:rPr>
                <a:t>Includes non-linear anisotropic drag effects via mobility parameter (</a:t>
              </a:r>
              <a:r>
                <a:rPr b="1" lang="it" sz="820">
                  <a:solidFill>
                    <a:srgbClr val="F8F9FA"/>
                  </a:solidFill>
                  <a:latin typeface="Inter"/>
                  <a:ea typeface="Inter"/>
                  <a:cs typeface="Inter"/>
                  <a:sym typeface="Inter"/>
                </a:rPr>
                <a:t>α</a:t>
              </a:r>
              <a:r>
                <a:rPr b="0" lang="it" sz="820">
                  <a:solidFill>
                    <a:srgbClr val="94A3B8"/>
                  </a:solidFill>
                  <a:latin typeface="Inter Light"/>
                  <a:ea typeface="Inter Light"/>
                  <a:cs typeface="Inter Light"/>
                  <a:sym typeface="Inter Light"/>
                </a:rPr>
                <a:t>).</a:t>
              </a:r>
              <a:endParaRPr b="0" sz="820">
                <a:solidFill>
                  <a:srgbClr val="94A3B8"/>
                </a:solidFill>
                <a:latin typeface="Inter Light"/>
                <a:ea typeface="Inter Light"/>
                <a:cs typeface="Inter Light"/>
                <a:sym typeface="Inter Light"/>
              </a:endParaRPr>
            </a:p>
          </p:txBody>
        </p:sp>
      </p:grpSp>
      <p:grpSp>
        <p:nvGrpSpPr>
          <p:cNvPr id="502" name="Google Shape;502;p34"/>
          <p:cNvGrpSpPr/>
          <p:nvPr/>
        </p:nvGrpSpPr>
        <p:grpSpPr>
          <a:xfrm>
            <a:off x="4648200" y="3841425"/>
            <a:ext cx="1981200" cy="1035387"/>
            <a:chOff x="0" y="0"/>
            <a:chExt cx="1981200" cy="2095500"/>
          </a:xfrm>
        </p:grpSpPr>
        <p:sp>
          <p:nvSpPr>
            <p:cNvPr id="503" name="Google Shape;503;p34"/>
            <p:cNvSpPr/>
            <p:nvPr/>
          </p:nvSpPr>
          <p:spPr>
            <a:xfrm>
              <a:off x="0" y="0"/>
              <a:ext cx="1981200" cy="2095500"/>
            </a:xfrm>
            <a:prstGeom prst="roundRect">
              <a:avLst>
                <a:gd fmla="val 28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34"/>
            <p:cNvSpPr/>
            <p:nvPr/>
          </p:nvSpPr>
          <p:spPr>
            <a:xfrm>
              <a:off x="0" y="0"/>
              <a:ext cx="1981200" cy="285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34"/>
            <p:cNvSpPr txBox="1"/>
            <p:nvPr/>
          </p:nvSpPr>
          <p:spPr>
            <a:xfrm>
              <a:off x="133350" y="133350"/>
              <a:ext cx="17145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900">
                  <a:solidFill>
                    <a:srgbClr val="F8F9FA"/>
                  </a:solidFill>
                  <a:latin typeface="Inter"/>
                  <a:ea typeface="Inter"/>
                  <a:cs typeface="Inter"/>
                  <a:sym typeface="Inter"/>
                </a:rPr>
                <a:t>ϵ ≠ 0, α = 0</a:t>
              </a:r>
              <a:endParaRPr b="1" sz="900">
                <a:solidFill>
                  <a:srgbClr val="F8F9FA"/>
                </a:solidFill>
                <a:latin typeface="Inter"/>
                <a:ea typeface="Inter"/>
                <a:cs typeface="Inter"/>
                <a:sym typeface="Inter"/>
              </a:endParaRPr>
            </a:p>
            <a:p>
              <a:pPr indent="0" lvl="0" marL="0" rtl="0" algn="l">
                <a:spcBef>
                  <a:spcPts val="300"/>
                </a:spcBef>
                <a:spcAft>
                  <a:spcPts val="0"/>
                </a:spcAft>
                <a:buNone/>
              </a:pPr>
              <a:r>
                <a:rPr b="1" lang="it" sz="1050">
                  <a:solidFill>
                    <a:srgbClr val="8B5CF6"/>
                  </a:solidFill>
                  <a:latin typeface="Inter"/>
                  <a:ea typeface="Inter"/>
                  <a:cs typeface="Inter"/>
                  <a:sym typeface="Inter"/>
                </a:rPr>
                <a:t>Linear PTT Model</a:t>
              </a:r>
              <a:endParaRPr b="1" sz="1050">
                <a:solidFill>
                  <a:srgbClr val="8B5CF6"/>
                </a:solidFill>
                <a:latin typeface="Inter"/>
                <a:ea typeface="Inter"/>
                <a:cs typeface="Inter"/>
                <a:sym typeface="Inter"/>
              </a:endParaRPr>
            </a:p>
            <a:p>
              <a:pPr indent="0" lvl="0" marL="0" rtl="0" algn="l">
                <a:spcBef>
                  <a:spcPts val="750"/>
                </a:spcBef>
                <a:spcAft>
                  <a:spcPts val="0"/>
                </a:spcAft>
                <a:buNone/>
              </a:pPr>
              <a:r>
                <a:rPr b="0" lang="it" sz="820">
                  <a:solidFill>
                    <a:srgbClr val="94A3B8"/>
                  </a:solidFill>
                  <a:latin typeface="Inter Light"/>
                  <a:ea typeface="Inter Light"/>
                  <a:cs typeface="Inter Light"/>
                  <a:sym typeface="Inter Light"/>
                </a:rPr>
                <a:t>Phan-Thien–Tanner model incorporating polymer extensibility parameter (</a:t>
              </a:r>
              <a:r>
                <a:rPr b="1" lang="it" sz="820">
                  <a:solidFill>
                    <a:srgbClr val="F8F9FA"/>
                  </a:solidFill>
                  <a:latin typeface="Inter"/>
                  <a:ea typeface="Inter"/>
                  <a:cs typeface="Inter"/>
                  <a:sym typeface="Inter"/>
                </a:rPr>
                <a:t>ϵ</a:t>
              </a:r>
              <a:r>
                <a:rPr b="0" lang="it" sz="820">
                  <a:solidFill>
                    <a:srgbClr val="94A3B8"/>
                  </a:solidFill>
                  <a:latin typeface="Inter Light"/>
                  <a:ea typeface="Inter Light"/>
                  <a:cs typeface="Inter Light"/>
                  <a:sym typeface="Inter Light"/>
                </a:rPr>
                <a:t>).</a:t>
              </a:r>
              <a:endParaRPr b="0" sz="820">
                <a:solidFill>
                  <a:srgbClr val="94A3B8"/>
                </a:solidFill>
                <a:latin typeface="Inter Light"/>
                <a:ea typeface="Inter Light"/>
                <a:cs typeface="Inter Light"/>
                <a:sym typeface="Inter Light"/>
              </a:endParaRPr>
            </a:p>
          </p:txBody>
        </p:sp>
      </p:grpSp>
      <p:grpSp>
        <p:nvGrpSpPr>
          <p:cNvPr id="506" name="Google Shape;506;p34"/>
          <p:cNvGrpSpPr/>
          <p:nvPr/>
        </p:nvGrpSpPr>
        <p:grpSpPr>
          <a:xfrm>
            <a:off x="6781800" y="3841425"/>
            <a:ext cx="1981200" cy="1035387"/>
            <a:chOff x="0" y="0"/>
            <a:chExt cx="1981200" cy="2095500"/>
          </a:xfrm>
        </p:grpSpPr>
        <p:sp>
          <p:nvSpPr>
            <p:cNvPr id="507" name="Google Shape;507;p34"/>
            <p:cNvSpPr/>
            <p:nvPr/>
          </p:nvSpPr>
          <p:spPr>
            <a:xfrm>
              <a:off x="0" y="0"/>
              <a:ext cx="1981200" cy="2095500"/>
            </a:xfrm>
            <a:prstGeom prst="roundRect">
              <a:avLst>
                <a:gd fmla="val 288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34"/>
            <p:cNvSpPr/>
            <p:nvPr/>
          </p:nvSpPr>
          <p:spPr>
            <a:xfrm>
              <a:off x="0" y="0"/>
              <a:ext cx="1981200" cy="28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34"/>
            <p:cNvSpPr txBox="1"/>
            <p:nvPr/>
          </p:nvSpPr>
          <p:spPr>
            <a:xfrm>
              <a:off x="133350" y="133350"/>
              <a:ext cx="17145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900">
                  <a:solidFill>
                    <a:srgbClr val="F8F9FA"/>
                  </a:solidFill>
                  <a:latin typeface="Inter"/>
                  <a:ea typeface="Inter"/>
                  <a:cs typeface="Inter"/>
                  <a:sym typeface="Inter"/>
                </a:rPr>
                <a:t>ϵ ≠ 0, α ≠ 0</a:t>
              </a:r>
              <a:endParaRPr b="1" sz="900">
                <a:solidFill>
                  <a:srgbClr val="F8F9FA"/>
                </a:solidFill>
                <a:latin typeface="Inter"/>
                <a:ea typeface="Inter"/>
                <a:cs typeface="Inter"/>
                <a:sym typeface="Inter"/>
              </a:endParaRPr>
            </a:p>
            <a:p>
              <a:pPr indent="0" lvl="0" marL="0" rtl="0" algn="l">
                <a:spcBef>
                  <a:spcPts val="300"/>
                </a:spcBef>
                <a:spcAft>
                  <a:spcPts val="0"/>
                </a:spcAft>
                <a:buNone/>
              </a:pPr>
              <a:r>
                <a:rPr b="1" lang="it" sz="1050">
                  <a:solidFill>
                    <a:srgbClr val="EF4444"/>
                  </a:solidFill>
                  <a:latin typeface="Inter"/>
                  <a:ea typeface="Inter"/>
                  <a:cs typeface="Inter"/>
                  <a:sym typeface="Inter"/>
                </a:rPr>
                <a:t>None of the Three</a:t>
              </a:r>
              <a:endParaRPr b="1" sz="1050">
                <a:solidFill>
                  <a:srgbClr val="EF4444"/>
                </a:solidFill>
                <a:latin typeface="Inter"/>
                <a:ea typeface="Inter"/>
                <a:cs typeface="Inter"/>
                <a:sym typeface="Inter"/>
              </a:endParaRPr>
            </a:p>
            <a:p>
              <a:pPr indent="0" lvl="0" marL="0" rtl="0" algn="l">
                <a:spcBef>
                  <a:spcPts val="750"/>
                </a:spcBef>
                <a:spcAft>
                  <a:spcPts val="0"/>
                </a:spcAft>
                <a:buNone/>
              </a:pPr>
              <a:r>
                <a:rPr b="0" lang="it" sz="820">
                  <a:solidFill>
                    <a:srgbClr val="94A3B8"/>
                  </a:solidFill>
                  <a:latin typeface="Inter Light"/>
                  <a:ea typeface="Inter Light"/>
                  <a:cs typeface="Inter Light"/>
                  <a:sym typeface="Inter Light"/>
                </a:rPr>
                <a:t>Model rejected for canonical subset (e.g., validated via </a:t>
              </a:r>
              <a:r>
                <a:rPr b="0" i="1" lang="it" sz="820">
                  <a:solidFill>
                    <a:srgbClr val="94A3B8"/>
                  </a:solidFill>
                  <a:latin typeface="Inter Light"/>
                  <a:ea typeface="Inter Light"/>
                  <a:cs typeface="Inter Light"/>
                  <a:sym typeface="Inter Light"/>
                </a:rPr>
                <a:t>XPomPom</a:t>
              </a:r>
              <a:r>
                <a:rPr b="0" lang="it" sz="820">
                  <a:solidFill>
                    <a:srgbClr val="94A3B8"/>
                  </a:solidFill>
                  <a:latin typeface="Inter Light"/>
                  <a:ea typeface="Inter Light"/>
                  <a:cs typeface="Inter Light"/>
                  <a:sym typeface="Inter Light"/>
                </a:rPr>
                <a:t> test cases).</a:t>
              </a:r>
              <a:endParaRPr b="0" sz="820">
                <a:solidFill>
                  <a:srgbClr val="94A3B8"/>
                </a:solidFill>
                <a:latin typeface="Inter Light"/>
                <a:ea typeface="Inter Light"/>
                <a:cs typeface="Inter Light"/>
                <a:sym typeface="Inter Light"/>
              </a:endParaRPr>
            </a:p>
          </p:txBody>
        </p:sp>
      </p:grpSp>
      <p:sp>
        <p:nvSpPr>
          <p:cNvPr id="510" name="Google Shape;510;p34"/>
          <p:cNvSpPr/>
          <p:nvPr/>
        </p:nvSpPr>
        <p:spPr>
          <a:xfrm>
            <a:off x="2295575" y="1775675"/>
            <a:ext cx="175500" cy="189900"/>
          </a:xfrm>
          <a:prstGeom prst="rect">
            <a:avLst/>
          </a:prstGeom>
          <a:noFill/>
          <a:ln cap="flat" cmpd="sng" w="9525">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34"/>
          <p:cNvSpPr/>
          <p:nvPr/>
        </p:nvSpPr>
        <p:spPr>
          <a:xfrm>
            <a:off x="4396500" y="1944388"/>
            <a:ext cx="175500" cy="189900"/>
          </a:xfrm>
          <a:prstGeom prst="rect">
            <a:avLst/>
          </a:prstGeom>
          <a:noFill/>
          <a:ln cap="flat" cmpd="sng" w="9525">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3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513" name="Google Shape;513;p34" title="{&quot;red&quot;:255,&quot;green&quot;:255,&quot;blue&quot;:255,&quot;origURL&quot;:&quot;https://saxarona.github.io/mathjax-viewer/?input=%5Cleft(%201%20%2B%20%5Cfrac%7B%5Cepsilon%20%5Clambda%7D%7B%5Ceta_p%7D%20%5Cmathrm%7Btr%7D(%5Ctau)%20%5Cright)%20%5Ctau%20%2B%20%5Clambda%20%5Coverset%7B%5Ctriangledown%7D%7B%5Ctau%7D%20%2B%20%5Calpha%20%5Cfrac%7B%5Clambda%7D%7B%5Ceta_p%7D%20(%5Ctau%20%5Ccdot%20%5Ctau)%20%3D%20%5Ceta_p%20%5Cleft(%20%5Cnabla%20u%20%2B%20%5Cnabla%20u%5ET%20%5Cright)#2&quot;,&quot;size&quot;:9,&quot;width&quot;:418.37007874015745,&quot;height&quot;:106.58267716535433,&quot;slideId&quot;:&quot;g3fbb57816df_5_0&quot;,&quot;pageElementId&quot;:&quot;h589d44c5cbc09595_0_1869&quot;,&quot;spaceCount&quot;:72,&quot;spaceStart&quot;:0}"/>
          <p:cNvPicPr preferRelativeResize="0"/>
          <p:nvPr/>
        </p:nvPicPr>
        <p:blipFill>
          <a:blip r:embed="rId4">
            <a:alphaModFix/>
          </a:blip>
          <a:stretch>
            <a:fillRect/>
          </a:stretch>
        </p:blipFill>
        <p:spPr>
          <a:xfrm>
            <a:off x="1667250" y="1737255"/>
            <a:ext cx="5809500" cy="604163"/>
          </a:xfrm>
          <a:prstGeom prst="rect">
            <a:avLst/>
          </a:prstGeom>
          <a:noFill/>
          <a:ln>
            <a:noFill/>
          </a:ln>
        </p:spPr>
      </p:pic>
      <p:pic>
        <p:nvPicPr>
          <p:cNvPr id="514" name="Google Shape;514;p34" title="{&quot;red&quot;:255,&quot;green&quot;:255,&quot;blue&quot;:255,&quot;origURL&quot;:&quot;https://saxarona.github.io/mathjax-viewer/?input=%5Coverset%7B%5Ctriangledown%7D%7B%5Ctau%7D%20%3D%20%5Cfrac%7BD%5Ctau%7D%7BDt%7D%20-%20(%5Cnabla%20u)%5ET%20%5Ccdot%20%5Ctau%20-%20%5Ctau%20%5Ccdot%20(%5Cnabla%20u)#2&quot;,&quot;size&quot;:9,&quot;width&quot;:418.37007874015745,&quot;height&quot;:106.58267716535433,&quot;slideId&quot;:&quot;g3fbb57816df_5_0&quot;,&quot;pageElementId&quot;:&quot;h589d44c5cbc09595_0_1869&quot;,&quot;spaceCount&quot;:55,&quot;spaceStart&quot;:74}"/>
          <p:cNvPicPr preferRelativeResize="0"/>
          <p:nvPr/>
        </p:nvPicPr>
        <p:blipFill>
          <a:blip r:embed="rId5">
            <a:alphaModFix/>
          </a:blip>
          <a:stretch>
            <a:fillRect/>
          </a:stretch>
        </p:blipFill>
        <p:spPr>
          <a:xfrm>
            <a:off x="1115175" y="2804588"/>
            <a:ext cx="2798225" cy="424550"/>
          </a:xfrm>
          <a:prstGeom prst="rect">
            <a:avLst/>
          </a:prstGeom>
          <a:noFill/>
          <a:ln>
            <a:noFill/>
          </a:ln>
        </p:spPr>
      </p:pic>
      <p:pic>
        <p:nvPicPr>
          <p:cNvPr id="515" name="Google Shape;515;p34" title="{&quot;red&quot;:255,&quot;green&quot;:255,&quot;blue&quot;:255,&quot;origURL&quot;:&quot;https://saxarona.github.io/mathjax-viewer/?input=%5Cfrac%7BD%5Ctau%7D%7BDt%7D%20%3D%20%5Cfrac%7B%5Cpartial%20%5Ctau%7D%7B%5Cpartial%20t%7D%20%2B%20u%20%5Ccdot%20%5Cnabla%20%5Ctau#2&quot;,&quot;size&quot;:9,&quot;width&quot;:418.37007874015745,&quot;height&quot;:106.58267716535433,&quot;slideId&quot;:&quot;g3fbb57816df_5_0&quot;,&quot;pageElementId&quot;:&quot;h589d44c5cbc09595_0_1869&quot;,&quot;spaceCount&quot;:34,&quot;spaceStart&quot;:131}"/>
          <p:cNvPicPr preferRelativeResize="0"/>
          <p:nvPr/>
        </p:nvPicPr>
        <p:blipFill>
          <a:blip r:embed="rId6">
            <a:alphaModFix/>
          </a:blip>
          <a:stretch>
            <a:fillRect/>
          </a:stretch>
        </p:blipFill>
        <p:spPr>
          <a:xfrm>
            <a:off x="5676820" y="2745213"/>
            <a:ext cx="2222500" cy="543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9" name="Shape 519"/>
        <p:cNvGrpSpPr/>
        <p:nvPr/>
      </p:nvGrpSpPr>
      <p:grpSpPr>
        <a:xfrm>
          <a:off x="0" y="0"/>
          <a:ext cx="0" cy="0"/>
          <a:chOff x="0" y="0"/>
          <a:chExt cx="0" cy="0"/>
        </a:xfrm>
      </p:grpSpPr>
      <p:grpSp>
        <p:nvGrpSpPr>
          <p:cNvPr id="520" name="Google Shape;520;p35"/>
          <p:cNvGrpSpPr/>
          <p:nvPr/>
        </p:nvGrpSpPr>
        <p:grpSpPr>
          <a:xfrm>
            <a:off x="381000" y="238125"/>
            <a:ext cx="8382000" cy="571500"/>
            <a:chOff x="0" y="0"/>
            <a:chExt cx="8382000" cy="571500"/>
          </a:xfrm>
        </p:grpSpPr>
        <p:sp>
          <p:nvSpPr>
            <p:cNvPr id="521" name="Google Shape;521;p35"/>
            <p:cNvSpPr/>
            <p:nvPr/>
          </p:nvSpPr>
          <p:spPr>
            <a:xfrm>
              <a:off x="0" y="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35"/>
            <p:cNvSpPr txBox="1"/>
            <p:nvPr/>
          </p:nvSpPr>
          <p:spPr>
            <a:xfrm>
              <a:off x="0" y="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800">
                  <a:solidFill>
                    <a:srgbClr val="F8F9FA"/>
                  </a:solidFill>
                  <a:latin typeface="Inter"/>
                  <a:ea typeface="Inter"/>
                  <a:cs typeface="Inter"/>
                  <a:sym typeface="Inter"/>
                </a:rPr>
                <a:t>Multi-Network Architecture &amp; Decoupled Optimization</a:t>
              </a:r>
              <a:endParaRPr b="1" sz="1800">
                <a:solidFill>
                  <a:srgbClr val="F8F9FA"/>
                </a:solidFill>
                <a:latin typeface="Inter"/>
                <a:ea typeface="Inter"/>
                <a:cs typeface="Inter"/>
                <a:sym typeface="Inter"/>
              </a:endParaRPr>
            </a:p>
            <a:p>
              <a:pPr indent="0" lvl="0" marL="0" rtl="0" algn="l">
                <a:spcBef>
                  <a:spcPts val="300"/>
                </a:spcBef>
                <a:spcAft>
                  <a:spcPts val="0"/>
                </a:spcAft>
                <a:buNone/>
              </a:pPr>
              <a:r>
                <a:t/>
              </a:r>
              <a:endParaRPr b="0" sz="1050">
                <a:solidFill>
                  <a:srgbClr val="94A3B8"/>
                </a:solidFill>
                <a:latin typeface="Inter"/>
                <a:ea typeface="Inter"/>
                <a:cs typeface="Inter"/>
                <a:sym typeface="Inter"/>
              </a:endParaRPr>
            </a:p>
          </p:txBody>
        </p:sp>
      </p:grpSp>
      <p:cxnSp>
        <p:nvCxnSpPr>
          <p:cNvPr id="523" name="Google Shape;523;p35"/>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524" name="Google Shape;524;p35"/>
          <p:cNvGrpSpPr/>
          <p:nvPr/>
        </p:nvGrpSpPr>
        <p:grpSpPr>
          <a:xfrm>
            <a:off x="423300" y="1028699"/>
            <a:ext cx="4953000" cy="3411011"/>
            <a:chOff x="0" y="0"/>
            <a:chExt cx="4953000" cy="2419500"/>
          </a:xfrm>
        </p:grpSpPr>
        <p:sp>
          <p:nvSpPr>
            <p:cNvPr id="525" name="Google Shape;525;p35"/>
            <p:cNvSpPr/>
            <p:nvPr/>
          </p:nvSpPr>
          <p:spPr>
            <a:xfrm>
              <a:off x="0" y="0"/>
              <a:ext cx="4953000" cy="2419500"/>
            </a:xfrm>
            <a:prstGeom prst="roundRect">
              <a:avLst>
                <a:gd fmla="val 236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35"/>
            <p:cNvSpPr/>
            <p:nvPr/>
          </p:nvSpPr>
          <p:spPr>
            <a:xfrm>
              <a:off x="0" y="0"/>
              <a:ext cx="28500" cy="2419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35"/>
            <p:cNvSpPr txBox="1"/>
            <p:nvPr/>
          </p:nvSpPr>
          <p:spPr>
            <a:xfrm>
              <a:off x="152400" y="133350"/>
              <a:ext cx="2000100" cy="2152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3B82F6"/>
                  </a:solidFill>
                  <a:latin typeface="Inter"/>
                  <a:ea typeface="Inter"/>
                  <a:cs typeface="Inter"/>
                  <a:sym typeface="Inter"/>
                </a:rPr>
                <a:t>ARCHITECTURE &amp; PIPELINE</a:t>
              </a:r>
              <a:endParaRPr b="1" sz="800">
                <a:solidFill>
                  <a:srgbClr val="3B82F6"/>
                </a:solidFill>
                <a:latin typeface="Inter"/>
                <a:ea typeface="Inter"/>
                <a:cs typeface="Inter"/>
                <a:sym typeface="Inter"/>
              </a:endParaRPr>
            </a:p>
            <a:p>
              <a:pPr indent="0" lvl="0" marL="0" rtl="0" algn="l">
                <a:spcBef>
                  <a:spcPts val="200"/>
                </a:spcBef>
                <a:spcAft>
                  <a:spcPts val="0"/>
                </a:spcAft>
                <a:buNone/>
              </a:pPr>
              <a:r>
                <a:rPr b="0" lang="it" sz="1100">
                  <a:solidFill>
                    <a:srgbClr val="F8F9FA"/>
                  </a:solidFill>
                  <a:latin typeface="Inter SemiBold"/>
                  <a:ea typeface="Inter SemiBold"/>
                  <a:cs typeface="Inter SemiBold"/>
                  <a:sym typeface="Inter SemiBold"/>
                </a:rPr>
                <a:t>3 Dedicated Neural Networks</a:t>
              </a:r>
              <a:endParaRPr b="0" sz="110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t/>
              </a:r>
              <a:endParaRPr b="0" sz="800">
                <a:solidFill>
                  <a:srgbClr val="3B82F6"/>
                </a:solidFill>
                <a:latin typeface="Courier New"/>
                <a:ea typeface="Courier New"/>
                <a:cs typeface="Courier New"/>
                <a:sym typeface="Courier New"/>
              </a:endParaRPr>
            </a:p>
          </p:txBody>
        </p:sp>
      </p:grpSp>
      <p:grpSp>
        <p:nvGrpSpPr>
          <p:cNvPr id="528" name="Google Shape;528;p35"/>
          <p:cNvGrpSpPr/>
          <p:nvPr/>
        </p:nvGrpSpPr>
        <p:grpSpPr>
          <a:xfrm>
            <a:off x="5524500" y="1028700"/>
            <a:ext cx="3238500" cy="3410956"/>
            <a:chOff x="0" y="0"/>
            <a:chExt cx="3238500" cy="3848100"/>
          </a:xfrm>
        </p:grpSpPr>
        <p:sp>
          <p:nvSpPr>
            <p:cNvPr id="529" name="Google Shape;529;p35"/>
            <p:cNvSpPr/>
            <p:nvPr/>
          </p:nvSpPr>
          <p:spPr>
            <a:xfrm>
              <a:off x="0" y="0"/>
              <a:ext cx="3238500" cy="3848100"/>
            </a:xfrm>
            <a:prstGeom prst="roundRect">
              <a:avLst>
                <a:gd fmla="val 176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35"/>
            <p:cNvSpPr/>
            <p:nvPr/>
          </p:nvSpPr>
          <p:spPr>
            <a:xfrm>
              <a:off x="0" y="0"/>
              <a:ext cx="28500" cy="38481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35"/>
            <p:cNvSpPr txBox="1"/>
            <p:nvPr/>
          </p:nvSpPr>
          <p:spPr>
            <a:xfrm>
              <a:off x="190500" y="171450"/>
              <a:ext cx="2857500" cy="3505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850">
                  <a:solidFill>
                    <a:srgbClr val="8B5CF6"/>
                  </a:solidFill>
                  <a:latin typeface="Inter"/>
                  <a:ea typeface="Inter"/>
                  <a:cs typeface="Inter"/>
                  <a:sym typeface="Inter"/>
                </a:rPr>
                <a:t>DECOUPLED OPTIMIZATION</a:t>
              </a:r>
              <a:endParaRPr b="1" sz="850">
                <a:solidFill>
                  <a:srgbClr val="8B5CF6"/>
                </a:solidFill>
                <a:latin typeface="Inter"/>
                <a:ea typeface="Inter"/>
                <a:cs typeface="Inter"/>
                <a:sym typeface="Inter"/>
              </a:endParaRPr>
            </a:p>
            <a:p>
              <a:pPr indent="0" lvl="0" marL="0" rtl="0" algn="l">
                <a:spcBef>
                  <a:spcPts val="200"/>
                </a:spcBef>
                <a:spcAft>
                  <a:spcPts val="0"/>
                </a:spcAft>
                <a:buNone/>
              </a:pPr>
              <a:r>
                <a:rPr b="1" lang="it" sz="1500">
                  <a:solidFill>
                    <a:srgbClr val="F8F9FA"/>
                  </a:solidFill>
                  <a:latin typeface="Inter"/>
                  <a:ea typeface="Inter"/>
                  <a:cs typeface="Inter"/>
                  <a:sym typeface="Inter"/>
                </a:rPr>
                <a:t>Two-Stage Sequential Training</a:t>
              </a:r>
              <a:endParaRPr b="1" sz="1500">
                <a:solidFill>
                  <a:srgbClr val="F8F9FA"/>
                </a:solidFill>
                <a:latin typeface="Inter"/>
                <a:ea typeface="Inter"/>
                <a:cs typeface="Inter"/>
                <a:sym typeface="Inter"/>
              </a:endParaRPr>
            </a:p>
            <a:p>
              <a:pPr indent="0" lvl="0" marL="0" rtl="0" algn="l">
                <a:spcBef>
                  <a:spcPts val="2200"/>
                </a:spcBef>
                <a:spcAft>
                  <a:spcPts val="0"/>
                </a:spcAft>
                <a:buNone/>
              </a:pPr>
              <a:r>
                <a:rPr b="1" lang="it" sz="1000">
                  <a:solidFill>
                    <a:srgbClr val="8B5CF6"/>
                  </a:solidFill>
                  <a:highlight>
                    <a:srgbClr val="0B0D10"/>
                  </a:highlight>
                  <a:latin typeface="Inter"/>
                  <a:ea typeface="Inter"/>
                  <a:cs typeface="Inter"/>
                  <a:sym typeface="Inter"/>
                </a:rPr>
                <a:t>STAGE 1: Stress &amp; Rheology</a:t>
              </a:r>
              <a:endParaRPr b="1" sz="1000">
                <a:solidFill>
                  <a:srgbClr val="8B5CF6"/>
                </a:solidFill>
                <a:highlight>
                  <a:srgbClr val="0B0D10"/>
                </a:highlight>
                <a:latin typeface="Inter"/>
                <a:ea typeface="Inter"/>
                <a:cs typeface="Inter"/>
                <a:sym typeface="Inter"/>
              </a:endParaRPr>
            </a:p>
            <a:p>
              <a:pPr indent="0" lvl="0" marL="0" rtl="0" algn="l">
                <a:spcBef>
                  <a:spcPts val="600"/>
                </a:spcBef>
                <a:spcAft>
                  <a:spcPts val="0"/>
                </a:spcAft>
                <a:buNone/>
              </a:pPr>
              <a:r>
                <a:rPr b="0" lang="it" sz="850">
                  <a:solidFill>
                    <a:srgbClr val="94A3B8"/>
                  </a:solidFill>
                  <a:latin typeface="Inter"/>
                  <a:ea typeface="Inter"/>
                  <a:cs typeface="Inter"/>
                  <a:sym typeface="Inter"/>
                </a:rPr>
                <a:t>Joint optimization of velocity, stress tensor, and material rheological parameters </a:t>
              </a:r>
              <a:r>
                <a:rPr b="0" lang="it" sz="850">
                  <a:solidFill>
                    <a:srgbClr val="F8F9FA"/>
                  </a:solidFill>
                  <a:latin typeface="Inter SemiBold"/>
                  <a:ea typeface="Inter SemiBold"/>
                  <a:cs typeface="Inter SemiBold"/>
                  <a:sym typeface="Inter SemiBold"/>
                </a:rPr>
                <a:t>(λ, ε, α, ηₚ)</a:t>
              </a:r>
              <a:r>
                <a:rPr b="0" lang="it" sz="850">
                  <a:solidFill>
                    <a:srgbClr val="94A3B8"/>
                  </a:solidFill>
                  <a:latin typeface="Inter"/>
                  <a:ea typeface="Inter"/>
                  <a:cs typeface="Inter"/>
                  <a:sym typeface="Inter"/>
                </a:rPr>
                <a:t> via </a:t>
              </a:r>
              <a:r>
                <a:rPr b="0" lang="it" sz="850">
                  <a:solidFill>
                    <a:srgbClr val="8B5CF6"/>
                  </a:solidFill>
                  <a:latin typeface="Inter SemiBold"/>
                  <a:ea typeface="Inter SemiBold"/>
                  <a:cs typeface="Inter SemiBold"/>
                  <a:sym typeface="Inter SemiBold"/>
                </a:rPr>
                <a:t>ℒ_stress</a:t>
              </a:r>
              <a:r>
                <a:rPr b="0" lang="it" sz="850">
                  <a:solidFill>
                    <a:srgbClr val="8B5CF6"/>
                  </a:solidFill>
                  <a:latin typeface="Inter"/>
                  <a:ea typeface="Inter"/>
                  <a:cs typeface="Inter"/>
                  <a:sym typeface="Inter"/>
                </a:rPr>
                <a:t> </a:t>
              </a:r>
              <a:r>
                <a:rPr b="0" lang="it" sz="850">
                  <a:solidFill>
                    <a:srgbClr val="94A3B8"/>
                  </a:solidFill>
                  <a:latin typeface="Inter"/>
                  <a:ea typeface="Inter"/>
                  <a:cs typeface="Inter"/>
                  <a:sym typeface="Inter"/>
                </a:rPr>
                <a:t>loss.</a:t>
              </a:r>
              <a:endParaRPr b="0" sz="850">
                <a:solidFill>
                  <a:srgbClr val="94A3B8"/>
                </a:solidFill>
                <a:latin typeface="Inter"/>
                <a:ea typeface="Inter"/>
                <a:cs typeface="Inter"/>
                <a:sym typeface="Inter"/>
              </a:endParaRPr>
            </a:p>
            <a:p>
              <a:pPr indent="0" lvl="0" marL="0" rtl="0" algn="l">
                <a:spcBef>
                  <a:spcPts val="2400"/>
                </a:spcBef>
                <a:spcAft>
                  <a:spcPts val="0"/>
                </a:spcAft>
                <a:buNone/>
              </a:pPr>
              <a:r>
                <a:rPr b="1" lang="it" sz="1000">
                  <a:solidFill>
                    <a:srgbClr val="8B5CF6"/>
                  </a:solidFill>
                  <a:highlight>
                    <a:srgbClr val="0B0D10"/>
                  </a:highlight>
                  <a:latin typeface="Inter"/>
                  <a:ea typeface="Inter"/>
                  <a:cs typeface="Inter"/>
                  <a:sym typeface="Inter"/>
                </a:rPr>
                <a:t>STAGE 2: Pressure &amp; Viscosity</a:t>
              </a:r>
              <a:endParaRPr b="1" sz="1000">
                <a:solidFill>
                  <a:srgbClr val="8B5CF6"/>
                </a:solidFill>
                <a:highlight>
                  <a:srgbClr val="0B0D10"/>
                </a:highlight>
                <a:latin typeface="Inter"/>
                <a:ea typeface="Inter"/>
                <a:cs typeface="Inter"/>
                <a:sym typeface="Inter"/>
              </a:endParaRPr>
            </a:p>
            <a:p>
              <a:pPr indent="0" lvl="0" marL="0" rtl="0" algn="l">
                <a:spcBef>
                  <a:spcPts val="600"/>
                </a:spcBef>
                <a:spcAft>
                  <a:spcPts val="0"/>
                </a:spcAft>
                <a:buNone/>
              </a:pPr>
              <a:r>
                <a:rPr b="0" lang="it" sz="850">
                  <a:solidFill>
                    <a:srgbClr val="F8F9FA"/>
                  </a:solidFill>
                  <a:latin typeface="Inter SemiBold"/>
                  <a:ea typeface="Inter SemiBold"/>
                  <a:cs typeface="Inter SemiBold"/>
                  <a:sym typeface="Inter SemiBold"/>
                </a:rPr>
                <a:t>Freeze</a:t>
              </a:r>
              <a:r>
                <a:rPr b="0" lang="it" sz="850">
                  <a:solidFill>
                    <a:srgbClr val="94A3B8"/>
                  </a:solidFill>
                  <a:latin typeface="Inter"/>
                  <a:ea typeface="Inter"/>
                  <a:cs typeface="Inter"/>
                  <a:sym typeface="Inter"/>
                </a:rPr>
                <a:t> Stress Network weights; train Pressure Network and estimate solvent viscosity </a:t>
              </a:r>
              <a:r>
                <a:rPr b="0" lang="it" sz="850">
                  <a:solidFill>
                    <a:srgbClr val="F8F9FA"/>
                  </a:solidFill>
                  <a:latin typeface="Inter SemiBold"/>
                  <a:ea typeface="Inter SemiBold"/>
                  <a:cs typeface="Inter SemiBold"/>
                  <a:sym typeface="Inter SemiBold"/>
                </a:rPr>
                <a:t>ηₒ</a:t>
              </a:r>
              <a:r>
                <a:rPr b="0" lang="it" sz="850">
                  <a:solidFill>
                    <a:srgbClr val="94A3B8"/>
                  </a:solidFill>
                  <a:latin typeface="Inter"/>
                  <a:ea typeface="Inter"/>
                  <a:cs typeface="Inter"/>
                  <a:sym typeface="Inter"/>
                </a:rPr>
                <a:t> by minimizing momentum residual.</a:t>
              </a:r>
              <a:endParaRPr b="0" sz="850">
                <a:solidFill>
                  <a:srgbClr val="8B5CF6"/>
                </a:solidFill>
                <a:highlight>
                  <a:srgbClr val="0B0D10"/>
                </a:highlight>
                <a:latin typeface="Inter SemiBold"/>
                <a:ea typeface="Inter SemiBold"/>
                <a:cs typeface="Inter SemiBold"/>
                <a:sym typeface="Inter SemiBold"/>
              </a:endParaRPr>
            </a:p>
          </p:txBody>
        </p:sp>
      </p:grpSp>
      <p:pic>
        <p:nvPicPr>
          <p:cNvPr id="532" name="Google Shape;532;p35"/>
          <p:cNvPicPr preferRelativeResize="0"/>
          <p:nvPr/>
        </p:nvPicPr>
        <p:blipFill rotWithShape="1">
          <a:blip r:embed="rId4">
            <a:alphaModFix/>
          </a:blip>
          <a:srcRect b="120" l="0" r="0" t="120"/>
          <a:stretch/>
        </p:blipFill>
        <p:spPr>
          <a:xfrm>
            <a:off x="777750" y="1578375"/>
            <a:ext cx="4244100" cy="2763600"/>
          </a:xfrm>
          <a:prstGeom prst="rect">
            <a:avLst/>
          </a:prstGeom>
          <a:noFill/>
          <a:ln>
            <a:noFill/>
          </a:ln>
        </p:spPr>
      </p:pic>
      <p:sp>
        <p:nvSpPr>
          <p:cNvPr id="533" name="Google Shape;533;p3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cxnSp>
        <p:nvCxnSpPr>
          <p:cNvPr id="534" name="Google Shape;534;p35"/>
          <p:cNvCxnSpPr/>
          <p:nvPr/>
        </p:nvCxnSpPr>
        <p:spPr>
          <a:xfrm>
            <a:off x="381000" y="47434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535" name="Google Shape;535;p35"/>
          <p:cNvSpPr txBox="1"/>
          <p:nvPr/>
        </p:nvSpPr>
        <p:spPr>
          <a:xfrm>
            <a:off x="381000" y="4819650"/>
            <a:ext cx="8382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750">
                <a:solidFill>
                  <a:srgbClr val="79C0FF"/>
                </a:solidFill>
                <a:latin typeface="Inter SemiBold"/>
                <a:ea typeface="Inter SemiBold"/>
                <a:cs typeface="Inter SemiBold"/>
                <a:sym typeface="Inter SemiBold"/>
              </a:rPr>
              <a:t>Reference</a:t>
            </a:r>
            <a:r>
              <a:rPr b="0" lang="it" sz="750">
                <a:solidFill>
                  <a:srgbClr val="94A3B8"/>
                </a:solidFill>
                <a:latin typeface="Inter SemiBold"/>
                <a:ea typeface="Inter SemiBold"/>
                <a:cs typeface="Inter SemiBold"/>
                <a:sym typeface="Inter SemiBold"/>
              </a:rPr>
              <a:t>:</a:t>
            </a:r>
            <a:r>
              <a:rPr lang="it" sz="750">
                <a:solidFill>
                  <a:srgbClr val="64748B"/>
                </a:solidFill>
                <a:latin typeface="Inter"/>
                <a:ea typeface="Inter"/>
                <a:cs typeface="Inter"/>
                <a:sym typeface="Inter"/>
              </a:rPr>
              <a:t>Thakur et al. (2024) -  ViscoelasticNet: A physics informed neural network framework for stress discovery and model selection</a:t>
            </a:r>
            <a:endParaRPr b="0" sz="750">
              <a:solidFill>
                <a:srgbClr val="64748B"/>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539" name="Shape 539"/>
        <p:cNvGrpSpPr/>
        <p:nvPr/>
      </p:nvGrpSpPr>
      <p:grpSpPr>
        <a:xfrm>
          <a:off x="0" y="0"/>
          <a:ext cx="0" cy="0"/>
          <a:chOff x="0" y="0"/>
          <a:chExt cx="0" cy="0"/>
        </a:xfrm>
      </p:grpSpPr>
      <p:sp>
        <p:nvSpPr>
          <p:cNvPr id="540" name="Google Shape;540;p36"/>
          <p:cNvSpPr txBox="1"/>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800">
                <a:solidFill>
                  <a:srgbClr val="F8F9FA"/>
                </a:solidFill>
                <a:latin typeface="Inter"/>
                <a:ea typeface="Inter"/>
                <a:cs typeface="Inter"/>
                <a:sym typeface="Inter"/>
              </a:rPr>
              <a:t>ViscoelasticNet: 2D Stenosis Results</a:t>
            </a:r>
            <a:endParaRPr b="1" sz="1800">
              <a:solidFill>
                <a:srgbClr val="F8F9FA"/>
              </a:solidFill>
              <a:latin typeface="Inter"/>
              <a:ea typeface="Inter"/>
              <a:cs typeface="Inter"/>
              <a:sym typeface="Inter"/>
            </a:endParaRPr>
          </a:p>
          <a:p>
            <a:pPr indent="0" lvl="0" marL="0" rtl="0" algn="l">
              <a:spcBef>
                <a:spcPts val="300"/>
              </a:spcBef>
              <a:spcAft>
                <a:spcPts val="0"/>
              </a:spcAft>
              <a:buNone/>
            </a:pPr>
            <a:r>
              <a:t/>
            </a:r>
            <a:endParaRPr b="0" sz="1050">
              <a:solidFill>
                <a:srgbClr val="94A3B8"/>
              </a:solidFill>
              <a:latin typeface="Inter"/>
              <a:ea typeface="Inter"/>
              <a:cs typeface="Inter"/>
              <a:sym typeface="Inter"/>
            </a:endParaRPr>
          </a:p>
        </p:txBody>
      </p:sp>
      <p:cxnSp>
        <p:nvCxnSpPr>
          <p:cNvPr id="541" name="Google Shape;541;p36"/>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542" name="Google Shape;542;p36"/>
          <p:cNvGrpSpPr/>
          <p:nvPr/>
        </p:nvGrpSpPr>
        <p:grpSpPr>
          <a:xfrm>
            <a:off x="381000" y="1028700"/>
            <a:ext cx="4143300" cy="3848100"/>
            <a:chOff x="381000" y="1028700"/>
            <a:chExt cx="4143300" cy="3848100"/>
          </a:xfrm>
        </p:grpSpPr>
        <p:sp>
          <p:nvSpPr>
            <p:cNvPr id="543" name="Google Shape;543;p36"/>
            <p:cNvSpPr/>
            <p:nvPr/>
          </p:nvSpPr>
          <p:spPr>
            <a:xfrm>
              <a:off x="381000" y="1028700"/>
              <a:ext cx="4143300" cy="3848100"/>
            </a:xfrm>
            <a:prstGeom prst="roundRect">
              <a:avLst>
                <a:gd fmla="val 198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36"/>
            <p:cNvSpPr/>
            <p:nvPr/>
          </p:nvSpPr>
          <p:spPr>
            <a:xfrm>
              <a:off x="381000" y="1028700"/>
              <a:ext cx="28500" cy="384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36"/>
            <p:cNvSpPr txBox="1"/>
            <p:nvPr/>
          </p:nvSpPr>
          <p:spPr>
            <a:xfrm>
              <a:off x="533400" y="1143000"/>
              <a:ext cx="381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50">
                  <a:solidFill>
                    <a:srgbClr val="3B82F6"/>
                  </a:solidFill>
                  <a:latin typeface="Inter"/>
                  <a:ea typeface="Inter"/>
                  <a:cs typeface="Inter"/>
                  <a:sym typeface="Inter"/>
                </a:rPr>
                <a:t>STRESS FIELD COMPARISON</a:t>
              </a:r>
              <a:endParaRPr b="1" sz="850">
                <a:solidFill>
                  <a:srgbClr val="3B82F6"/>
                </a:solidFill>
                <a:latin typeface="Inter"/>
                <a:ea typeface="Inter"/>
                <a:cs typeface="Inter"/>
                <a:sym typeface="Inter"/>
              </a:endParaRPr>
            </a:p>
          </p:txBody>
        </p:sp>
        <p:sp>
          <p:nvSpPr>
            <p:cNvPr id="546" name="Google Shape;546;p36"/>
            <p:cNvSpPr/>
            <p:nvPr/>
          </p:nvSpPr>
          <p:spPr>
            <a:xfrm>
              <a:off x="523875" y="1428750"/>
              <a:ext cx="3857700" cy="3257700"/>
            </a:xfrm>
            <a:prstGeom prst="roundRect">
              <a:avLst>
                <a:gd fmla="val 175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547" name="Google Shape;547;p36"/>
          <p:cNvPicPr preferRelativeResize="0"/>
          <p:nvPr/>
        </p:nvPicPr>
        <p:blipFill rotWithShape="1">
          <a:blip r:embed="rId4">
            <a:alphaModFix/>
          </a:blip>
          <a:srcRect b="0" l="1858" r="1858" t="0"/>
          <a:stretch/>
        </p:blipFill>
        <p:spPr>
          <a:xfrm>
            <a:off x="552450" y="1457325"/>
            <a:ext cx="3800400" cy="3200400"/>
          </a:xfrm>
          <a:prstGeom prst="rect">
            <a:avLst/>
          </a:prstGeom>
          <a:noFill/>
          <a:ln>
            <a:noFill/>
          </a:ln>
        </p:spPr>
      </p:pic>
      <p:grpSp>
        <p:nvGrpSpPr>
          <p:cNvPr id="548" name="Google Shape;548;p36"/>
          <p:cNvGrpSpPr/>
          <p:nvPr/>
        </p:nvGrpSpPr>
        <p:grpSpPr>
          <a:xfrm>
            <a:off x="4714875" y="1028700"/>
            <a:ext cx="4143300" cy="2362200"/>
            <a:chOff x="4714875" y="1028700"/>
            <a:chExt cx="4143300" cy="2362200"/>
          </a:xfrm>
        </p:grpSpPr>
        <p:sp>
          <p:nvSpPr>
            <p:cNvPr id="549" name="Google Shape;549;p36"/>
            <p:cNvSpPr/>
            <p:nvPr/>
          </p:nvSpPr>
          <p:spPr>
            <a:xfrm>
              <a:off x="4714875" y="1028700"/>
              <a:ext cx="4143300" cy="2362200"/>
            </a:xfrm>
            <a:prstGeom prst="roundRect">
              <a:avLst>
                <a:gd fmla="val 322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36"/>
            <p:cNvSpPr/>
            <p:nvPr/>
          </p:nvSpPr>
          <p:spPr>
            <a:xfrm>
              <a:off x="4714875" y="1028700"/>
              <a:ext cx="28500" cy="23622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36"/>
            <p:cNvSpPr txBox="1"/>
            <p:nvPr/>
          </p:nvSpPr>
          <p:spPr>
            <a:xfrm>
              <a:off x="4867275" y="1123950"/>
              <a:ext cx="381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50">
                  <a:solidFill>
                    <a:srgbClr val="10B981"/>
                  </a:solidFill>
                  <a:latin typeface="Inter"/>
                  <a:ea typeface="Inter"/>
                  <a:cs typeface="Inter"/>
                  <a:sym typeface="Inter"/>
                </a:rPr>
                <a:t>PARAMETER IDENTIFICATION UNDER NOISE</a:t>
              </a:r>
              <a:endParaRPr b="1" sz="850">
                <a:solidFill>
                  <a:srgbClr val="10B981"/>
                </a:solidFill>
                <a:latin typeface="Inter"/>
                <a:ea typeface="Inter"/>
                <a:cs typeface="Inter"/>
                <a:sym typeface="Inter"/>
              </a:endParaRPr>
            </a:p>
          </p:txBody>
        </p:sp>
      </p:grpSp>
      <p:pic>
        <p:nvPicPr>
          <p:cNvPr id="552" name="Google Shape;552;p36"/>
          <p:cNvPicPr preferRelativeResize="0"/>
          <p:nvPr/>
        </p:nvPicPr>
        <p:blipFill rotWithShape="1">
          <a:blip r:embed="rId5">
            <a:alphaModFix/>
          </a:blip>
          <a:srcRect b="3299" l="610" r="-610" t="10338"/>
          <a:stretch/>
        </p:blipFill>
        <p:spPr>
          <a:xfrm>
            <a:off x="4983825" y="1310075"/>
            <a:ext cx="3605400" cy="991500"/>
          </a:xfrm>
          <a:prstGeom prst="rect">
            <a:avLst/>
          </a:prstGeom>
          <a:noFill/>
          <a:ln>
            <a:noFill/>
          </a:ln>
        </p:spPr>
      </p:pic>
      <p:pic>
        <p:nvPicPr>
          <p:cNvPr id="553" name="Google Shape;553;p36"/>
          <p:cNvPicPr preferRelativeResize="0"/>
          <p:nvPr/>
        </p:nvPicPr>
        <p:blipFill rotWithShape="1">
          <a:blip r:embed="rId6">
            <a:alphaModFix/>
          </a:blip>
          <a:srcRect b="6634" l="0" r="0" t="6643"/>
          <a:stretch/>
        </p:blipFill>
        <p:spPr>
          <a:xfrm>
            <a:off x="4997325" y="2344175"/>
            <a:ext cx="3578400" cy="937800"/>
          </a:xfrm>
          <a:prstGeom prst="rect">
            <a:avLst/>
          </a:prstGeom>
          <a:noFill/>
          <a:ln>
            <a:noFill/>
          </a:ln>
        </p:spPr>
      </p:pic>
      <p:grpSp>
        <p:nvGrpSpPr>
          <p:cNvPr id="554" name="Google Shape;554;p36"/>
          <p:cNvGrpSpPr/>
          <p:nvPr/>
        </p:nvGrpSpPr>
        <p:grpSpPr>
          <a:xfrm>
            <a:off x="4714875" y="3505200"/>
            <a:ext cx="4143300" cy="1371600"/>
            <a:chOff x="4714875" y="3505200"/>
            <a:chExt cx="4143300" cy="1371600"/>
          </a:xfrm>
        </p:grpSpPr>
        <p:sp>
          <p:nvSpPr>
            <p:cNvPr id="555" name="Google Shape;555;p36"/>
            <p:cNvSpPr/>
            <p:nvPr/>
          </p:nvSpPr>
          <p:spPr>
            <a:xfrm>
              <a:off x="4714875" y="3505200"/>
              <a:ext cx="4143300" cy="1371600"/>
            </a:xfrm>
            <a:prstGeom prst="roundRect">
              <a:avLst>
                <a:gd fmla="val 555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36"/>
            <p:cNvSpPr/>
            <p:nvPr/>
          </p:nvSpPr>
          <p:spPr>
            <a:xfrm>
              <a:off x="4714875" y="3505200"/>
              <a:ext cx="28500" cy="13716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36"/>
            <p:cNvSpPr txBox="1"/>
            <p:nvPr/>
          </p:nvSpPr>
          <p:spPr>
            <a:xfrm>
              <a:off x="4867275" y="3581400"/>
              <a:ext cx="381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50">
                  <a:solidFill>
                    <a:srgbClr val="8B5CF6"/>
                  </a:solidFill>
                  <a:latin typeface="Inter"/>
                  <a:ea typeface="Inter"/>
                  <a:cs typeface="Inter"/>
                  <a:sym typeface="Inter"/>
                </a:rPr>
                <a:t>FIELD ACCURACY &amp; RELATIVE ERROR FORMULATION</a:t>
              </a:r>
              <a:endParaRPr b="1" sz="850">
                <a:solidFill>
                  <a:srgbClr val="8B5CF6"/>
                </a:solidFill>
                <a:latin typeface="Inter"/>
                <a:ea typeface="Inter"/>
                <a:cs typeface="Inter"/>
                <a:sym typeface="Inter"/>
              </a:endParaRPr>
            </a:p>
          </p:txBody>
        </p:sp>
      </p:grpSp>
      <p:pic>
        <p:nvPicPr>
          <p:cNvPr id="558" name="Google Shape;558;p36"/>
          <p:cNvPicPr preferRelativeResize="0"/>
          <p:nvPr/>
        </p:nvPicPr>
        <p:blipFill rotWithShape="1">
          <a:blip r:embed="rId7">
            <a:alphaModFix/>
          </a:blip>
          <a:srcRect b="0" l="0" r="0" t="0"/>
          <a:stretch/>
        </p:blipFill>
        <p:spPr>
          <a:xfrm>
            <a:off x="4802813" y="3774300"/>
            <a:ext cx="2451300" cy="759600"/>
          </a:xfrm>
          <a:prstGeom prst="rect">
            <a:avLst/>
          </a:prstGeom>
          <a:noFill/>
          <a:ln>
            <a:noFill/>
          </a:ln>
        </p:spPr>
      </p:pic>
      <p:sp>
        <p:nvSpPr>
          <p:cNvPr id="559" name="Google Shape;559;p3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560" name="Google Shape;560;p36"/>
          <p:cNvPicPr preferRelativeResize="0"/>
          <p:nvPr/>
        </p:nvPicPr>
        <p:blipFill rotWithShape="1">
          <a:blip r:embed="rId8">
            <a:alphaModFix/>
          </a:blip>
          <a:srcRect b="0" l="-1554" r="0" t="0"/>
          <a:stretch/>
        </p:blipFill>
        <p:spPr>
          <a:xfrm>
            <a:off x="6483600" y="4490075"/>
            <a:ext cx="2279400" cy="342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564" name="Shape 564"/>
        <p:cNvGrpSpPr/>
        <p:nvPr/>
      </p:nvGrpSpPr>
      <p:grpSpPr>
        <a:xfrm>
          <a:off x="0" y="0"/>
          <a:ext cx="0" cy="0"/>
          <a:chOff x="0" y="0"/>
          <a:chExt cx="0" cy="0"/>
        </a:xfrm>
      </p:grpSpPr>
      <p:sp>
        <p:nvSpPr>
          <p:cNvPr id="565" name="Google Shape;565;p37"/>
          <p:cNvSpPr txBox="1"/>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800">
                <a:solidFill>
                  <a:srgbClr val="F8F9FA"/>
                </a:solidFill>
                <a:latin typeface="Inter"/>
                <a:ea typeface="Inter"/>
                <a:cs typeface="Inter"/>
                <a:sym typeface="Inter"/>
              </a:rPr>
              <a:t>ViscoelasticNet: Cross-Slot Flow Results</a:t>
            </a:r>
            <a:endParaRPr b="1" sz="1800">
              <a:solidFill>
                <a:srgbClr val="F8F9FA"/>
              </a:solidFill>
              <a:latin typeface="Inter"/>
              <a:ea typeface="Inter"/>
              <a:cs typeface="Inter"/>
              <a:sym typeface="Inter"/>
            </a:endParaRPr>
          </a:p>
        </p:txBody>
      </p:sp>
      <p:cxnSp>
        <p:nvCxnSpPr>
          <p:cNvPr id="566" name="Google Shape;566;p37"/>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567" name="Google Shape;567;p37"/>
          <p:cNvGrpSpPr/>
          <p:nvPr/>
        </p:nvGrpSpPr>
        <p:grpSpPr>
          <a:xfrm>
            <a:off x="381000" y="1028700"/>
            <a:ext cx="4143300" cy="3848100"/>
            <a:chOff x="0" y="0"/>
            <a:chExt cx="4143300" cy="3848100"/>
          </a:xfrm>
        </p:grpSpPr>
        <p:sp>
          <p:nvSpPr>
            <p:cNvPr id="568" name="Google Shape;568;p37"/>
            <p:cNvSpPr/>
            <p:nvPr/>
          </p:nvSpPr>
          <p:spPr>
            <a:xfrm>
              <a:off x="0" y="0"/>
              <a:ext cx="4143300" cy="3848100"/>
            </a:xfrm>
            <a:prstGeom prst="roundRect">
              <a:avLst>
                <a:gd fmla="val 198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37"/>
            <p:cNvSpPr/>
            <p:nvPr/>
          </p:nvSpPr>
          <p:spPr>
            <a:xfrm>
              <a:off x="0" y="0"/>
              <a:ext cx="28500" cy="384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0" name="Google Shape;570;p37"/>
            <p:cNvSpPr txBox="1"/>
            <p:nvPr/>
          </p:nvSpPr>
          <p:spPr>
            <a:xfrm>
              <a:off x="152400" y="114300"/>
              <a:ext cx="381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50">
                  <a:solidFill>
                    <a:srgbClr val="3B82F6"/>
                  </a:solidFill>
                  <a:latin typeface="Inter"/>
                  <a:ea typeface="Inter"/>
                  <a:cs typeface="Inter"/>
                  <a:sym typeface="Inter"/>
                </a:rPr>
                <a:t>STRESS FIELD COMPARISON</a:t>
              </a:r>
              <a:endParaRPr b="1" sz="850">
                <a:solidFill>
                  <a:srgbClr val="3B82F6"/>
                </a:solidFill>
                <a:latin typeface="Inter"/>
                <a:ea typeface="Inter"/>
                <a:cs typeface="Inter"/>
                <a:sym typeface="Inter"/>
              </a:endParaRPr>
            </a:p>
          </p:txBody>
        </p:sp>
        <p:sp>
          <p:nvSpPr>
            <p:cNvPr id="571" name="Google Shape;571;p37"/>
            <p:cNvSpPr/>
            <p:nvPr/>
          </p:nvSpPr>
          <p:spPr>
            <a:xfrm>
              <a:off x="142875" y="400050"/>
              <a:ext cx="3857700" cy="3257700"/>
            </a:xfrm>
            <a:prstGeom prst="roundRect">
              <a:avLst>
                <a:gd fmla="val 175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72" name="Google Shape;572;p37"/>
          <p:cNvGrpSpPr/>
          <p:nvPr/>
        </p:nvGrpSpPr>
        <p:grpSpPr>
          <a:xfrm>
            <a:off x="4714875" y="1028700"/>
            <a:ext cx="4143300" cy="3848100"/>
            <a:chOff x="0" y="0"/>
            <a:chExt cx="4143300" cy="3848100"/>
          </a:xfrm>
        </p:grpSpPr>
        <p:sp>
          <p:nvSpPr>
            <p:cNvPr id="573" name="Google Shape;573;p37"/>
            <p:cNvSpPr/>
            <p:nvPr/>
          </p:nvSpPr>
          <p:spPr>
            <a:xfrm>
              <a:off x="0" y="0"/>
              <a:ext cx="4143300" cy="3848100"/>
            </a:xfrm>
            <a:prstGeom prst="roundRect">
              <a:avLst>
                <a:gd fmla="val 198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p37"/>
            <p:cNvSpPr/>
            <p:nvPr/>
          </p:nvSpPr>
          <p:spPr>
            <a:xfrm>
              <a:off x="0" y="0"/>
              <a:ext cx="28500" cy="3848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37"/>
            <p:cNvSpPr txBox="1"/>
            <p:nvPr/>
          </p:nvSpPr>
          <p:spPr>
            <a:xfrm>
              <a:off x="152400" y="114300"/>
              <a:ext cx="38100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850">
                  <a:solidFill>
                    <a:srgbClr val="10B981"/>
                  </a:solidFill>
                  <a:latin typeface="Inter"/>
                  <a:ea typeface="Inter"/>
                  <a:cs typeface="Inter"/>
                  <a:sym typeface="Inter"/>
                </a:rPr>
                <a:t>PARAMETER IDENTIFICATION &amp; PREDICTED VALUES</a:t>
              </a:r>
              <a:endParaRPr b="1" sz="850">
                <a:solidFill>
                  <a:srgbClr val="10B981"/>
                </a:solidFill>
                <a:latin typeface="Inter"/>
                <a:ea typeface="Inter"/>
                <a:cs typeface="Inter"/>
                <a:sym typeface="Inter"/>
              </a:endParaRPr>
            </a:p>
          </p:txBody>
        </p:sp>
        <p:sp>
          <p:nvSpPr>
            <p:cNvPr id="576" name="Google Shape;576;p37"/>
            <p:cNvSpPr/>
            <p:nvPr/>
          </p:nvSpPr>
          <p:spPr>
            <a:xfrm>
              <a:off x="142875" y="400050"/>
              <a:ext cx="3857700" cy="3257700"/>
            </a:xfrm>
            <a:prstGeom prst="roundRect">
              <a:avLst>
                <a:gd fmla="val 175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577" name="Google Shape;577;p37"/>
          <p:cNvPicPr preferRelativeResize="0"/>
          <p:nvPr/>
        </p:nvPicPr>
        <p:blipFill rotWithShape="1">
          <a:blip r:embed="rId4">
            <a:alphaModFix/>
          </a:blip>
          <a:srcRect b="0" l="20" r="20" t="0"/>
          <a:stretch/>
        </p:blipFill>
        <p:spPr>
          <a:xfrm>
            <a:off x="552450" y="1771650"/>
            <a:ext cx="3800400" cy="2562300"/>
          </a:xfrm>
          <a:prstGeom prst="rect">
            <a:avLst/>
          </a:prstGeom>
          <a:noFill/>
          <a:ln>
            <a:noFill/>
          </a:ln>
        </p:spPr>
      </p:pic>
      <p:pic>
        <p:nvPicPr>
          <p:cNvPr id="578" name="Google Shape;578;p37"/>
          <p:cNvPicPr preferRelativeResize="0"/>
          <p:nvPr/>
        </p:nvPicPr>
        <p:blipFill rotWithShape="1">
          <a:blip r:embed="rId5">
            <a:alphaModFix/>
          </a:blip>
          <a:srcRect b="0" l="60" r="70" t="0"/>
          <a:stretch/>
        </p:blipFill>
        <p:spPr>
          <a:xfrm>
            <a:off x="4905375" y="2114550"/>
            <a:ext cx="3762300" cy="1886100"/>
          </a:xfrm>
          <a:prstGeom prst="rect">
            <a:avLst/>
          </a:prstGeom>
          <a:noFill/>
          <a:ln>
            <a:noFill/>
          </a:ln>
        </p:spPr>
      </p:pic>
      <p:sp>
        <p:nvSpPr>
          <p:cNvPr id="579" name="Google Shape;579;p3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3" name="Shape 583"/>
        <p:cNvGrpSpPr/>
        <p:nvPr/>
      </p:nvGrpSpPr>
      <p:grpSpPr>
        <a:xfrm>
          <a:off x="0" y="0"/>
          <a:ext cx="0" cy="0"/>
          <a:chOff x="0" y="0"/>
          <a:chExt cx="0" cy="0"/>
        </a:xfrm>
      </p:grpSpPr>
      <p:cxnSp>
        <p:nvCxnSpPr>
          <p:cNvPr id="584" name="Google Shape;584;p38"/>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585" name="Google Shape;585;p38"/>
          <p:cNvGrpSpPr/>
          <p:nvPr/>
        </p:nvGrpSpPr>
        <p:grpSpPr>
          <a:xfrm>
            <a:off x="381000" y="238125"/>
            <a:ext cx="8382000" cy="571500"/>
            <a:chOff x="0" y="0"/>
            <a:chExt cx="8382000" cy="571500"/>
          </a:xfrm>
        </p:grpSpPr>
        <p:sp>
          <p:nvSpPr>
            <p:cNvPr id="586" name="Google Shape;586;p38"/>
            <p:cNvSpPr/>
            <p:nvPr/>
          </p:nvSpPr>
          <p:spPr>
            <a:xfrm>
              <a:off x="0" y="0"/>
              <a:ext cx="8382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38"/>
            <p:cNvSpPr txBox="1"/>
            <p:nvPr/>
          </p:nvSpPr>
          <p:spPr>
            <a:xfrm>
              <a:off x="0" y="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3500">
                  <a:solidFill>
                    <a:srgbClr val="F8F9FA"/>
                  </a:solidFill>
                  <a:latin typeface="Inter SemiBold"/>
                  <a:ea typeface="Inter SemiBold"/>
                  <a:cs typeface="Inter SemiBold"/>
                  <a:sym typeface="Inter SemiBold"/>
                </a:rPr>
                <a:t>Overview of </a:t>
              </a:r>
              <a:r>
                <a:rPr lang="it" sz="3500">
                  <a:solidFill>
                    <a:srgbClr val="F8F9FA"/>
                  </a:solidFill>
                  <a:latin typeface="Inter SemiBold"/>
                  <a:ea typeface="Inter SemiBold"/>
                  <a:cs typeface="Inter SemiBold"/>
                  <a:sym typeface="Inter SemiBold"/>
                </a:rPr>
                <a:t>our</a:t>
              </a:r>
              <a:r>
                <a:rPr b="0" lang="it" sz="3500">
                  <a:solidFill>
                    <a:srgbClr val="F8F9FA"/>
                  </a:solidFill>
                  <a:latin typeface="Inter SemiBold"/>
                  <a:ea typeface="Inter SemiBold"/>
                  <a:cs typeface="Inter SemiBold"/>
                  <a:sym typeface="Inter SemiBold"/>
                </a:rPr>
                <a:t> </a:t>
              </a:r>
              <a:r>
                <a:rPr lang="it" sz="3500">
                  <a:solidFill>
                    <a:srgbClr val="F8F9FA"/>
                  </a:solidFill>
                  <a:latin typeface="Inter SemiBold"/>
                  <a:ea typeface="Inter SemiBold"/>
                  <a:cs typeface="Inter SemiBold"/>
                  <a:sym typeface="Inter SemiBold"/>
                </a:rPr>
                <a:t>w</a:t>
              </a:r>
              <a:r>
                <a:rPr b="0" lang="it" sz="3500">
                  <a:solidFill>
                    <a:srgbClr val="F8F9FA"/>
                  </a:solidFill>
                  <a:latin typeface="Inter SemiBold"/>
                  <a:ea typeface="Inter SemiBold"/>
                  <a:cs typeface="Inter SemiBold"/>
                  <a:sym typeface="Inter SemiBold"/>
                </a:rPr>
                <a:t>ork</a:t>
              </a:r>
              <a:endParaRPr b="0" sz="3500">
                <a:solidFill>
                  <a:srgbClr val="F8F9FA"/>
                </a:solidFill>
                <a:latin typeface="Inter SemiBold"/>
                <a:ea typeface="Inter SemiBold"/>
                <a:cs typeface="Inter SemiBold"/>
                <a:sym typeface="Inter SemiBold"/>
              </a:endParaRPr>
            </a:p>
          </p:txBody>
        </p:sp>
      </p:grpSp>
      <p:grpSp>
        <p:nvGrpSpPr>
          <p:cNvPr id="588" name="Google Shape;588;p38"/>
          <p:cNvGrpSpPr/>
          <p:nvPr/>
        </p:nvGrpSpPr>
        <p:grpSpPr>
          <a:xfrm>
            <a:off x="381000" y="1143000"/>
            <a:ext cx="3905400" cy="1619100"/>
            <a:chOff x="0" y="0"/>
            <a:chExt cx="3905400" cy="1619100"/>
          </a:xfrm>
        </p:grpSpPr>
        <p:sp>
          <p:nvSpPr>
            <p:cNvPr id="589" name="Google Shape;589;p38"/>
            <p:cNvSpPr/>
            <p:nvPr/>
          </p:nvSpPr>
          <p:spPr>
            <a:xfrm>
              <a:off x="0" y="0"/>
              <a:ext cx="3905400" cy="1619100"/>
            </a:xfrm>
            <a:prstGeom prst="roundRect">
              <a:avLst>
                <a:gd fmla="val 3529"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38"/>
            <p:cNvSpPr/>
            <p:nvPr/>
          </p:nvSpPr>
          <p:spPr>
            <a:xfrm>
              <a:off x="0" y="0"/>
              <a:ext cx="38100" cy="1619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38"/>
            <p:cNvSpPr txBox="1"/>
            <p:nvPr/>
          </p:nvSpPr>
          <p:spPr>
            <a:xfrm>
              <a:off x="190500" y="190500"/>
              <a:ext cx="3524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100">
                  <a:solidFill>
                    <a:srgbClr val="3B82F6"/>
                  </a:solidFill>
                  <a:latin typeface="Inter"/>
                  <a:ea typeface="Inter"/>
                  <a:cs typeface="Inter"/>
                  <a:sym typeface="Inter"/>
                </a:rPr>
                <a:t>01 </a:t>
              </a:r>
              <a:r>
                <a:rPr b="0" lang="it" sz="800">
                  <a:solidFill>
                    <a:srgbClr val="3B82F6"/>
                  </a:solidFill>
                  <a:latin typeface="Inter SemiBold"/>
                  <a:ea typeface="Inter SemiBold"/>
                  <a:cs typeface="Inter SemiBold"/>
                  <a:sym typeface="Inter SemiBold"/>
                </a:rPr>
                <a:t>PARAMETER EXTRACTION</a:t>
              </a:r>
              <a:endParaRPr b="1" sz="1100">
                <a:solidFill>
                  <a:srgbClr val="3B82F6"/>
                </a:solidFill>
                <a:latin typeface="Inter"/>
                <a:ea typeface="Inter"/>
                <a:cs typeface="Inter"/>
                <a:sym typeface="Inter"/>
              </a:endParaRPr>
            </a:p>
            <a:p>
              <a:pPr indent="0" lvl="0" marL="0" rtl="0" algn="l">
                <a:spcBef>
                  <a:spcPts val="600"/>
                </a:spcBef>
                <a:spcAft>
                  <a:spcPts val="0"/>
                </a:spcAft>
                <a:buNone/>
              </a:pPr>
              <a:r>
                <a:rPr b="0" lang="it" sz="1500">
                  <a:solidFill>
                    <a:srgbClr val="F8F9FA"/>
                  </a:solidFill>
                  <a:latin typeface="Inter SemiBold"/>
                  <a:ea typeface="Inter SemiBold"/>
                  <a:cs typeface="Inter SemiBold"/>
                  <a:sym typeface="Inter SemiBold"/>
                </a:rPr>
                <a:t>Physical Parameters</a:t>
              </a:r>
              <a:endParaRPr b="0" sz="1500">
                <a:solidFill>
                  <a:srgbClr val="F8F9FA"/>
                </a:solidFill>
                <a:latin typeface="Inter SemiBold"/>
                <a:ea typeface="Inter SemiBold"/>
                <a:cs typeface="Inter SemiBold"/>
                <a:sym typeface="Inter SemiBold"/>
              </a:endParaRPr>
            </a:p>
            <a:p>
              <a:pPr indent="0" lvl="0" marL="0" rtl="0" algn="l">
                <a:spcBef>
                  <a:spcPts val="800"/>
                </a:spcBef>
                <a:spcAft>
                  <a:spcPts val="0"/>
                </a:spcAft>
                <a:buNone/>
              </a:pPr>
              <a:r>
                <a:rPr b="0" lang="it" sz="950">
                  <a:solidFill>
                    <a:srgbClr val="94A3B8"/>
                  </a:solidFill>
                  <a:latin typeface="Inter Light"/>
                  <a:ea typeface="Inter Light"/>
                  <a:cs typeface="Inter Light"/>
                  <a:sym typeface="Inter Light"/>
                </a:rPr>
                <a:t>PINN applied to a four-roll mill geometry to extract key physical parameters from experimental fluid dynamics data.</a:t>
              </a:r>
              <a:endParaRPr b="0" sz="950">
                <a:solidFill>
                  <a:srgbClr val="94A3B8"/>
                </a:solidFill>
                <a:latin typeface="Inter Light"/>
                <a:ea typeface="Inter Light"/>
                <a:cs typeface="Inter Light"/>
                <a:sym typeface="Inter Light"/>
              </a:endParaRPr>
            </a:p>
          </p:txBody>
        </p:sp>
      </p:grpSp>
      <p:grpSp>
        <p:nvGrpSpPr>
          <p:cNvPr id="592" name="Google Shape;592;p38"/>
          <p:cNvGrpSpPr/>
          <p:nvPr/>
        </p:nvGrpSpPr>
        <p:grpSpPr>
          <a:xfrm>
            <a:off x="381000" y="2952750"/>
            <a:ext cx="3905400" cy="1619100"/>
            <a:chOff x="0" y="0"/>
            <a:chExt cx="3905400" cy="1619100"/>
          </a:xfrm>
        </p:grpSpPr>
        <p:sp>
          <p:nvSpPr>
            <p:cNvPr id="593" name="Google Shape;593;p38"/>
            <p:cNvSpPr/>
            <p:nvPr/>
          </p:nvSpPr>
          <p:spPr>
            <a:xfrm>
              <a:off x="0" y="0"/>
              <a:ext cx="3905400" cy="1619100"/>
            </a:xfrm>
            <a:prstGeom prst="roundRect">
              <a:avLst>
                <a:gd fmla="val 3529"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38"/>
            <p:cNvSpPr/>
            <p:nvPr/>
          </p:nvSpPr>
          <p:spPr>
            <a:xfrm>
              <a:off x="0" y="0"/>
              <a:ext cx="38100" cy="1619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5" name="Google Shape;595;p38"/>
            <p:cNvSpPr txBox="1"/>
            <p:nvPr/>
          </p:nvSpPr>
          <p:spPr>
            <a:xfrm>
              <a:off x="190500" y="190500"/>
              <a:ext cx="3524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100">
                  <a:solidFill>
                    <a:srgbClr val="3B82F6"/>
                  </a:solidFill>
                  <a:latin typeface="Inter"/>
                  <a:ea typeface="Inter"/>
                  <a:cs typeface="Inter"/>
                  <a:sym typeface="Inter"/>
                </a:rPr>
                <a:t>02 </a:t>
              </a:r>
              <a:r>
                <a:rPr b="0" lang="it" sz="800">
                  <a:solidFill>
                    <a:srgbClr val="3B82F6"/>
                  </a:solidFill>
                  <a:latin typeface="Inter SemiBold"/>
                  <a:ea typeface="Inter SemiBold"/>
                  <a:cs typeface="Inter SemiBold"/>
                  <a:sym typeface="Inter SemiBold"/>
                </a:rPr>
                <a:t>MODEL SELECTION</a:t>
              </a:r>
              <a:endParaRPr b="1" sz="1100">
                <a:solidFill>
                  <a:srgbClr val="3B82F6"/>
                </a:solidFill>
                <a:latin typeface="Inter"/>
                <a:ea typeface="Inter"/>
                <a:cs typeface="Inter"/>
                <a:sym typeface="Inter"/>
              </a:endParaRPr>
            </a:p>
            <a:p>
              <a:pPr indent="0" lvl="0" marL="0" rtl="0" algn="l">
                <a:spcBef>
                  <a:spcPts val="600"/>
                </a:spcBef>
                <a:spcAft>
                  <a:spcPts val="0"/>
                </a:spcAft>
                <a:buNone/>
              </a:pPr>
              <a:r>
                <a:rPr b="0" lang="it" sz="1500">
                  <a:solidFill>
                    <a:srgbClr val="F8F9FA"/>
                  </a:solidFill>
                  <a:latin typeface="Inter SemiBold"/>
                  <a:ea typeface="Inter SemiBold"/>
                  <a:cs typeface="Inter SemiBold"/>
                  <a:sym typeface="Inter SemiBold"/>
                </a:rPr>
                <a:t>Constitutive Modeling</a:t>
              </a:r>
              <a:endParaRPr b="0" sz="1500">
                <a:solidFill>
                  <a:srgbClr val="F8F9FA"/>
                </a:solidFill>
                <a:latin typeface="Inter SemiBold"/>
                <a:ea typeface="Inter SemiBold"/>
                <a:cs typeface="Inter SemiBold"/>
                <a:sym typeface="Inter SemiBold"/>
              </a:endParaRPr>
            </a:p>
            <a:p>
              <a:pPr indent="0" lvl="0" marL="0" rtl="0" algn="l">
                <a:spcBef>
                  <a:spcPts val="800"/>
                </a:spcBef>
                <a:spcAft>
                  <a:spcPts val="0"/>
                </a:spcAft>
                <a:buNone/>
              </a:pPr>
              <a:r>
                <a:rPr b="0" lang="it" sz="950">
                  <a:solidFill>
                    <a:srgbClr val="94A3B8"/>
                  </a:solidFill>
                  <a:latin typeface="Inter Light"/>
                  <a:ea typeface="Inter Light"/>
                  <a:cs typeface="Inter Light"/>
                  <a:sym typeface="Inter Light"/>
                </a:rPr>
                <a:t>Identification and evaluation of the constitutive model that best fits and describes experimental observations.</a:t>
              </a:r>
              <a:endParaRPr b="0" sz="950">
                <a:solidFill>
                  <a:srgbClr val="94A3B8"/>
                </a:solidFill>
                <a:latin typeface="Inter Light"/>
                <a:ea typeface="Inter Light"/>
                <a:cs typeface="Inter Light"/>
                <a:sym typeface="Inter Light"/>
              </a:endParaRPr>
            </a:p>
          </p:txBody>
        </p:sp>
      </p:grpSp>
      <p:sp>
        <p:nvSpPr>
          <p:cNvPr id="596" name="Google Shape;59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97" name="Google Shape;597;p3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goodfellow deep learning </a:t>
            </a:r>
            <a:endParaRPr/>
          </a:p>
        </p:txBody>
      </p:sp>
      <p:pic>
        <p:nvPicPr>
          <p:cNvPr id="598" name="Google Shape;598;p38"/>
          <p:cNvPicPr preferRelativeResize="0"/>
          <p:nvPr/>
        </p:nvPicPr>
        <p:blipFill rotWithShape="1">
          <a:blip r:embed="rId4">
            <a:alphaModFix/>
          </a:blip>
          <a:srcRect b="6247" l="22981" r="23351" t="5398"/>
          <a:stretch/>
        </p:blipFill>
        <p:spPr>
          <a:xfrm>
            <a:off x="4962325" y="1090100"/>
            <a:ext cx="3573124" cy="3573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02" name="Shape 602"/>
        <p:cNvGrpSpPr/>
        <p:nvPr/>
      </p:nvGrpSpPr>
      <p:grpSpPr>
        <a:xfrm>
          <a:off x="0" y="0"/>
          <a:ext cx="0" cy="0"/>
          <a:chOff x="0" y="0"/>
          <a:chExt cx="0" cy="0"/>
        </a:xfrm>
      </p:grpSpPr>
      <p:sp>
        <p:nvSpPr>
          <p:cNvPr id="603" name="Google Shape;603;p39"/>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2800">
                <a:solidFill>
                  <a:srgbClr val="F8F9FA"/>
                </a:solidFill>
                <a:latin typeface="Inter SemiBold"/>
                <a:ea typeface="Inter SemiBold"/>
                <a:cs typeface="Inter SemiBold"/>
                <a:sym typeface="Inter SemiBold"/>
              </a:rPr>
              <a:t>Differences from V</a:t>
            </a:r>
            <a:r>
              <a:rPr lang="it" sz="2800">
                <a:solidFill>
                  <a:srgbClr val="F8F9FA"/>
                </a:solidFill>
                <a:latin typeface="Inter SemiBold"/>
                <a:ea typeface="Inter SemiBold"/>
                <a:cs typeface="Inter SemiBold"/>
                <a:sym typeface="Inter SemiBold"/>
              </a:rPr>
              <a:t>iscoelastic</a:t>
            </a:r>
            <a:r>
              <a:rPr b="0" lang="it" sz="2800">
                <a:solidFill>
                  <a:srgbClr val="F8F9FA"/>
                </a:solidFill>
                <a:latin typeface="Inter SemiBold"/>
                <a:ea typeface="Inter SemiBold"/>
                <a:cs typeface="Inter SemiBold"/>
                <a:sym typeface="Inter SemiBold"/>
              </a:rPr>
              <a:t>NET</a:t>
            </a:r>
            <a:endParaRPr b="0" sz="2800">
              <a:solidFill>
                <a:srgbClr val="F8F9FA"/>
              </a:solidFill>
              <a:latin typeface="Inter SemiBold"/>
              <a:ea typeface="Inter SemiBold"/>
              <a:cs typeface="Inter SemiBold"/>
              <a:sym typeface="Inter SemiBold"/>
            </a:endParaRPr>
          </a:p>
        </p:txBody>
      </p:sp>
      <p:cxnSp>
        <p:nvCxnSpPr>
          <p:cNvPr id="604" name="Google Shape;604;p39"/>
          <p:cNvCxnSpPr/>
          <p:nvPr/>
        </p:nvCxnSpPr>
        <p:spPr>
          <a:xfrm>
            <a:off x="381000" y="7620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605" name="Google Shape;60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606" name="Google Shape;606;p39"/>
          <p:cNvGrpSpPr/>
          <p:nvPr/>
        </p:nvGrpSpPr>
        <p:grpSpPr>
          <a:xfrm>
            <a:off x="381000" y="1000125"/>
            <a:ext cx="2667000" cy="3762300"/>
            <a:chOff x="0" y="0"/>
            <a:chExt cx="2667000" cy="3762300"/>
          </a:xfrm>
        </p:grpSpPr>
        <p:sp>
          <p:nvSpPr>
            <p:cNvPr id="607" name="Google Shape;607;p39"/>
            <p:cNvSpPr/>
            <p:nvPr/>
          </p:nvSpPr>
          <p:spPr>
            <a:xfrm>
              <a:off x="0" y="0"/>
              <a:ext cx="2667000" cy="37623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39"/>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9" name="Google Shape;609;p39"/>
            <p:cNvSpPr txBox="1"/>
            <p:nvPr/>
          </p:nvSpPr>
          <p:spPr>
            <a:xfrm>
              <a:off x="190500" y="228600"/>
              <a:ext cx="2286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2200">
                  <a:solidFill>
                    <a:srgbClr val="3B82F6"/>
                  </a:solidFill>
                  <a:latin typeface="Inter"/>
                  <a:ea typeface="Inter"/>
                  <a:cs typeface="Inter"/>
                  <a:sym typeface="Inter"/>
                </a:rPr>
                <a:t>01</a:t>
              </a:r>
              <a:endParaRPr b="1" sz="2200">
                <a:solidFill>
                  <a:srgbClr val="3B82F6"/>
                </a:solidFill>
                <a:latin typeface="Inter"/>
                <a:ea typeface="Inter"/>
                <a:cs typeface="Inter"/>
                <a:sym typeface="Inter"/>
              </a:endParaRPr>
            </a:p>
            <a:p>
              <a:pPr indent="0" lvl="0" marL="0" rtl="0" algn="l">
                <a:spcBef>
                  <a:spcPts val="800"/>
                </a:spcBef>
                <a:spcAft>
                  <a:spcPts val="0"/>
                </a:spcAft>
                <a:buNone/>
              </a:pPr>
              <a:r>
                <a:rPr b="0" lang="it" sz="750">
                  <a:solidFill>
                    <a:srgbClr val="3B82F6"/>
                  </a:solidFill>
                  <a:latin typeface="Inter SemiBold"/>
                  <a:ea typeface="Inter SemiBold"/>
                  <a:cs typeface="Inter SemiBold"/>
                  <a:sym typeface="Inter SemiBold"/>
                </a:rPr>
                <a:t>REGIME TYPE</a:t>
              </a:r>
              <a:endParaRPr b="0" sz="750">
                <a:solidFill>
                  <a:srgbClr val="3B82F6"/>
                </a:solidFill>
                <a:latin typeface="Inter SemiBold"/>
                <a:ea typeface="Inter SemiBold"/>
                <a:cs typeface="Inter SemiBold"/>
                <a:sym typeface="Inter SemiBold"/>
              </a:endParaRPr>
            </a:p>
            <a:p>
              <a:pPr indent="0" lvl="0" marL="0" rtl="0" algn="l">
                <a:spcBef>
                  <a:spcPts val="400"/>
                </a:spcBef>
                <a:spcAft>
                  <a:spcPts val="0"/>
                </a:spcAft>
                <a:buNone/>
              </a:pPr>
              <a:r>
                <a:rPr b="0" lang="it" sz="1500">
                  <a:solidFill>
                    <a:srgbClr val="F8F9FA"/>
                  </a:solidFill>
                  <a:latin typeface="Inter SemiBold"/>
                  <a:ea typeface="Inter SemiBold"/>
                  <a:cs typeface="Inter SemiBold"/>
                  <a:sym typeface="Inter SemiBold"/>
                </a:rPr>
                <a:t>Steady-State</a:t>
              </a:r>
              <a:endParaRPr b="0" sz="1500">
                <a:solidFill>
                  <a:srgbClr val="F8F9FA"/>
                </a:solidFill>
                <a:latin typeface="Inter SemiBold"/>
                <a:ea typeface="Inter SemiBold"/>
                <a:cs typeface="Inter SemiBold"/>
                <a:sym typeface="Inter SemiBold"/>
              </a:endParaRPr>
            </a:p>
            <a:p>
              <a:pPr indent="0" lvl="0" marL="0" rtl="0" algn="l">
                <a:spcBef>
                  <a:spcPts val="1000"/>
                </a:spcBef>
                <a:spcAft>
                  <a:spcPts val="0"/>
                </a:spcAft>
                <a:buNone/>
              </a:pPr>
              <a:r>
                <a:rPr b="0" lang="it" sz="850">
                  <a:solidFill>
                    <a:srgbClr val="94A3B8"/>
                  </a:solidFill>
                  <a:latin typeface="Inter Light"/>
                  <a:ea typeface="Inter Light"/>
                  <a:cs typeface="Inter Light"/>
                  <a:sym typeface="Inter Light"/>
                </a:rPr>
                <a:t>Formulated exclusively for stationary conditions ⟶ </a:t>
              </a:r>
              <a:r>
                <a:rPr b="0" lang="it" sz="850">
                  <a:solidFill>
                    <a:srgbClr val="60A5FA"/>
                  </a:solidFill>
                  <a:latin typeface="Inter SemiBold"/>
                  <a:ea typeface="Inter SemiBold"/>
                  <a:cs typeface="Inter SemiBold"/>
                  <a:sym typeface="Inter SemiBold"/>
                </a:rPr>
                <a:t>∂/∂t = 0</a:t>
              </a:r>
              <a:r>
                <a:rPr b="0" lang="it" sz="850">
                  <a:solidFill>
                    <a:srgbClr val="94A3B8"/>
                  </a:solidFill>
                  <a:latin typeface="Inter Light"/>
                  <a:ea typeface="Inter Light"/>
                  <a:cs typeface="Inter Light"/>
                  <a:sym typeface="Inter Light"/>
                </a:rPr>
                <a:t>.</a:t>
              </a:r>
              <a:endParaRPr b="0" sz="850">
                <a:solidFill>
                  <a:srgbClr val="94A3B8"/>
                </a:solidFill>
                <a:latin typeface="Inter Light"/>
                <a:ea typeface="Inter Light"/>
                <a:cs typeface="Inter Light"/>
                <a:sym typeface="Inter Light"/>
              </a:endParaRPr>
            </a:p>
            <a:p>
              <a:pPr indent="0" lvl="0" marL="0" rtl="0" algn="l">
                <a:spcBef>
                  <a:spcPts val="800"/>
                </a:spcBef>
                <a:spcAft>
                  <a:spcPts val="0"/>
                </a:spcAft>
                <a:buNone/>
              </a:pPr>
              <a:r>
                <a:rPr b="0" lang="it" sz="850">
                  <a:solidFill>
                    <a:srgbClr val="CBD5E1"/>
                  </a:solidFill>
                  <a:latin typeface="Inter"/>
                  <a:ea typeface="Inter"/>
                  <a:cs typeface="Inter"/>
                  <a:sym typeface="Inter"/>
                </a:rPr>
                <a:t>Neglects transient fluid dynamics to isolate steady flow behavior and optimize computational focus.</a:t>
              </a:r>
              <a:endParaRPr b="0" sz="850">
                <a:solidFill>
                  <a:srgbClr val="CBD5E1"/>
                </a:solidFill>
                <a:latin typeface="Inter"/>
                <a:ea typeface="Inter"/>
                <a:cs typeface="Inter"/>
                <a:sym typeface="Inter"/>
              </a:endParaRPr>
            </a:p>
          </p:txBody>
        </p:sp>
      </p:grpSp>
      <p:grpSp>
        <p:nvGrpSpPr>
          <p:cNvPr id="610" name="Google Shape;610;p39"/>
          <p:cNvGrpSpPr/>
          <p:nvPr/>
        </p:nvGrpSpPr>
        <p:grpSpPr>
          <a:xfrm>
            <a:off x="3238500" y="1000125"/>
            <a:ext cx="2667000" cy="3762300"/>
            <a:chOff x="0" y="0"/>
            <a:chExt cx="2667000" cy="3762300"/>
          </a:xfrm>
        </p:grpSpPr>
        <p:sp>
          <p:nvSpPr>
            <p:cNvPr id="611" name="Google Shape;611;p39"/>
            <p:cNvSpPr/>
            <p:nvPr/>
          </p:nvSpPr>
          <p:spPr>
            <a:xfrm>
              <a:off x="0" y="0"/>
              <a:ext cx="2667000" cy="37623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39"/>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39"/>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2200" u="none" strike="noStrike">
                  <a:solidFill>
                    <a:srgbClr val="3B82F6"/>
                  </a:solidFill>
                  <a:latin typeface="Inter"/>
                  <a:ea typeface="Inter"/>
                  <a:cs typeface="Inter"/>
                  <a:sym typeface="Inter"/>
                </a:rPr>
                <a:t>02</a:t>
              </a:r>
              <a:endParaRPr b="1" i="0" sz="2200" u="none" strike="noStrike">
                <a:solidFill>
                  <a:srgbClr val="3B82F6"/>
                </a:solidFill>
                <a:latin typeface="Inter"/>
                <a:ea typeface="Inter"/>
                <a:cs typeface="Inter"/>
                <a:sym typeface="Inter"/>
              </a:endParaRPr>
            </a:p>
            <a:p>
              <a:pPr indent="0" lvl="0" marL="0" rtl="0" algn="l">
                <a:spcBef>
                  <a:spcPts val="800"/>
                </a:spcBef>
                <a:spcAft>
                  <a:spcPts val="0"/>
                </a:spcAft>
                <a:buNone/>
              </a:pPr>
              <a:r>
                <a:rPr b="0" i="0" lang="it" sz="750" u="none" strike="noStrike">
                  <a:solidFill>
                    <a:srgbClr val="3B82F6"/>
                  </a:solidFill>
                  <a:latin typeface="Inter SemiBold"/>
                  <a:ea typeface="Inter SemiBold"/>
                  <a:cs typeface="Inter SemiBold"/>
                  <a:sym typeface="Inter SemiBold"/>
                </a:rPr>
                <a:t>SCOPE &amp; STAGE</a:t>
              </a:r>
              <a:endParaRPr b="1" i="0" sz="750" u="none" strike="noStrike">
                <a:solidFill>
                  <a:srgbClr val="3B82F6"/>
                </a:solidFill>
                <a:latin typeface="Inter"/>
                <a:ea typeface="Inter"/>
                <a:cs typeface="Inter"/>
                <a:sym typeface="Inter"/>
              </a:endParaRPr>
            </a:p>
            <a:p>
              <a:pPr indent="0" lvl="0" marL="0" rtl="0" algn="l">
                <a:spcBef>
                  <a:spcPts val="400"/>
                </a:spcBef>
                <a:spcAft>
                  <a:spcPts val="0"/>
                </a:spcAft>
                <a:buNone/>
              </a:pPr>
              <a:r>
                <a:rPr b="0" i="0" lang="it" sz="1500" u="none" strike="noStrike">
                  <a:solidFill>
                    <a:srgbClr val="F8F9FA"/>
                  </a:solidFill>
                  <a:latin typeface="Inter SemiBold"/>
                  <a:ea typeface="Inter SemiBold"/>
                  <a:cs typeface="Inter SemiBold"/>
                  <a:sym typeface="Inter SemiBold"/>
                </a:rPr>
                <a:t>Phase 1 Focus</a:t>
              </a:r>
              <a:endParaRPr b="1" i="0" sz="1500" u="none" strike="noStrike">
                <a:solidFill>
                  <a:srgbClr val="3B82F6"/>
                </a:solidFill>
                <a:latin typeface="Inter"/>
                <a:ea typeface="Inter"/>
                <a:cs typeface="Inter"/>
                <a:sym typeface="Inter"/>
              </a:endParaRPr>
            </a:p>
            <a:p>
              <a:pPr indent="0" lvl="0" marL="0" rtl="0" algn="l">
                <a:spcBef>
                  <a:spcPts val="1000"/>
                </a:spcBef>
                <a:spcAft>
                  <a:spcPts val="0"/>
                </a:spcAft>
                <a:buNone/>
              </a:pPr>
              <a:r>
                <a:rPr b="0" i="0" lang="it" sz="850" u="none" strike="noStrike">
                  <a:solidFill>
                    <a:srgbClr val="94A3B8"/>
                  </a:solidFill>
                  <a:latin typeface="Inter Light"/>
                  <a:ea typeface="Inter Light"/>
                  <a:cs typeface="Inter Light"/>
                  <a:sym typeface="Inter Light"/>
                </a:rPr>
                <a:t>Restricted to initial baseline configurations ⟶ </a:t>
              </a:r>
              <a:r>
                <a:rPr b="0" i="0" lang="it" sz="850" u="none" strike="noStrike">
                  <a:solidFill>
                    <a:srgbClr val="60A5FA"/>
                  </a:solidFill>
                  <a:latin typeface="Inter SemiBold"/>
                  <a:ea typeface="Inter SemiBold"/>
                  <a:cs typeface="Inter SemiBold"/>
                  <a:sym typeface="Inter SemiBold"/>
                </a:rPr>
                <a:t>Phase 1</a:t>
              </a:r>
              <a:r>
                <a:rPr b="0" i="0" lang="it" sz="850" u="none" strike="noStrike">
                  <a:solidFill>
                    <a:srgbClr val="94A3B8"/>
                  </a:solidFill>
                  <a:latin typeface="Inter Light"/>
                  <a:ea typeface="Inter Light"/>
                  <a:cs typeface="Inter Light"/>
                  <a:sym typeface="Inter Light"/>
                </a:rPr>
                <a:t>.</a:t>
              </a:r>
              <a:endParaRPr b="1" i="0" sz="850" u="none" strike="noStrike">
                <a:solidFill>
                  <a:srgbClr val="3B82F6"/>
                </a:solidFill>
                <a:latin typeface="Inter"/>
                <a:ea typeface="Inter"/>
                <a:cs typeface="Inter"/>
                <a:sym typeface="Inter"/>
              </a:endParaRPr>
            </a:p>
            <a:p>
              <a:pPr indent="0" lvl="0" marL="0" rtl="0" algn="l">
                <a:spcBef>
                  <a:spcPts val="1200"/>
                </a:spcBef>
                <a:spcAft>
                  <a:spcPts val="0"/>
                </a:spcAft>
                <a:buNone/>
              </a:pPr>
              <a:r>
                <a:rPr b="0" i="0" lang="it" sz="850" u="none" strike="noStrike">
                  <a:solidFill>
                    <a:srgbClr val="60A5FA"/>
                  </a:solidFill>
                  <a:latin typeface="Inter SemiBold"/>
                  <a:ea typeface="Inter SemiBold"/>
                  <a:cs typeface="Inter SemiBold"/>
                  <a:sym typeface="Inter SemiBold"/>
                </a:rPr>
                <a:t>Constitutive Models:</a:t>
              </a:r>
              <a:endParaRPr b="1" i="0" sz="850" u="none" strike="noStrike">
                <a:solidFill>
                  <a:srgbClr val="3B82F6"/>
                </a:solidFill>
                <a:latin typeface="Inter"/>
                <a:ea typeface="Inter"/>
                <a:cs typeface="Inter"/>
                <a:sym typeface="Inter"/>
              </a:endParaRPr>
            </a:p>
            <a:p>
              <a:pPr indent="0" lvl="0" marL="0" rtl="0" algn="l">
                <a:spcBef>
                  <a:spcPts val="400"/>
                </a:spcBef>
                <a:spcAft>
                  <a:spcPts val="0"/>
                </a:spcAft>
                <a:buNone/>
              </a:pPr>
              <a:r>
                <a:rPr b="0" i="0" lang="it" sz="850" u="none" strike="noStrike">
                  <a:solidFill>
                    <a:srgbClr val="CBD5E1"/>
                  </a:solidFill>
                  <a:latin typeface="Inter"/>
                  <a:ea typeface="Inter"/>
                  <a:cs typeface="Inter"/>
                  <a:sym typeface="Inter"/>
                </a:rPr>
                <a:t>Focuses exclusively on </a:t>
              </a:r>
              <a:r>
                <a:rPr b="0" i="0" lang="it" sz="850" u="none" strike="noStrike">
                  <a:solidFill>
                    <a:srgbClr val="F8F9FA"/>
                  </a:solidFill>
                  <a:latin typeface="Inter SemiBold"/>
                  <a:ea typeface="Inter SemiBold"/>
                  <a:cs typeface="Inter SemiBold"/>
                  <a:sym typeface="Inter SemiBold"/>
                </a:rPr>
                <a:t>Oldroyd-B</a:t>
              </a:r>
              <a:r>
                <a:rPr b="0" i="0" lang="it" sz="850" u="none" strike="noStrike">
                  <a:solidFill>
                    <a:srgbClr val="CBD5E1"/>
                  </a:solidFill>
                  <a:latin typeface="Inter"/>
                  <a:ea typeface="Inter"/>
                  <a:cs typeface="Inter"/>
                  <a:sym typeface="Inter"/>
                </a:rPr>
                <a:t> and </a:t>
              </a:r>
              <a:r>
                <a:rPr b="0" i="0" lang="it" sz="850" u="none" strike="noStrike">
                  <a:solidFill>
                    <a:srgbClr val="F8F9FA"/>
                  </a:solidFill>
                  <a:latin typeface="Inter SemiBold"/>
                  <a:ea typeface="Inter SemiBold"/>
                  <a:cs typeface="Inter SemiBold"/>
                  <a:sym typeface="Inter SemiBold"/>
                </a:rPr>
                <a:t>Giesekus</a:t>
              </a:r>
              <a:r>
                <a:rPr b="0" i="0" lang="it" sz="850" u="none" strike="noStrike">
                  <a:solidFill>
                    <a:srgbClr val="CBD5E1"/>
                  </a:solidFill>
                  <a:latin typeface="Inter"/>
                  <a:ea typeface="Inter"/>
                  <a:cs typeface="Inter"/>
                  <a:sym typeface="Inter"/>
                </a:rPr>
                <a:t> models.</a:t>
              </a:r>
              <a:endParaRPr b="1" i="0" sz="850" u="none" strike="noStrike">
                <a:solidFill>
                  <a:srgbClr val="3B82F6"/>
                </a:solidFill>
                <a:latin typeface="Inter"/>
                <a:ea typeface="Inter"/>
                <a:cs typeface="Inter"/>
                <a:sym typeface="Inter"/>
              </a:endParaRPr>
            </a:p>
          </p:txBody>
        </p:sp>
      </p:grpSp>
      <p:grpSp>
        <p:nvGrpSpPr>
          <p:cNvPr id="614" name="Google Shape;614;p39"/>
          <p:cNvGrpSpPr/>
          <p:nvPr/>
        </p:nvGrpSpPr>
        <p:grpSpPr>
          <a:xfrm>
            <a:off x="6096000" y="1000125"/>
            <a:ext cx="2667000" cy="3762300"/>
            <a:chOff x="0" y="0"/>
            <a:chExt cx="2667000" cy="3762300"/>
          </a:xfrm>
        </p:grpSpPr>
        <p:sp>
          <p:nvSpPr>
            <p:cNvPr id="615" name="Google Shape;615;p39"/>
            <p:cNvSpPr/>
            <p:nvPr/>
          </p:nvSpPr>
          <p:spPr>
            <a:xfrm>
              <a:off x="0" y="0"/>
              <a:ext cx="2667000" cy="37623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39"/>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39"/>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2200">
                  <a:solidFill>
                    <a:srgbClr val="3B82F6"/>
                  </a:solidFill>
                  <a:latin typeface="Inter"/>
                  <a:ea typeface="Inter"/>
                  <a:cs typeface="Inter"/>
                  <a:sym typeface="Inter"/>
                </a:rPr>
                <a:t>03</a:t>
              </a:r>
              <a:endParaRPr b="1" i="0" sz="2200">
                <a:solidFill>
                  <a:srgbClr val="3B82F6"/>
                </a:solidFill>
                <a:latin typeface="Inter"/>
                <a:ea typeface="Inter"/>
                <a:cs typeface="Inter"/>
                <a:sym typeface="Inter"/>
              </a:endParaRPr>
            </a:p>
            <a:p>
              <a:pPr indent="0" lvl="0" marL="0" rtl="0" algn="l">
                <a:spcBef>
                  <a:spcPts val="800"/>
                </a:spcBef>
                <a:spcAft>
                  <a:spcPts val="0"/>
                </a:spcAft>
                <a:buNone/>
              </a:pPr>
              <a:r>
                <a:rPr b="0" i="0" lang="it" sz="750">
                  <a:solidFill>
                    <a:srgbClr val="3B82F6"/>
                  </a:solidFill>
                  <a:latin typeface="Inter SemiBold"/>
                  <a:ea typeface="Inter SemiBold"/>
                  <a:cs typeface="Inter SemiBold"/>
                  <a:sym typeface="Inter SemiBold"/>
                </a:rPr>
                <a:t>OPERATIONAL BOUNDS</a:t>
              </a:r>
              <a:endParaRPr b="1" i="0" sz="750">
                <a:solidFill>
                  <a:srgbClr val="3B82F6"/>
                </a:solidFill>
                <a:latin typeface="Inter"/>
                <a:ea typeface="Inter"/>
                <a:cs typeface="Inter"/>
                <a:sym typeface="Inter"/>
              </a:endParaRPr>
            </a:p>
            <a:p>
              <a:pPr indent="0" lvl="0" marL="0" rtl="0" algn="l">
                <a:spcBef>
                  <a:spcPts val="400"/>
                </a:spcBef>
                <a:spcAft>
                  <a:spcPts val="0"/>
                </a:spcAft>
                <a:buNone/>
              </a:pPr>
              <a:r>
                <a:rPr b="0" i="0" lang="it" sz="1500">
                  <a:solidFill>
                    <a:srgbClr val="F8F9FA"/>
                  </a:solidFill>
                  <a:latin typeface="Inter SemiBold"/>
                  <a:ea typeface="Inter SemiBold"/>
                  <a:cs typeface="Inter SemiBold"/>
                  <a:sym typeface="Inter SemiBold"/>
                </a:rPr>
                <a:t>Extended Ranges</a:t>
              </a:r>
              <a:endParaRPr b="1" i="0" sz="1500">
                <a:solidFill>
                  <a:srgbClr val="3B82F6"/>
                </a:solidFill>
                <a:latin typeface="Inter"/>
                <a:ea typeface="Inter"/>
                <a:cs typeface="Inter"/>
                <a:sym typeface="Inter"/>
              </a:endParaRPr>
            </a:p>
            <a:p>
              <a:pPr indent="0" lvl="0" marL="0" rtl="0" algn="l">
                <a:spcBef>
                  <a:spcPts val="800"/>
                </a:spcBef>
                <a:spcAft>
                  <a:spcPts val="0"/>
                </a:spcAft>
                <a:buNone/>
              </a:pPr>
              <a:r>
                <a:rPr b="0" i="0" lang="it" sz="800">
                  <a:solidFill>
                    <a:srgbClr val="94A3B8"/>
                  </a:solidFill>
                  <a:latin typeface="Inter"/>
                  <a:ea typeface="Inter"/>
                  <a:cs typeface="Inter"/>
                  <a:sym typeface="Inter"/>
                </a:rPr>
                <a:t>Significantly wider parameter space vs ViscoelasticNET benchmark:</a:t>
              </a:r>
              <a:endParaRPr b="1" i="0" sz="800">
                <a:solidFill>
                  <a:srgbClr val="3B82F6"/>
                </a:solidFill>
                <a:latin typeface="Inter"/>
                <a:ea typeface="Inter"/>
                <a:cs typeface="Inter"/>
                <a:sym typeface="Inter"/>
              </a:endParaRPr>
            </a:p>
            <a:p>
              <a:pPr indent="0" lvl="0" marL="0" rtl="0" algn="l">
                <a:spcBef>
                  <a:spcPts val="800"/>
                </a:spcBef>
                <a:spcAft>
                  <a:spcPts val="0"/>
                </a:spcAft>
                <a:buNone/>
              </a:pPr>
              <a:r>
                <a:rPr b="1" i="0" lang="it" sz="800">
                  <a:solidFill>
                    <a:srgbClr val="60A5FA"/>
                  </a:solidFill>
                  <a:latin typeface="Inter"/>
                  <a:ea typeface="Inter"/>
                  <a:cs typeface="Inter"/>
                  <a:sym typeface="Inter"/>
                </a:rPr>
                <a:t>λ: </a:t>
              </a:r>
              <a:r>
                <a:rPr b="1" lang="it" sz="800">
                  <a:solidFill>
                    <a:srgbClr val="F8F9FA"/>
                  </a:solidFill>
                  <a:latin typeface="Inter"/>
                  <a:ea typeface="Inter"/>
                  <a:cs typeface="Inter"/>
                  <a:sym typeface="Inter"/>
                </a:rPr>
                <a:t>up to </a:t>
              </a:r>
              <a:r>
                <a:rPr b="1" i="0" lang="it" sz="800">
                  <a:solidFill>
                    <a:srgbClr val="F8F9FA"/>
                  </a:solidFill>
                  <a:latin typeface="Inter"/>
                  <a:ea typeface="Inter"/>
                  <a:cs typeface="Inter"/>
                  <a:sym typeface="Inter"/>
                </a:rPr>
                <a:t>1 s </a:t>
              </a:r>
              <a:r>
                <a:rPr b="0" i="0" lang="it" sz="800">
                  <a:solidFill>
                    <a:srgbClr val="94A3B8"/>
                  </a:solidFill>
                  <a:latin typeface="Inter"/>
                  <a:ea typeface="Inter"/>
                  <a:cs typeface="Inter"/>
                  <a:sym typeface="Inter"/>
                </a:rPr>
                <a:t>(vs</a:t>
              </a:r>
              <a:r>
                <a:rPr lang="it" sz="800">
                  <a:solidFill>
                    <a:srgbClr val="94A3B8"/>
                  </a:solidFill>
                  <a:latin typeface="Inter"/>
                  <a:ea typeface="Inter"/>
                  <a:cs typeface="Inter"/>
                  <a:sym typeface="Inter"/>
                </a:rPr>
                <a:t> 0.</a:t>
              </a:r>
              <a:r>
                <a:rPr b="0" i="0" lang="it" sz="800">
                  <a:solidFill>
                    <a:srgbClr val="94A3B8"/>
                  </a:solidFill>
                  <a:latin typeface="Inter"/>
                  <a:ea typeface="Inter"/>
                  <a:cs typeface="Inter"/>
                  <a:sym typeface="Inter"/>
                </a:rPr>
                <a:t>15 s, </a:t>
              </a:r>
              <a:r>
                <a:rPr b="0" i="0" lang="it" sz="800">
                  <a:solidFill>
                    <a:srgbClr val="60A5FA"/>
                  </a:solidFill>
                  <a:latin typeface="Inter SemiBold"/>
                  <a:ea typeface="Inter SemiBold"/>
                  <a:cs typeface="Inter SemiBold"/>
                  <a:sym typeface="Inter SemiBold"/>
                </a:rPr>
                <a:t>10×</a:t>
              </a:r>
              <a:r>
                <a:rPr b="0" i="0" lang="it" sz="800">
                  <a:solidFill>
                    <a:srgbClr val="94A3B8"/>
                  </a:solidFill>
                  <a:latin typeface="Inter"/>
                  <a:ea typeface="Inter"/>
                  <a:cs typeface="Inter"/>
                  <a:sym typeface="Inter"/>
                </a:rPr>
                <a:t>)</a:t>
              </a:r>
              <a:endParaRPr b="1" i="0" sz="800">
                <a:solidFill>
                  <a:srgbClr val="3B82F6"/>
                </a:solidFill>
                <a:latin typeface="Inter"/>
                <a:ea typeface="Inter"/>
                <a:cs typeface="Inter"/>
                <a:sym typeface="Inter"/>
              </a:endParaRPr>
            </a:p>
            <a:p>
              <a:pPr indent="0" lvl="0" marL="0" rtl="0" algn="l">
                <a:spcBef>
                  <a:spcPts val="500"/>
                </a:spcBef>
                <a:spcAft>
                  <a:spcPts val="0"/>
                </a:spcAft>
                <a:buNone/>
              </a:pPr>
              <a:r>
                <a:rPr b="1" i="0" lang="it" sz="800">
                  <a:solidFill>
                    <a:srgbClr val="60A5FA"/>
                  </a:solidFill>
                  <a:latin typeface="Inter"/>
                  <a:ea typeface="Inter"/>
                  <a:cs typeface="Inter"/>
                  <a:sym typeface="Inter"/>
                </a:rPr>
                <a:t>ηₚ:</a:t>
              </a:r>
              <a:r>
                <a:rPr b="1" lang="it" sz="800">
                  <a:solidFill>
                    <a:srgbClr val="60A5FA"/>
                  </a:solidFill>
                  <a:latin typeface="Inter"/>
                  <a:ea typeface="Inter"/>
                  <a:cs typeface="Inter"/>
                  <a:sym typeface="Inter"/>
                </a:rPr>
                <a:t> </a:t>
              </a:r>
              <a:r>
                <a:rPr b="1" lang="it" sz="800">
                  <a:solidFill>
                    <a:srgbClr val="F8F9FA"/>
                  </a:solidFill>
                  <a:latin typeface="Inter"/>
                  <a:ea typeface="Inter"/>
                  <a:cs typeface="Inter"/>
                  <a:sym typeface="Inter"/>
                </a:rPr>
                <a:t>up to 0</a:t>
              </a:r>
              <a:r>
                <a:rPr b="1" i="0" lang="it" sz="800">
                  <a:solidFill>
                    <a:srgbClr val="F8F9FA"/>
                  </a:solidFill>
                  <a:latin typeface="Inter"/>
                  <a:ea typeface="Inter"/>
                  <a:cs typeface="Inter"/>
                  <a:sym typeface="Inter"/>
                </a:rPr>
                <a:t>.98 Pa·s </a:t>
              </a:r>
              <a:r>
                <a:rPr b="0" i="0" lang="it" sz="800">
                  <a:solidFill>
                    <a:srgbClr val="94A3B8"/>
                  </a:solidFill>
                  <a:latin typeface="Inter"/>
                  <a:ea typeface="Inter"/>
                  <a:cs typeface="Inter"/>
                  <a:sym typeface="Inter"/>
                </a:rPr>
                <a:t>(vs ≤0.025</a:t>
              </a:r>
              <a:r>
                <a:rPr b="0" i="0" lang="it" sz="800">
                  <a:solidFill>
                    <a:schemeClr val="lt2"/>
                  </a:solidFill>
                  <a:latin typeface="Inter"/>
                  <a:ea typeface="Inter"/>
                  <a:cs typeface="Inter"/>
                  <a:sym typeface="Inter"/>
                </a:rPr>
                <a:t> </a:t>
              </a:r>
              <a:r>
                <a:rPr lang="it" sz="800">
                  <a:solidFill>
                    <a:srgbClr val="94A3B8"/>
                  </a:solidFill>
                  <a:latin typeface="Inter"/>
                  <a:ea typeface="Inter"/>
                  <a:cs typeface="Inter"/>
                  <a:sym typeface="Inter"/>
                </a:rPr>
                <a:t>Pa·s</a:t>
              </a:r>
              <a:r>
                <a:rPr b="0" i="0" lang="it" sz="800">
                  <a:solidFill>
                    <a:srgbClr val="94A3B8"/>
                  </a:solidFill>
                  <a:latin typeface="Inter"/>
                  <a:ea typeface="Inter"/>
                  <a:cs typeface="Inter"/>
                  <a:sym typeface="Inter"/>
                </a:rPr>
                <a:t>, </a:t>
              </a:r>
              <a:r>
                <a:rPr b="0" i="0" lang="it" sz="800">
                  <a:solidFill>
                    <a:srgbClr val="60A5FA"/>
                  </a:solidFill>
                  <a:latin typeface="Inter SemiBold"/>
                  <a:ea typeface="Inter SemiBold"/>
                  <a:cs typeface="Inter SemiBold"/>
                  <a:sym typeface="Inter SemiBold"/>
                </a:rPr>
                <a:t>40×</a:t>
              </a:r>
              <a:r>
                <a:rPr b="0" i="0" lang="it" sz="800">
                  <a:solidFill>
                    <a:srgbClr val="94A3B8"/>
                  </a:solidFill>
                  <a:latin typeface="Inter"/>
                  <a:ea typeface="Inter"/>
                  <a:cs typeface="Inter"/>
                  <a:sym typeface="Inter"/>
                </a:rPr>
                <a:t>)</a:t>
              </a:r>
              <a:endParaRPr b="1" i="0" sz="800">
                <a:solidFill>
                  <a:srgbClr val="3B82F6"/>
                </a:solidFill>
                <a:latin typeface="Inter"/>
                <a:ea typeface="Inter"/>
                <a:cs typeface="Inter"/>
                <a:sym typeface="Inter"/>
              </a:endParaRPr>
            </a:p>
            <a:p>
              <a:pPr indent="0" lvl="0" marL="0" rtl="0" algn="l">
                <a:spcBef>
                  <a:spcPts val="500"/>
                </a:spcBef>
                <a:spcAft>
                  <a:spcPts val="0"/>
                </a:spcAft>
                <a:buNone/>
              </a:pPr>
              <a:r>
                <a:rPr b="1" i="0" lang="it" sz="800">
                  <a:solidFill>
                    <a:srgbClr val="60A5FA"/>
                  </a:solidFill>
                  <a:latin typeface="Inter"/>
                  <a:ea typeface="Inter"/>
                  <a:cs typeface="Inter"/>
                  <a:sym typeface="Inter"/>
                </a:rPr>
                <a:t>α: </a:t>
              </a:r>
              <a:r>
                <a:rPr b="1" lang="it" sz="800">
                  <a:solidFill>
                    <a:srgbClr val="F8F9FA"/>
                  </a:solidFill>
                  <a:latin typeface="Inter"/>
                  <a:ea typeface="Inter"/>
                  <a:cs typeface="Inter"/>
                  <a:sym typeface="Inter"/>
                </a:rPr>
                <a:t>up to </a:t>
              </a:r>
              <a:r>
                <a:rPr b="1" i="0" lang="it" sz="800">
                  <a:solidFill>
                    <a:srgbClr val="F8F9FA"/>
                  </a:solidFill>
                  <a:latin typeface="Inter"/>
                  <a:ea typeface="Inter"/>
                  <a:cs typeface="Inter"/>
                  <a:sym typeface="Inter"/>
                </a:rPr>
                <a:t>0.50 </a:t>
              </a:r>
              <a:r>
                <a:rPr b="0" i="0" lang="it" sz="800">
                  <a:solidFill>
                    <a:srgbClr val="94A3B8"/>
                  </a:solidFill>
                  <a:latin typeface="Inter"/>
                  <a:ea typeface="Inter"/>
                  <a:cs typeface="Inter"/>
                  <a:sym typeface="Inter"/>
                </a:rPr>
                <a:t>(v</a:t>
              </a:r>
              <a:r>
                <a:rPr lang="it" sz="800">
                  <a:solidFill>
                    <a:srgbClr val="94A3B8"/>
                  </a:solidFill>
                  <a:latin typeface="Inter"/>
                  <a:ea typeface="Inter"/>
                  <a:cs typeface="Inter"/>
                  <a:sym typeface="Inter"/>
                </a:rPr>
                <a:t>s </a:t>
              </a:r>
              <a:r>
                <a:rPr b="0" i="0" lang="it" sz="800">
                  <a:solidFill>
                    <a:srgbClr val="94A3B8"/>
                  </a:solidFill>
                  <a:latin typeface="Inter"/>
                  <a:ea typeface="Inter"/>
                  <a:cs typeface="Inter"/>
                  <a:sym typeface="Inter"/>
                </a:rPr>
                <a:t>0.20)</a:t>
              </a:r>
              <a:endParaRPr b="1" i="0" sz="800">
                <a:solidFill>
                  <a:srgbClr val="3B82F6"/>
                </a:solidFill>
                <a:latin typeface="Inter"/>
                <a:ea typeface="Inter"/>
                <a:cs typeface="Inter"/>
                <a:sym typeface="Inte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21" name="Shape 621"/>
        <p:cNvGrpSpPr/>
        <p:nvPr/>
      </p:nvGrpSpPr>
      <p:grpSpPr>
        <a:xfrm>
          <a:off x="0" y="0"/>
          <a:ext cx="0" cy="0"/>
          <a:chOff x="0" y="0"/>
          <a:chExt cx="0" cy="0"/>
        </a:xfrm>
      </p:grpSpPr>
      <p:sp>
        <p:nvSpPr>
          <p:cNvPr id="622" name="Google Shape;622;p40"/>
          <p:cNvSpPr txBox="1"/>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2500">
                <a:solidFill>
                  <a:srgbClr val="F8F9FA"/>
                </a:solidFill>
                <a:latin typeface="Inter"/>
                <a:ea typeface="Inter"/>
                <a:cs typeface="Inter"/>
                <a:sym typeface="Inter"/>
              </a:rPr>
              <a:t>ViscoelasticNet: Results</a:t>
            </a:r>
            <a:endParaRPr b="0" sz="1750">
              <a:solidFill>
                <a:srgbClr val="94A3B8"/>
              </a:solidFill>
              <a:latin typeface="Inter"/>
              <a:ea typeface="Inter"/>
              <a:cs typeface="Inter"/>
              <a:sym typeface="Inter"/>
            </a:endParaRPr>
          </a:p>
        </p:txBody>
      </p:sp>
      <p:cxnSp>
        <p:nvCxnSpPr>
          <p:cNvPr id="623" name="Google Shape;623;p40"/>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624" name="Google Shape;624;p40"/>
          <p:cNvGrpSpPr/>
          <p:nvPr/>
        </p:nvGrpSpPr>
        <p:grpSpPr>
          <a:xfrm>
            <a:off x="381000" y="1028700"/>
            <a:ext cx="2619300" cy="3848100"/>
            <a:chOff x="0" y="0"/>
            <a:chExt cx="2619300" cy="3848100"/>
          </a:xfrm>
        </p:grpSpPr>
        <p:sp>
          <p:nvSpPr>
            <p:cNvPr id="625" name="Google Shape;625;p40"/>
            <p:cNvSpPr/>
            <p:nvPr/>
          </p:nvSpPr>
          <p:spPr>
            <a:xfrm>
              <a:off x="0" y="0"/>
              <a:ext cx="2619300" cy="3848100"/>
            </a:xfrm>
            <a:prstGeom prst="roundRect">
              <a:avLst>
                <a:gd fmla="val 218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40"/>
            <p:cNvSpPr/>
            <p:nvPr/>
          </p:nvSpPr>
          <p:spPr>
            <a:xfrm>
              <a:off x="0" y="0"/>
              <a:ext cx="28500" cy="384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7" name="Google Shape;627;p40"/>
            <p:cNvSpPr txBox="1"/>
            <p:nvPr/>
          </p:nvSpPr>
          <p:spPr>
            <a:xfrm>
              <a:off x="171450" y="152400"/>
              <a:ext cx="2286000" cy="354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3B82F6"/>
                  </a:solidFill>
                  <a:latin typeface="Inter"/>
                  <a:ea typeface="Inter"/>
                  <a:cs typeface="Inter"/>
                  <a:sym typeface="Inter"/>
                </a:rPr>
                <a:t>VALIDATION GEOMETRIES</a:t>
              </a:r>
              <a:endParaRPr b="1" sz="800">
                <a:solidFill>
                  <a:srgbClr val="3B82F6"/>
                </a:solidFill>
                <a:latin typeface="Inter"/>
                <a:ea typeface="Inter"/>
                <a:cs typeface="Inter"/>
                <a:sym typeface="Inter"/>
              </a:endParaRPr>
            </a:p>
            <a:p>
              <a:pPr indent="0" lvl="0" marL="0" rtl="0" algn="l">
                <a:spcBef>
                  <a:spcPts val="200"/>
                </a:spcBef>
                <a:spcAft>
                  <a:spcPts val="0"/>
                </a:spcAft>
                <a:buNone/>
              </a:pPr>
              <a:r>
                <a:rPr b="0" lang="it" sz="1100">
                  <a:solidFill>
                    <a:srgbClr val="F8F9FA"/>
                  </a:solidFill>
                  <a:latin typeface="Inter SemiBold"/>
                  <a:ea typeface="Inter SemiBold"/>
                  <a:cs typeface="Inter SemiBold"/>
                  <a:sym typeface="Inter SemiBold"/>
                </a:rPr>
                <a:t>Benchmark Flow Cases</a:t>
              </a:r>
              <a:endParaRPr b="0" sz="1100">
                <a:solidFill>
                  <a:srgbClr val="F8F9FA"/>
                </a:solidFill>
                <a:latin typeface="Inter SemiBold"/>
                <a:ea typeface="Inter SemiBold"/>
                <a:cs typeface="Inter SemiBold"/>
                <a:sym typeface="Inter SemiBold"/>
              </a:endParaRPr>
            </a:p>
            <a:p>
              <a:pPr indent="0" lvl="0" marL="0" rtl="0" algn="l">
                <a:spcBef>
                  <a:spcPts val="1400"/>
                </a:spcBef>
                <a:spcAft>
                  <a:spcPts val="0"/>
                </a:spcAft>
                <a:buNone/>
              </a:pPr>
              <a:r>
                <a:rPr b="0" lang="it" sz="850">
                  <a:solidFill>
                    <a:srgbClr val="F8F9FA"/>
                  </a:solidFill>
                  <a:latin typeface="Inter SemiBold"/>
                  <a:ea typeface="Inter SemiBold"/>
                  <a:cs typeface="Inter SemiBold"/>
                  <a:sym typeface="Inter SemiBold"/>
                </a:rPr>
                <a:t>1. 2D Stenosis Flow</a:t>
              </a:r>
              <a:endParaRPr b="0" sz="85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rPr b="0" lang="it" sz="780">
                  <a:solidFill>
                    <a:srgbClr val="94A3B8"/>
                  </a:solidFill>
                  <a:latin typeface="Inter"/>
                  <a:ea typeface="Inter"/>
                  <a:cs typeface="Inter"/>
                  <a:sym typeface="Inter"/>
                </a:rPr>
                <a:t>Hemodynamic pulsatile sinusoidal flow validation:</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F8F9FA"/>
                  </a:solidFill>
                  <a:latin typeface="Inter SemiBold"/>
                  <a:ea typeface="Inter SemiBold"/>
                  <a:cs typeface="Inter SemiBold"/>
                  <a:sym typeface="Inter SemiBold"/>
                </a:rPr>
                <a:t>&lt; 5% relative error</a:t>
              </a:r>
              <a:r>
                <a:rPr b="0" lang="it" sz="780">
                  <a:solidFill>
                    <a:srgbClr val="94A3B8"/>
                  </a:solidFill>
                  <a:latin typeface="Inter"/>
                  <a:ea typeface="Inter"/>
                  <a:cs typeface="Inter"/>
                  <a:sym typeface="Inter"/>
                </a:rPr>
                <a:t> on stress fields.</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Accurate classification of Oldroyd-B, Linear PTT, and Giesekus models.</a:t>
              </a:r>
              <a:endParaRPr b="0" sz="780">
                <a:solidFill>
                  <a:srgbClr val="94A3B8"/>
                </a:solidFill>
                <a:latin typeface="Inter"/>
                <a:ea typeface="Inter"/>
                <a:cs typeface="Inter"/>
                <a:sym typeface="Inter"/>
              </a:endParaRPr>
            </a:p>
            <a:p>
              <a:pPr indent="0" lvl="0" marL="0" rtl="0" algn="l">
                <a:spcBef>
                  <a:spcPts val="1400"/>
                </a:spcBef>
                <a:spcAft>
                  <a:spcPts val="0"/>
                </a:spcAft>
                <a:buNone/>
              </a:pPr>
              <a:r>
                <a:rPr b="0" lang="it" sz="850">
                  <a:solidFill>
                    <a:srgbClr val="F8F9FA"/>
                  </a:solidFill>
                  <a:latin typeface="Inter SemiBold"/>
                  <a:ea typeface="Inter SemiBold"/>
                  <a:cs typeface="Inter SemiBold"/>
                  <a:sym typeface="Inter SemiBold"/>
                </a:rPr>
                <a:t>2. Cross-Slot Flow</a:t>
              </a:r>
              <a:endParaRPr b="0" sz="850">
                <a:solidFill>
                  <a:srgbClr val="F8F9FA"/>
                </a:solidFill>
                <a:latin typeface="Inter SemiBold"/>
                <a:ea typeface="Inter SemiBold"/>
                <a:cs typeface="Inter SemiBold"/>
                <a:sym typeface="Inter SemiBold"/>
              </a:endParaRPr>
            </a:p>
            <a:p>
              <a:pPr indent="0" lvl="0" marL="0" rtl="0" algn="l">
                <a:spcBef>
                  <a:spcPts val="200"/>
                </a:spcBef>
                <a:spcAft>
                  <a:spcPts val="0"/>
                </a:spcAft>
                <a:buNone/>
              </a:pPr>
              <a:r>
                <a:rPr b="0" lang="it" sz="780">
                  <a:solidFill>
                    <a:srgbClr val="94A3B8"/>
                  </a:solidFill>
                  <a:latin typeface="Inter"/>
                  <a:ea typeface="Inter"/>
                  <a:cs typeface="Inter"/>
                  <a:sym typeface="Inter"/>
                </a:rPr>
                <a:t>Strong extensional flow benchmark:</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Correct identification of non-linear rheological parameters.</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Capturing stress singularities at sharp corners requires domain decomposition.</a:t>
              </a:r>
              <a:endParaRPr b="0" sz="780">
                <a:solidFill>
                  <a:srgbClr val="94A3B8"/>
                </a:solidFill>
                <a:latin typeface="Inter"/>
                <a:ea typeface="Inter"/>
                <a:cs typeface="Inter"/>
                <a:sym typeface="Inter"/>
              </a:endParaRPr>
            </a:p>
          </p:txBody>
        </p:sp>
      </p:grpSp>
      <p:grpSp>
        <p:nvGrpSpPr>
          <p:cNvPr id="628" name="Google Shape;628;p40"/>
          <p:cNvGrpSpPr/>
          <p:nvPr/>
        </p:nvGrpSpPr>
        <p:grpSpPr>
          <a:xfrm>
            <a:off x="3257550" y="1028700"/>
            <a:ext cx="2619300" cy="3848100"/>
            <a:chOff x="0" y="0"/>
            <a:chExt cx="2619300" cy="3848100"/>
          </a:xfrm>
        </p:grpSpPr>
        <p:sp>
          <p:nvSpPr>
            <p:cNvPr id="629" name="Google Shape;629;p40"/>
            <p:cNvSpPr/>
            <p:nvPr/>
          </p:nvSpPr>
          <p:spPr>
            <a:xfrm>
              <a:off x="0" y="0"/>
              <a:ext cx="2619300" cy="3848100"/>
            </a:xfrm>
            <a:prstGeom prst="roundRect">
              <a:avLst>
                <a:gd fmla="val 218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40"/>
            <p:cNvSpPr/>
            <p:nvPr/>
          </p:nvSpPr>
          <p:spPr>
            <a:xfrm>
              <a:off x="0" y="0"/>
              <a:ext cx="28500" cy="38481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40"/>
            <p:cNvSpPr txBox="1"/>
            <p:nvPr/>
          </p:nvSpPr>
          <p:spPr>
            <a:xfrm>
              <a:off x="171450" y="152400"/>
              <a:ext cx="2286000" cy="354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10B981"/>
                  </a:solidFill>
                  <a:latin typeface="Inter"/>
                  <a:ea typeface="Inter"/>
                  <a:cs typeface="Inter"/>
                  <a:sym typeface="Inter"/>
                </a:rPr>
                <a:t>DATA ROBUSTNESS</a:t>
              </a:r>
              <a:endParaRPr b="1" sz="800">
                <a:solidFill>
                  <a:srgbClr val="10B981"/>
                </a:solidFill>
                <a:latin typeface="Inter"/>
                <a:ea typeface="Inter"/>
                <a:cs typeface="Inter"/>
                <a:sym typeface="Inter"/>
              </a:endParaRPr>
            </a:p>
            <a:p>
              <a:pPr indent="0" lvl="0" marL="0" rtl="0" algn="l">
                <a:spcBef>
                  <a:spcPts val="200"/>
                </a:spcBef>
                <a:spcAft>
                  <a:spcPts val="0"/>
                </a:spcAft>
                <a:buNone/>
              </a:pPr>
              <a:r>
                <a:rPr b="0" lang="it" sz="1100">
                  <a:solidFill>
                    <a:srgbClr val="F8F9FA"/>
                  </a:solidFill>
                  <a:latin typeface="Inter SemiBold"/>
                  <a:ea typeface="Inter SemiBold"/>
                  <a:cs typeface="Inter SemiBold"/>
                  <a:sym typeface="Inter SemiBold"/>
                </a:rPr>
                <a:t>Noise &amp; Sparsity Tolerance</a:t>
              </a:r>
              <a:endParaRPr b="0" sz="1100">
                <a:solidFill>
                  <a:srgbClr val="F8F9FA"/>
                </a:solidFill>
                <a:latin typeface="Inter SemiBold"/>
                <a:ea typeface="Inter SemiBold"/>
                <a:cs typeface="Inter SemiBold"/>
                <a:sym typeface="Inter SemiBold"/>
              </a:endParaRPr>
            </a:p>
            <a:p>
              <a:pPr indent="0" lvl="0" marL="0" rtl="0" algn="l">
                <a:spcBef>
                  <a:spcPts val="1400"/>
                </a:spcBef>
                <a:spcAft>
                  <a:spcPts val="0"/>
                </a:spcAft>
                <a:buNone/>
              </a:pPr>
              <a:r>
                <a:rPr b="0" lang="it" sz="850">
                  <a:solidFill>
                    <a:srgbClr val="F8F9FA"/>
                  </a:solidFill>
                  <a:latin typeface="Inter SemiBold"/>
                  <a:ea typeface="Inter SemiBold"/>
                  <a:cs typeface="Inter SemiBold"/>
                  <a:sym typeface="Inter SemiBold"/>
                </a:rPr>
                <a:t>Gaussian Noise Resistance</a:t>
              </a:r>
              <a:endParaRPr b="0" sz="850">
                <a:solidFill>
                  <a:srgbClr val="F8F9FA"/>
                </a:solidFill>
                <a:latin typeface="Inter SemiBold"/>
                <a:ea typeface="Inter SemiBold"/>
                <a:cs typeface="Inter SemiBold"/>
                <a:sym typeface="Inter SemiBold"/>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Tested with up to </a:t>
              </a:r>
              <a:r>
                <a:rPr b="0" lang="it" sz="780">
                  <a:solidFill>
                    <a:srgbClr val="10B981"/>
                  </a:solidFill>
                  <a:latin typeface="Inter SemiBold"/>
                  <a:ea typeface="Inter SemiBold"/>
                  <a:cs typeface="Inter SemiBold"/>
                  <a:sym typeface="Inter SemiBold"/>
                </a:rPr>
                <a:t>10% Gaussian noise</a:t>
              </a:r>
              <a:r>
                <a:rPr b="0" lang="it" sz="780">
                  <a:solidFill>
                    <a:srgbClr val="94A3B8"/>
                  </a:solidFill>
                  <a:latin typeface="Inter"/>
                  <a:ea typeface="Inter"/>
                  <a:cs typeface="Inter"/>
                  <a:sym typeface="Inter"/>
                </a:rPr>
                <a:t> on velocity fields.</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Up to </a:t>
              </a:r>
              <a:r>
                <a:rPr b="0" lang="it" sz="780">
                  <a:solidFill>
                    <a:srgbClr val="10B981"/>
                  </a:solidFill>
                  <a:latin typeface="Inter SemiBold"/>
                  <a:ea typeface="Inter SemiBold"/>
                  <a:cs typeface="Inter SemiBold"/>
                  <a:sym typeface="Inter SemiBold"/>
                </a:rPr>
                <a:t>25% noise</a:t>
              </a:r>
              <a:r>
                <a:rPr b="0" lang="it" sz="780">
                  <a:solidFill>
                    <a:srgbClr val="94A3B8"/>
                  </a:solidFill>
                  <a:latin typeface="Inter"/>
                  <a:ea typeface="Inter"/>
                  <a:cs typeface="Inter"/>
                  <a:sym typeface="Inter"/>
                </a:rPr>
                <a:t> on boundary conditions.</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Learned rheological parameters remain robustly stable.</a:t>
              </a:r>
              <a:endParaRPr b="0" sz="780">
                <a:solidFill>
                  <a:srgbClr val="94A3B8"/>
                </a:solidFill>
                <a:latin typeface="Inter"/>
                <a:ea typeface="Inter"/>
                <a:cs typeface="Inter"/>
                <a:sym typeface="Inter"/>
              </a:endParaRPr>
            </a:p>
            <a:p>
              <a:pPr indent="0" lvl="0" marL="0" rtl="0" algn="l">
                <a:spcBef>
                  <a:spcPts val="1400"/>
                </a:spcBef>
                <a:spcAft>
                  <a:spcPts val="0"/>
                </a:spcAft>
                <a:buNone/>
              </a:pPr>
              <a:r>
                <a:rPr b="0" lang="it" sz="850">
                  <a:solidFill>
                    <a:srgbClr val="F8F9FA"/>
                  </a:solidFill>
                  <a:latin typeface="Inter SemiBold"/>
                  <a:ea typeface="Inter SemiBold"/>
                  <a:cs typeface="Inter SemiBold"/>
                  <a:sym typeface="Inter SemiBold"/>
                </a:rPr>
                <a:t>Sparse Data Threshold</a:t>
              </a:r>
              <a:endParaRPr b="0" sz="850">
                <a:solidFill>
                  <a:srgbClr val="F8F9FA"/>
                </a:solidFill>
                <a:latin typeface="Inter SemiBold"/>
                <a:ea typeface="Inter SemiBold"/>
                <a:cs typeface="Inter SemiBold"/>
                <a:sym typeface="Inter SemiBold"/>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Maintains high accuracy down to </a:t>
              </a:r>
              <a:r>
                <a:rPr b="0" lang="it" sz="780">
                  <a:solidFill>
                    <a:srgbClr val="F8F9FA"/>
                  </a:solidFill>
                  <a:latin typeface="Inter SemiBold"/>
                  <a:ea typeface="Inter SemiBold"/>
                  <a:cs typeface="Inter SemiBold"/>
                  <a:sym typeface="Inter SemiBold"/>
                </a:rPr>
                <a:t>5 × 10⁴ total points</a:t>
              </a:r>
              <a:r>
                <a:rPr b="0" lang="it" sz="780">
                  <a:solidFill>
                    <a:srgbClr val="94A3B8"/>
                  </a:solidFill>
                  <a:latin typeface="Inter"/>
                  <a:ea typeface="Inter"/>
                  <a:cs typeface="Inter"/>
                  <a:sym typeface="Inter"/>
                </a:rPr>
                <a:t>.</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Fully compatible with resolutions from real experimental measurements.</a:t>
              </a:r>
              <a:endParaRPr b="0" sz="780">
                <a:solidFill>
                  <a:srgbClr val="94A3B8"/>
                </a:solidFill>
                <a:latin typeface="Inter"/>
                <a:ea typeface="Inter"/>
                <a:cs typeface="Inter"/>
                <a:sym typeface="Inter"/>
              </a:endParaRPr>
            </a:p>
          </p:txBody>
        </p:sp>
      </p:grpSp>
      <p:grpSp>
        <p:nvGrpSpPr>
          <p:cNvPr id="632" name="Google Shape;632;p40"/>
          <p:cNvGrpSpPr/>
          <p:nvPr/>
        </p:nvGrpSpPr>
        <p:grpSpPr>
          <a:xfrm>
            <a:off x="6143625" y="1028700"/>
            <a:ext cx="2619300" cy="3848100"/>
            <a:chOff x="0" y="0"/>
            <a:chExt cx="2619300" cy="3848100"/>
          </a:xfrm>
        </p:grpSpPr>
        <p:sp>
          <p:nvSpPr>
            <p:cNvPr id="633" name="Google Shape;633;p40"/>
            <p:cNvSpPr/>
            <p:nvPr/>
          </p:nvSpPr>
          <p:spPr>
            <a:xfrm>
              <a:off x="0" y="0"/>
              <a:ext cx="2619300" cy="3848100"/>
            </a:xfrm>
            <a:prstGeom prst="roundRect">
              <a:avLst>
                <a:gd fmla="val 218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40"/>
            <p:cNvSpPr/>
            <p:nvPr/>
          </p:nvSpPr>
          <p:spPr>
            <a:xfrm>
              <a:off x="0" y="0"/>
              <a:ext cx="28500" cy="38481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40"/>
            <p:cNvSpPr txBox="1"/>
            <p:nvPr/>
          </p:nvSpPr>
          <p:spPr>
            <a:xfrm>
              <a:off x="171450" y="152400"/>
              <a:ext cx="2286000" cy="354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8B5CF6"/>
                  </a:solidFill>
                  <a:latin typeface="Inter"/>
                  <a:ea typeface="Inter"/>
                  <a:cs typeface="Inter"/>
                  <a:sym typeface="Inter"/>
                </a:rPr>
                <a:t>PRACTICAL IMPACT</a:t>
              </a:r>
              <a:endParaRPr b="1" sz="800">
                <a:solidFill>
                  <a:srgbClr val="8B5CF6"/>
                </a:solidFill>
                <a:latin typeface="Inter"/>
                <a:ea typeface="Inter"/>
                <a:cs typeface="Inter"/>
                <a:sym typeface="Inter"/>
              </a:endParaRPr>
            </a:p>
            <a:p>
              <a:pPr indent="0" lvl="0" marL="0" rtl="0" algn="l">
                <a:spcBef>
                  <a:spcPts val="200"/>
                </a:spcBef>
                <a:spcAft>
                  <a:spcPts val="0"/>
                </a:spcAft>
                <a:buNone/>
              </a:pPr>
              <a:r>
                <a:rPr b="0" lang="it" sz="1100">
                  <a:solidFill>
                    <a:srgbClr val="F8F9FA"/>
                  </a:solidFill>
                  <a:latin typeface="Inter SemiBold"/>
                  <a:ea typeface="Inter SemiBold"/>
                  <a:cs typeface="Inter SemiBold"/>
                  <a:sym typeface="Inter SemiBold"/>
                </a:rPr>
                <a:t>Experimental PIV Integration??</a:t>
              </a:r>
              <a:endParaRPr b="0" sz="1100">
                <a:solidFill>
                  <a:srgbClr val="F8F9FA"/>
                </a:solidFill>
                <a:latin typeface="Inter SemiBold"/>
                <a:ea typeface="Inter SemiBold"/>
                <a:cs typeface="Inter SemiBold"/>
                <a:sym typeface="Inter SemiBold"/>
              </a:endParaRPr>
            </a:p>
            <a:p>
              <a:pPr indent="0" lvl="0" marL="0" rtl="0" algn="l">
                <a:spcBef>
                  <a:spcPts val="1400"/>
                </a:spcBef>
                <a:spcAft>
                  <a:spcPts val="0"/>
                </a:spcAft>
                <a:buNone/>
              </a:pPr>
              <a:r>
                <a:rPr b="0" lang="it" sz="850">
                  <a:solidFill>
                    <a:srgbClr val="F8F9FA"/>
                  </a:solidFill>
                  <a:latin typeface="Inter SemiBold"/>
                  <a:ea typeface="Inter SemiBold"/>
                  <a:cs typeface="Inter SemiBold"/>
                  <a:sym typeface="Inter SemiBold"/>
                </a:rPr>
                <a:t>The PIV Limitation</a:t>
              </a:r>
              <a:endParaRPr b="0" sz="850">
                <a:solidFill>
                  <a:srgbClr val="F8F9FA"/>
                </a:solidFill>
                <a:latin typeface="Inter SemiBold"/>
                <a:ea typeface="Inter SemiBold"/>
                <a:cs typeface="Inter SemiBold"/>
                <a:sym typeface="Inter SemiBold"/>
              </a:endParaRPr>
            </a:p>
            <a:p>
              <a:pPr indent="0" lvl="0" marL="0" rtl="0" algn="l">
                <a:spcBef>
                  <a:spcPts val="400"/>
                </a:spcBef>
                <a:spcAft>
                  <a:spcPts val="0"/>
                </a:spcAft>
                <a:buNone/>
              </a:pPr>
              <a:r>
                <a:rPr b="0" lang="it" sz="780">
                  <a:solidFill>
                    <a:srgbClr val="94A3B8"/>
                  </a:solidFill>
                  <a:latin typeface="Inter"/>
                  <a:ea typeface="Inter"/>
                  <a:cs typeface="Inter"/>
                  <a:sym typeface="Inter"/>
                </a:rPr>
                <a:t>Laboratory Particle Image Velocimetry (PIV) only provides kinematic velocity fields; internal stresses and pressure are inaccessible directly.</a:t>
              </a:r>
              <a:endParaRPr b="0" sz="780">
                <a:solidFill>
                  <a:srgbClr val="94A3B8"/>
                </a:solidFill>
                <a:latin typeface="Inter"/>
                <a:ea typeface="Inter"/>
                <a:cs typeface="Inter"/>
                <a:sym typeface="Inter"/>
              </a:endParaRPr>
            </a:p>
            <a:p>
              <a:pPr indent="0" lvl="0" marL="0" rtl="0" algn="l">
                <a:spcBef>
                  <a:spcPts val="1400"/>
                </a:spcBef>
                <a:spcAft>
                  <a:spcPts val="0"/>
                </a:spcAft>
                <a:buNone/>
              </a:pPr>
              <a:r>
                <a:rPr b="1" lang="it" sz="850">
                  <a:solidFill>
                    <a:srgbClr val="8B5CF6"/>
                  </a:solidFill>
                  <a:latin typeface="Inter"/>
                  <a:ea typeface="Inter"/>
                  <a:cs typeface="Inter"/>
                  <a:sym typeface="Inter"/>
                </a:rPr>
                <a:t>Full-Field Virtual Rheometer</a:t>
              </a:r>
              <a:endParaRPr b="1" sz="850">
                <a:solidFill>
                  <a:srgbClr val="8B5CF6"/>
                </a:solidFill>
                <a:latin typeface="Inter"/>
                <a:ea typeface="Inter"/>
                <a:cs typeface="Inter"/>
                <a:sym typeface="Inter"/>
              </a:endParaRPr>
            </a:p>
            <a:p>
              <a:pPr indent="0" lvl="0" marL="0" rtl="0" algn="l">
                <a:spcBef>
                  <a:spcPts val="400"/>
                </a:spcBef>
                <a:spcAft>
                  <a:spcPts val="0"/>
                </a:spcAft>
                <a:buNone/>
              </a:pPr>
              <a:r>
                <a:rPr b="0" lang="it" sz="780">
                  <a:solidFill>
                    <a:srgbClr val="94A3B8"/>
                  </a:solidFill>
                  <a:latin typeface="Inter"/>
                  <a:ea typeface="Inter"/>
                  <a:cs typeface="Inter"/>
                  <a:sym typeface="Inter"/>
                </a:rPr>
                <a:t>ViscoelasticNet acts as a </a:t>
              </a:r>
              <a:r>
                <a:rPr b="0" lang="it" sz="780">
                  <a:solidFill>
                    <a:srgbClr val="F8F9FA"/>
                  </a:solidFill>
                  <a:latin typeface="Inter SemiBold"/>
                  <a:ea typeface="Inter SemiBold"/>
                  <a:cs typeface="Inter SemiBold"/>
                  <a:sym typeface="Inter SemiBold"/>
                </a:rPr>
                <a:t>virtual rheometer</a:t>
              </a:r>
              <a:r>
                <a:rPr b="0" lang="it" sz="780">
                  <a:solidFill>
                    <a:srgbClr val="94A3B8"/>
                  </a:solidFill>
                  <a:latin typeface="Inter"/>
                  <a:ea typeface="Inter"/>
                  <a:cs typeface="Inter"/>
                  <a:sym typeface="Inter"/>
                </a:rPr>
                <a:t>:</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Uncovers full stress tensors and pressure fields directly from raw PIV data.</a:t>
              </a:r>
              <a:endParaRPr b="0" sz="780">
                <a:solidFill>
                  <a:srgbClr val="94A3B8"/>
                </a:solidFill>
                <a:latin typeface="Inter"/>
                <a:ea typeface="Inter"/>
                <a:cs typeface="Inter"/>
                <a:sym typeface="Inter"/>
              </a:endParaRPr>
            </a:p>
            <a:p>
              <a:pPr indent="-278130" lvl="0" marL="457200" rtl="0" algn="l">
                <a:spcBef>
                  <a:spcPts val="400"/>
                </a:spcBef>
                <a:spcAft>
                  <a:spcPts val="0"/>
                </a:spcAft>
                <a:buClr>
                  <a:srgbClr val="94A3B8"/>
                </a:buClr>
                <a:buSzPts val="780"/>
                <a:buFont typeface="Inter"/>
                <a:buChar char="●"/>
              </a:pPr>
              <a:r>
                <a:rPr b="0" lang="it" sz="780">
                  <a:solidFill>
                    <a:srgbClr val="94A3B8"/>
                  </a:solidFill>
                  <a:latin typeface="Inter"/>
                  <a:ea typeface="Inter"/>
                  <a:cs typeface="Inter"/>
                  <a:sym typeface="Inter"/>
                </a:rPr>
                <a:t>Identifies underlying constitutive equations automatically.</a:t>
              </a:r>
              <a:endParaRPr b="0" sz="780">
                <a:solidFill>
                  <a:srgbClr val="94A3B8"/>
                </a:solidFill>
                <a:latin typeface="Inter"/>
                <a:ea typeface="Inter"/>
                <a:cs typeface="Inter"/>
                <a:sym typeface="Inter"/>
              </a:endParaRPr>
            </a:p>
          </p:txBody>
        </p:sp>
      </p:grpSp>
      <p:sp>
        <p:nvSpPr>
          <p:cNvPr id="636" name="Google Shape;636;p4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0" name="Shape 640"/>
        <p:cNvGrpSpPr/>
        <p:nvPr/>
      </p:nvGrpSpPr>
      <p:grpSpPr>
        <a:xfrm>
          <a:off x="0" y="0"/>
          <a:ext cx="0" cy="0"/>
          <a:chOff x="0" y="0"/>
          <a:chExt cx="0" cy="0"/>
        </a:xfrm>
      </p:grpSpPr>
      <p:sp>
        <p:nvSpPr>
          <p:cNvPr id="641" name="Google Shape;641;p41"/>
          <p:cNvSpPr txBox="1"/>
          <p:nvPr/>
        </p:nvSpPr>
        <p:spPr>
          <a:xfrm>
            <a:off x="381000" y="190500"/>
            <a:ext cx="8382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405">
                <a:solidFill>
                  <a:srgbClr val="F8F9FA"/>
                </a:solidFill>
                <a:latin typeface="Inter"/>
                <a:ea typeface="Inter"/>
                <a:cs typeface="Inter"/>
                <a:sym typeface="Inter"/>
              </a:rPr>
              <a:t>CFD Modeling: Geometric Ratios &amp; Benchmark Setup</a:t>
            </a:r>
            <a:endParaRPr b="1" sz="2405">
              <a:solidFill>
                <a:srgbClr val="F8F9FA"/>
              </a:solidFill>
              <a:latin typeface="Inter"/>
              <a:ea typeface="Inter"/>
              <a:cs typeface="Inter"/>
              <a:sym typeface="Inter"/>
            </a:endParaRPr>
          </a:p>
        </p:txBody>
      </p:sp>
      <p:cxnSp>
        <p:nvCxnSpPr>
          <p:cNvPr id="642" name="Google Shape;642;p41"/>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643" name="Google Shape;643;p41"/>
          <p:cNvGrpSpPr/>
          <p:nvPr/>
        </p:nvGrpSpPr>
        <p:grpSpPr>
          <a:xfrm>
            <a:off x="381000" y="904875"/>
            <a:ext cx="4476900" cy="3857700"/>
            <a:chOff x="0" y="0"/>
            <a:chExt cx="4476900" cy="3857700"/>
          </a:xfrm>
        </p:grpSpPr>
        <p:sp>
          <p:nvSpPr>
            <p:cNvPr id="644" name="Google Shape;644;p41"/>
            <p:cNvSpPr/>
            <p:nvPr/>
          </p:nvSpPr>
          <p:spPr>
            <a:xfrm>
              <a:off x="0" y="0"/>
              <a:ext cx="4476900" cy="3857700"/>
            </a:xfrm>
            <a:prstGeom prst="roundRect">
              <a:avLst>
                <a:gd fmla="val 197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41"/>
            <p:cNvSpPr/>
            <p:nvPr/>
          </p:nvSpPr>
          <p:spPr>
            <a:xfrm>
              <a:off x="0" y="0"/>
              <a:ext cx="44769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41"/>
            <p:cNvSpPr txBox="1"/>
            <p:nvPr/>
          </p:nvSpPr>
          <p:spPr>
            <a:xfrm>
              <a:off x="190500" y="152400"/>
              <a:ext cx="4095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10B981"/>
                  </a:solidFill>
                  <a:latin typeface="Inter"/>
                  <a:ea typeface="Inter"/>
                  <a:cs typeface="Inter"/>
                  <a:sym typeface="Inter"/>
                </a:rPr>
                <a:t>GEOMETRIC DOMAIN</a:t>
              </a:r>
              <a:endParaRPr b="1" sz="800">
                <a:solidFill>
                  <a:srgbClr val="10B981"/>
                </a:solidFill>
                <a:latin typeface="Inter"/>
                <a:ea typeface="Inter"/>
                <a:cs typeface="Inter"/>
                <a:sym typeface="Inter"/>
              </a:endParaRPr>
            </a:p>
            <a:p>
              <a:pPr indent="0" lvl="0" marL="0" rtl="0" algn="l">
                <a:spcBef>
                  <a:spcPts val="150"/>
                </a:spcBef>
                <a:spcAft>
                  <a:spcPts val="0"/>
                </a:spcAft>
                <a:buNone/>
              </a:pPr>
              <a:r>
                <a:rPr b="0" lang="it" sz="1200">
                  <a:solidFill>
                    <a:srgbClr val="F8F9FA"/>
                  </a:solidFill>
                  <a:latin typeface="Inter SemiBold"/>
                  <a:ea typeface="Inter SemiBold"/>
                  <a:cs typeface="Inter SemiBold"/>
                  <a:sym typeface="Inter SemiBold"/>
                </a:rPr>
                <a:t>Characteristic Dimensions</a:t>
              </a:r>
              <a:endParaRPr b="0" sz="1200">
                <a:solidFill>
                  <a:srgbClr val="F8F9FA"/>
                </a:solidFill>
                <a:latin typeface="Inter SemiBold"/>
                <a:ea typeface="Inter SemiBold"/>
                <a:cs typeface="Inter SemiBold"/>
                <a:sym typeface="Inter SemiBold"/>
              </a:endParaRPr>
            </a:p>
          </p:txBody>
        </p:sp>
      </p:grpSp>
      <p:sp>
        <p:nvSpPr>
          <p:cNvPr id="647" name="Google Shape;647;p41"/>
          <p:cNvSpPr/>
          <p:nvPr/>
        </p:nvSpPr>
        <p:spPr>
          <a:xfrm>
            <a:off x="5276850" y="1428750"/>
            <a:ext cx="3257700" cy="1428900"/>
          </a:xfrm>
          <a:prstGeom prst="roundRect">
            <a:avLst>
              <a:gd fmla="val 4000" name="adj"/>
            </a:avLst>
          </a:prstGeom>
          <a:solidFill>
            <a:srgbClr val="1C2128"/>
          </a:solidFill>
          <a:ln cap="flat" cmpd="sng" w="9525">
            <a:solidFill>
              <a:srgbClr val="2D343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41"/>
          <p:cNvSpPr/>
          <p:nvPr/>
        </p:nvSpPr>
        <p:spPr>
          <a:xfrm>
            <a:off x="5276850" y="3048000"/>
            <a:ext cx="3257700" cy="1428900"/>
          </a:xfrm>
          <a:prstGeom prst="roundRect">
            <a:avLst>
              <a:gd fmla="val 4000" name="adj"/>
            </a:avLst>
          </a:prstGeom>
          <a:solidFill>
            <a:srgbClr val="1C2128"/>
          </a:solidFill>
          <a:ln cap="flat" cmpd="sng" w="9525">
            <a:solidFill>
              <a:srgbClr val="2D343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49" name="Google Shape;649;p41"/>
          <p:cNvGrpSpPr/>
          <p:nvPr/>
        </p:nvGrpSpPr>
        <p:grpSpPr>
          <a:xfrm>
            <a:off x="5048250" y="904875"/>
            <a:ext cx="3714900" cy="3857700"/>
            <a:chOff x="0" y="0"/>
            <a:chExt cx="3714900" cy="3857700"/>
          </a:xfrm>
        </p:grpSpPr>
        <p:sp>
          <p:nvSpPr>
            <p:cNvPr id="650" name="Google Shape;650;p41"/>
            <p:cNvSpPr/>
            <p:nvPr/>
          </p:nvSpPr>
          <p:spPr>
            <a:xfrm>
              <a:off x="0" y="0"/>
              <a:ext cx="3714900" cy="3857700"/>
            </a:xfrm>
            <a:prstGeom prst="roundRect">
              <a:avLst>
                <a:gd fmla="val 205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1" name="Google Shape;651;p41"/>
            <p:cNvSpPr/>
            <p:nvPr/>
          </p:nvSpPr>
          <p:spPr>
            <a:xfrm>
              <a:off x="0" y="0"/>
              <a:ext cx="3714900" cy="285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41"/>
            <p:cNvSpPr txBox="1"/>
            <p:nvPr/>
          </p:nvSpPr>
          <p:spPr>
            <a:xfrm>
              <a:off x="228600" y="190500"/>
              <a:ext cx="32577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it" sz="800">
                  <a:solidFill>
                    <a:srgbClr val="8B5CF6"/>
                  </a:solidFill>
                  <a:latin typeface="Inter"/>
                  <a:ea typeface="Inter"/>
                  <a:cs typeface="Inter"/>
                  <a:sym typeface="Inter"/>
                </a:rPr>
                <a:t>GEOMETRIC RATIOS</a:t>
              </a:r>
              <a:endParaRPr b="1" i="0" sz="800">
                <a:solidFill>
                  <a:srgbClr val="8B5CF6"/>
                </a:solidFill>
                <a:latin typeface="Inter"/>
                <a:ea typeface="Inter"/>
                <a:cs typeface="Inter"/>
                <a:sym typeface="Inter"/>
              </a:endParaRPr>
            </a:p>
          </p:txBody>
        </p:sp>
      </p:grpSp>
      <p:sp>
        <p:nvSpPr>
          <p:cNvPr id="653" name="Google Shape;653;p41"/>
          <p:cNvSpPr/>
          <p:nvPr/>
        </p:nvSpPr>
        <p:spPr>
          <a:xfrm>
            <a:off x="5276850" y="1428750"/>
            <a:ext cx="38100" cy="14289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41"/>
          <p:cNvSpPr/>
          <p:nvPr/>
        </p:nvSpPr>
        <p:spPr>
          <a:xfrm>
            <a:off x="5276850" y="3048000"/>
            <a:ext cx="38100" cy="14289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41"/>
          <p:cNvSpPr txBox="1"/>
          <p:nvPr/>
        </p:nvSpPr>
        <p:spPr>
          <a:xfrm>
            <a:off x="381000" y="4905375"/>
            <a:ext cx="838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800">
                <a:solidFill>
                  <a:srgbClr val="64748B"/>
                </a:solidFill>
                <a:latin typeface="Inter"/>
                <a:ea typeface="Inter"/>
                <a:cs typeface="Inter"/>
                <a:sym typeface="Inter"/>
              </a:rPr>
              <a:t>Reference: </a:t>
            </a:r>
            <a:r>
              <a:rPr lang="it" sz="800">
                <a:solidFill>
                  <a:srgbClr val="64748B"/>
                </a:solidFill>
                <a:latin typeface="Inter"/>
                <a:ea typeface="Inter"/>
                <a:cs typeface="Inter"/>
                <a:sym typeface="Inter"/>
              </a:rPr>
              <a:t>D’Avino</a:t>
            </a:r>
            <a:r>
              <a:rPr b="0" lang="it" sz="800">
                <a:solidFill>
                  <a:srgbClr val="64748B"/>
                </a:solidFill>
                <a:latin typeface="Inter"/>
                <a:ea typeface="Inter"/>
                <a:cs typeface="Inter"/>
                <a:sym typeface="Inter"/>
              </a:rPr>
              <a:t> et al. (</a:t>
            </a:r>
            <a:r>
              <a:rPr lang="it" sz="800">
                <a:solidFill>
                  <a:srgbClr val="64748B"/>
                </a:solidFill>
                <a:latin typeface="Inter"/>
                <a:ea typeface="Inter"/>
                <a:cs typeface="Inter"/>
                <a:sym typeface="Inter"/>
              </a:rPr>
              <a:t>201</a:t>
            </a:r>
            <a:r>
              <a:rPr b="0" lang="it" sz="800">
                <a:solidFill>
                  <a:srgbClr val="64748B"/>
                </a:solidFill>
                <a:latin typeface="Inter"/>
                <a:ea typeface="Inter"/>
                <a:cs typeface="Inter"/>
                <a:sym typeface="Inter"/>
              </a:rPr>
              <a:t>7) – </a:t>
            </a:r>
            <a:r>
              <a:rPr i="1" lang="it" sz="800">
                <a:solidFill>
                  <a:srgbClr val="64748B"/>
                </a:solidFill>
                <a:latin typeface="Inter"/>
                <a:ea typeface="Inter"/>
                <a:cs typeface="Inter"/>
                <a:sym typeface="Inter"/>
              </a:rPr>
              <a:t> Numerical simulations of dispersive mixing of viscoelastic suspensions in a four-roll mill</a:t>
            </a:r>
            <a:endParaRPr b="0" sz="800">
              <a:solidFill>
                <a:srgbClr val="64748B"/>
              </a:solidFill>
              <a:latin typeface="Inter"/>
              <a:ea typeface="Inter"/>
              <a:cs typeface="Inter"/>
              <a:sym typeface="Inter"/>
            </a:endParaRPr>
          </a:p>
        </p:txBody>
      </p:sp>
      <p:sp>
        <p:nvSpPr>
          <p:cNvPr id="656" name="Google Shape;656;p41"/>
          <p:cNvSpPr txBox="1"/>
          <p:nvPr/>
        </p:nvSpPr>
        <p:spPr>
          <a:xfrm>
            <a:off x="5467350" y="1428750"/>
            <a:ext cx="29337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it" sz="800">
                <a:solidFill>
                  <a:srgbClr val="A78BFA"/>
                </a:solidFill>
                <a:latin typeface="Inter"/>
                <a:ea typeface="Inter"/>
                <a:cs typeface="Inter"/>
                <a:sym typeface="Inter"/>
              </a:rPr>
              <a:t>CYLINDER RATIO </a:t>
            </a:r>
            <a:r>
              <a:rPr b="0" i="0" lang="it" sz="800">
                <a:solidFill>
                  <a:srgbClr val="94A3B8"/>
                </a:solidFill>
                <a:latin typeface="Inter"/>
                <a:ea typeface="Inter"/>
                <a:cs typeface="Inter"/>
                <a:sym typeface="Inter"/>
              </a:rPr>
              <a:t>(D</a:t>
            </a:r>
            <a:r>
              <a:rPr b="0" i="0" lang="it" sz="650">
                <a:solidFill>
                  <a:srgbClr val="94A3B8"/>
                </a:solidFill>
                <a:latin typeface="Inter"/>
                <a:ea typeface="Inter"/>
                <a:cs typeface="Inter"/>
                <a:sym typeface="Inter"/>
              </a:rPr>
              <a:t>roll</a:t>
            </a:r>
            <a:r>
              <a:rPr b="0" i="0" lang="it" sz="800">
                <a:solidFill>
                  <a:srgbClr val="94A3B8"/>
                </a:solidFill>
                <a:latin typeface="Inter"/>
                <a:ea typeface="Inter"/>
                <a:cs typeface="Inter"/>
                <a:sym typeface="Inter"/>
              </a:rPr>
              <a:t> / L)</a:t>
            </a:r>
            <a:endParaRPr b="1" i="0" sz="800">
              <a:solidFill>
                <a:srgbClr val="A78BFA"/>
              </a:solidFill>
              <a:latin typeface="Inter"/>
              <a:ea typeface="Inter"/>
              <a:cs typeface="Inter"/>
              <a:sym typeface="Inter"/>
            </a:endParaRPr>
          </a:p>
          <a:p>
            <a:pPr indent="0" lvl="0" marL="0" rtl="0" algn="l">
              <a:spcBef>
                <a:spcPts val="800"/>
              </a:spcBef>
              <a:spcAft>
                <a:spcPts val="0"/>
              </a:spcAft>
              <a:buNone/>
            </a:pPr>
            <a:r>
              <a:rPr b="1" i="0" lang="it" sz="4000">
                <a:solidFill>
                  <a:srgbClr val="F8F9FA"/>
                </a:solidFill>
                <a:latin typeface="Inter"/>
                <a:ea typeface="Inter"/>
                <a:cs typeface="Inter"/>
                <a:sym typeface="Inter"/>
              </a:rPr>
              <a:t>0.2</a:t>
            </a:r>
            <a:endParaRPr b="1" i="0" sz="800">
              <a:solidFill>
                <a:srgbClr val="A78BFA"/>
              </a:solidFill>
              <a:latin typeface="Inter"/>
              <a:ea typeface="Inter"/>
              <a:cs typeface="Inter"/>
              <a:sym typeface="Inter"/>
            </a:endParaRPr>
          </a:p>
        </p:txBody>
      </p:sp>
      <p:sp>
        <p:nvSpPr>
          <p:cNvPr id="657" name="Google Shape;657;p41"/>
          <p:cNvSpPr txBox="1"/>
          <p:nvPr/>
        </p:nvSpPr>
        <p:spPr>
          <a:xfrm>
            <a:off x="5467350" y="3048000"/>
            <a:ext cx="29337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it" sz="800">
                <a:solidFill>
                  <a:srgbClr val="10B981"/>
                </a:solidFill>
                <a:latin typeface="Inter"/>
                <a:ea typeface="Inter"/>
                <a:cs typeface="Inter"/>
                <a:sym typeface="Inter"/>
              </a:rPr>
              <a:t>POSITIONING RATIOS </a:t>
            </a:r>
            <a:r>
              <a:rPr b="0" i="0" lang="it" sz="800">
                <a:solidFill>
                  <a:srgbClr val="94A3B8"/>
                </a:solidFill>
                <a:latin typeface="Inter"/>
                <a:ea typeface="Inter"/>
                <a:cs typeface="Inter"/>
                <a:sym typeface="Inter"/>
              </a:rPr>
              <a:t>(d</a:t>
            </a:r>
            <a:r>
              <a:rPr b="0" i="0" lang="it" sz="650">
                <a:solidFill>
                  <a:srgbClr val="94A3B8"/>
                </a:solidFill>
                <a:latin typeface="Inter"/>
                <a:ea typeface="Inter"/>
                <a:cs typeface="Inter"/>
                <a:sym typeface="Inter"/>
              </a:rPr>
              <a:t>roll</a:t>
            </a:r>
            <a:r>
              <a:rPr b="0" i="0" lang="it" sz="800">
                <a:solidFill>
                  <a:srgbClr val="94A3B8"/>
                </a:solidFill>
                <a:latin typeface="Inter"/>
                <a:ea typeface="Inter"/>
                <a:cs typeface="Inter"/>
                <a:sym typeface="Inter"/>
              </a:rPr>
              <a:t> / L)</a:t>
            </a:r>
            <a:endParaRPr b="1" i="0" sz="800">
              <a:solidFill>
                <a:srgbClr val="10B981"/>
              </a:solidFill>
              <a:latin typeface="Inter"/>
              <a:ea typeface="Inter"/>
              <a:cs typeface="Inter"/>
              <a:sym typeface="Inter"/>
            </a:endParaRPr>
          </a:p>
          <a:p>
            <a:pPr indent="0" lvl="0" marL="0" rtl="0" algn="l">
              <a:spcBef>
                <a:spcPts val="800"/>
              </a:spcBef>
              <a:spcAft>
                <a:spcPts val="0"/>
              </a:spcAft>
              <a:buNone/>
            </a:pPr>
            <a:r>
              <a:rPr b="1" i="0" lang="it" sz="4000">
                <a:solidFill>
                  <a:srgbClr val="F8F9FA"/>
                </a:solidFill>
                <a:latin typeface="Inter"/>
                <a:ea typeface="Inter"/>
                <a:cs typeface="Inter"/>
                <a:sym typeface="Inter"/>
              </a:rPr>
              <a:t>0.2</a:t>
            </a:r>
            <a:endParaRPr b="1" i="0" sz="800">
              <a:solidFill>
                <a:srgbClr val="10B981"/>
              </a:solidFill>
              <a:latin typeface="Inter"/>
              <a:ea typeface="Inter"/>
              <a:cs typeface="Inter"/>
              <a:sym typeface="Inter"/>
            </a:endParaRPr>
          </a:p>
        </p:txBody>
      </p:sp>
      <p:sp>
        <p:nvSpPr>
          <p:cNvPr id="658" name="Google Shape;658;p4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59" name="Google Shape;659;p41"/>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660" name="Google Shape;660;p41" title="4roll_mill_geometry_cad_clean.png"/>
          <p:cNvPicPr preferRelativeResize="0"/>
          <p:nvPr/>
        </p:nvPicPr>
        <p:blipFill rotWithShape="1">
          <a:blip r:embed="rId4">
            <a:alphaModFix/>
          </a:blip>
          <a:srcRect b="9013" l="8902" r="9131" t="8898"/>
          <a:stretch/>
        </p:blipFill>
        <p:spPr>
          <a:xfrm>
            <a:off x="976825" y="1428750"/>
            <a:ext cx="3285241" cy="329022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4" name="Shape 664"/>
        <p:cNvGrpSpPr/>
        <p:nvPr/>
      </p:nvGrpSpPr>
      <p:grpSpPr>
        <a:xfrm>
          <a:off x="0" y="0"/>
          <a:ext cx="0" cy="0"/>
          <a:chOff x="0" y="0"/>
          <a:chExt cx="0" cy="0"/>
        </a:xfrm>
      </p:grpSpPr>
      <p:sp>
        <p:nvSpPr>
          <p:cNvPr id="665" name="Google Shape;665;p42"/>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2800">
                <a:solidFill>
                  <a:srgbClr val="F8F9FA"/>
                </a:solidFill>
                <a:latin typeface="Inter SemiBold"/>
                <a:ea typeface="Inter SemiBold"/>
                <a:cs typeface="Inter SemiBold"/>
                <a:sym typeface="Inter SemiBold"/>
              </a:rPr>
              <a:t>Physical Assumptions</a:t>
            </a:r>
            <a:endParaRPr b="0" sz="2800">
              <a:solidFill>
                <a:srgbClr val="F8F9FA"/>
              </a:solidFill>
              <a:latin typeface="Inter SemiBold"/>
              <a:ea typeface="Inter SemiBold"/>
              <a:cs typeface="Inter SemiBold"/>
              <a:sym typeface="Inter SemiBold"/>
            </a:endParaRPr>
          </a:p>
        </p:txBody>
      </p:sp>
      <p:cxnSp>
        <p:nvCxnSpPr>
          <p:cNvPr id="666" name="Google Shape;666;p42"/>
          <p:cNvCxnSpPr/>
          <p:nvPr/>
        </p:nvCxnSpPr>
        <p:spPr>
          <a:xfrm>
            <a:off x="381000" y="7620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667" name="Google Shape;667;p42"/>
          <p:cNvGrpSpPr/>
          <p:nvPr/>
        </p:nvGrpSpPr>
        <p:grpSpPr>
          <a:xfrm>
            <a:off x="381000" y="1000125"/>
            <a:ext cx="2667000" cy="3762300"/>
            <a:chOff x="0" y="0"/>
            <a:chExt cx="2667000" cy="3762300"/>
          </a:xfrm>
        </p:grpSpPr>
        <p:sp>
          <p:nvSpPr>
            <p:cNvPr id="668" name="Google Shape;668;p42"/>
            <p:cNvSpPr/>
            <p:nvPr/>
          </p:nvSpPr>
          <p:spPr>
            <a:xfrm>
              <a:off x="0" y="0"/>
              <a:ext cx="2667000" cy="37623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42"/>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42"/>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2200">
                  <a:solidFill>
                    <a:srgbClr val="3B82F6"/>
                  </a:solidFill>
                  <a:latin typeface="Inter"/>
                  <a:ea typeface="Inter"/>
                  <a:cs typeface="Inter"/>
                  <a:sym typeface="Inter"/>
                </a:rPr>
                <a:t>01</a:t>
              </a:r>
              <a:endParaRPr b="1" i="0" sz="2200">
                <a:solidFill>
                  <a:srgbClr val="3B82F6"/>
                </a:solidFill>
                <a:latin typeface="Inter"/>
                <a:ea typeface="Inter"/>
                <a:cs typeface="Inter"/>
                <a:sym typeface="Inter"/>
              </a:endParaRPr>
            </a:p>
            <a:p>
              <a:pPr indent="0" lvl="0" marL="0" rtl="0" algn="l">
                <a:spcBef>
                  <a:spcPts val="800"/>
                </a:spcBef>
                <a:spcAft>
                  <a:spcPts val="0"/>
                </a:spcAft>
                <a:buNone/>
              </a:pPr>
              <a:r>
                <a:rPr b="0" i="0" lang="it" sz="750">
                  <a:solidFill>
                    <a:srgbClr val="3B82F6"/>
                  </a:solidFill>
                  <a:latin typeface="Inter SemiBold"/>
                  <a:ea typeface="Inter SemiBold"/>
                  <a:cs typeface="Inter SemiBold"/>
                  <a:sym typeface="Inter SemiBold"/>
                </a:rPr>
                <a:t>FLUID DENSITY</a:t>
              </a:r>
              <a:endParaRPr b="1" i="0" sz="750">
                <a:solidFill>
                  <a:srgbClr val="3B82F6"/>
                </a:solidFill>
                <a:latin typeface="Inter"/>
                <a:ea typeface="Inter"/>
                <a:cs typeface="Inter"/>
                <a:sym typeface="Inter"/>
              </a:endParaRPr>
            </a:p>
            <a:p>
              <a:pPr indent="0" lvl="0" marL="0" rtl="0" algn="l">
                <a:spcBef>
                  <a:spcPts val="400"/>
                </a:spcBef>
                <a:spcAft>
                  <a:spcPts val="0"/>
                </a:spcAft>
                <a:buNone/>
              </a:pPr>
              <a:r>
                <a:rPr b="0" i="0" lang="it" sz="1400">
                  <a:solidFill>
                    <a:srgbClr val="F8F9FA"/>
                  </a:solidFill>
                  <a:latin typeface="Inter SemiBold"/>
                  <a:ea typeface="Inter SemiBold"/>
                  <a:cs typeface="Inter SemiBold"/>
                  <a:sym typeface="Inter SemiBold"/>
                </a:rPr>
                <a:t>Incompressible</a:t>
              </a:r>
              <a:endParaRPr b="1" i="0" sz="1400">
                <a:solidFill>
                  <a:srgbClr val="3B82F6"/>
                </a:solidFill>
                <a:latin typeface="Inter"/>
                <a:ea typeface="Inter"/>
                <a:cs typeface="Inter"/>
                <a:sym typeface="Inter"/>
              </a:endParaRPr>
            </a:p>
            <a:p>
              <a:pPr indent="0" lvl="0" marL="0" rtl="0" algn="l">
                <a:spcBef>
                  <a:spcPts val="1000"/>
                </a:spcBef>
                <a:spcAft>
                  <a:spcPts val="0"/>
                </a:spcAft>
                <a:buNone/>
              </a:pPr>
              <a:r>
                <a:rPr b="0" i="0" lang="it" sz="850">
                  <a:solidFill>
                    <a:srgbClr val="94A3B8"/>
                  </a:solidFill>
                  <a:latin typeface="Inter Light"/>
                  <a:ea typeface="Inter Light"/>
                  <a:cs typeface="Inter Light"/>
                  <a:sym typeface="Inter Light"/>
                </a:rPr>
                <a:t>Constant density ⟶ </a:t>
              </a:r>
              <a:r>
                <a:rPr b="0" i="0" lang="it" sz="850">
                  <a:solidFill>
                    <a:srgbClr val="60A5FA"/>
                  </a:solidFill>
                  <a:latin typeface="Inter SemiBold"/>
                  <a:ea typeface="Inter SemiBold"/>
                  <a:cs typeface="Inter SemiBold"/>
                  <a:sym typeface="Inter SemiBold"/>
                </a:rPr>
                <a:t>∇·u = 0</a:t>
              </a:r>
              <a:r>
                <a:rPr b="0" i="0" lang="it" sz="850">
                  <a:solidFill>
                    <a:srgbClr val="94A3B8"/>
                  </a:solidFill>
                  <a:latin typeface="Inter Light"/>
                  <a:ea typeface="Inter Light"/>
                  <a:cs typeface="Inter Light"/>
                  <a:sym typeface="Inter Light"/>
                </a:rPr>
                <a:t>.</a:t>
              </a:r>
              <a:endParaRPr b="1" i="0" sz="850">
                <a:solidFill>
                  <a:srgbClr val="3B82F6"/>
                </a:solidFill>
                <a:latin typeface="Inter"/>
                <a:ea typeface="Inter"/>
                <a:cs typeface="Inter"/>
                <a:sym typeface="Inter"/>
              </a:endParaRPr>
            </a:p>
            <a:p>
              <a:pPr indent="0" lvl="0" marL="0" rtl="0" algn="l">
                <a:spcBef>
                  <a:spcPts val="800"/>
                </a:spcBef>
                <a:spcAft>
                  <a:spcPts val="0"/>
                </a:spcAft>
                <a:buNone/>
              </a:pPr>
              <a:r>
                <a:rPr b="0" i="0" lang="it" sz="850">
                  <a:solidFill>
                    <a:srgbClr val="CBD5E1"/>
                  </a:solidFill>
                  <a:latin typeface="Inter"/>
                  <a:ea typeface="Inter"/>
                  <a:cs typeface="Inter"/>
                  <a:sym typeface="Inter"/>
                </a:rPr>
                <a:t>Automatically satisfied through the formulation of the </a:t>
              </a:r>
              <a:r>
                <a:rPr b="0" i="0" lang="it" sz="850">
                  <a:solidFill>
                    <a:srgbClr val="60A5FA"/>
                  </a:solidFill>
                  <a:latin typeface="Inter Medium"/>
                  <a:ea typeface="Inter Medium"/>
                  <a:cs typeface="Inter Medium"/>
                  <a:sym typeface="Inter Medium"/>
                </a:rPr>
                <a:t>stream function</a:t>
              </a:r>
              <a:r>
                <a:rPr b="0" i="0" lang="it" sz="850">
                  <a:solidFill>
                    <a:srgbClr val="CBD5E1"/>
                  </a:solidFill>
                  <a:latin typeface="Inter"/>
                  <a:ea typeface="Inter"/>
                  <a:cs typeface="Inter"/>
                  <a:sym typeface="Inter"/>
                </a:rPr>
                <a:t> (ψ).</a:t>
              </a:r>
              <a:endParaRPr b="1" i="0" sz="850">
                <a:solidFill>
                  <a:srgbClr val="3B82F6"/>
                </a:solidFill>
                <a:latin typeface="Inter"/>
                <a:ea typeface="Inter"/>
                <a:cs typeface="Inter"/>
                <a:sym typeface="Inter"/>
              </a:endParaRPr>
            </a:p>
          </p:txBody>
        </p:sp>
      </p:grpSp>
      <p:grpSp>
        <p:nvGrpSpPr>
          <p:cNvPr id="671" name="Google Shape;671;p42"/>
          <p:cNvGrpSpPr/>
          <p:nvPr/>
        </p:nvGrpSpPr>
        <p:grpSpPr>
          <a:xfrm>
            <a:off x="3238500" y="1000125"/>
            <a:ext cx="2667000" cy="3762300"/>
            <a:chOff x="0" y="0"/>
            <a:chExt cx="2667000" cy="3762300"/>
          </a:xfrm>
        </p:grpSpPr>
        <p:sp>
          <p:nvSpPr>
            <p:cNvPr id="672" name="Google Shape;672;p42"/>
            <p:cNvSpPr/>
            <p:nvPr/>
          </p:nvSpPr>
          <p:spPr>
            <a:xfrm>
              <a:off x="0" y="0"/>
              <a:ext cx="2667000" cy="37623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3" name="Google Shape;673;p42"/>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42"/>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2200">
                  <a:solidFill>
                    <a:srgbClr val="3B82F6"/>
                  </a:solidFill>
                  <a:latin typeface="Inter"/>
                  <a:ea typeface="Inter"/>
                  <a:cs typeface="Inter"/>
                  <a:sym typeface="Inter"/>
                </a:rPr>
                <a:t>02</a:t>
              </a:r>
              <a:endParaRPr b="1" i="0" sz="2200">
                <a:solidFill>
                  <a:srgbClr val="3B82F6"/>
                </a:solidFill>
                <a:latin typeface="Inter"/>
                <a:ea typeface="Inter"/>
                <a:cs typeface="Inter"/>
                <a:sym typeface="Inter"/>
              </a:endParaRPr>
            </a:p>
            <a:p>
              <a:pPr indent="0" lvl="0" marL="0" rtl="0" algn="l">
                <a:spcBef>
                  <a:spcPts val="800"/>
                </a:spcBef>
                <a:spcAft>
                  <a:spcPts val="0"/>
                </a:spcAft>
                <a:buNone/>
              </a:pPr>
              <a:r>
                <a:rPr b="0" i="0" lang="it" sz="750">
                  <a:solidFill>
                    <a:srgbClr val="3B82F6"/>
                  </a:solidFill>
                  <a:latin typeface="Inter SemiBold"/>
                  <a:ea typeface="Inter SemiBold"/>
                  <a:cs typeface="Inter SemiBold"/>
                  <a:sym typeface="Inter SemiBold"/>
                </a:rPr>
                <a:t>FORCE FIELDS</a:t>
              </a:r>
              <a:endParaRPr b="1" i="0" sz="750">
                <a:solidFill>
                  <a:srgbClr val="3B82F6"/>
                </a:solidFill>
                <a:latin typeface="Inter"/>
                <a:ea typeface="Inter"/>
                <a:cs typeface="Inter"/>
                <a:sym typeface="Inter"/>
              </a:endParaRPr>
            </a:p>
            <a:p>
              <a:pPr indent="0" lvl="0" marL="0" rtl="0" algn="l">
                <a:spcBef>
                  <a:spcPts val="400"/>
                </a:spcBef>
                <a:spcAft>
                  <a:spcPts val="0"/>
                </a:spcAft>
                <a:buNone/>
              </a:pPr>
              <a:r>
                <a:rPr b="0" i="0" lang="it" sz="1400">
                  <a:solidFill>
                    <a:srgbClr val="F8F9FA"/>
                  </a:solidFill>
                  <a:latin typeface="Inter SemiBold"/>
                  <a:ea typeface="Inter SemiBold"/>
                  <a:cs typeface="Inter SemiBold"/>
                  <a:sym typeface="Inter SemiBold"/>
                </a:rPr>
                <a:t>No Gravity</a:t>
              </a:r>
              <a:endParaRPr b="1" i="0" sz="1400">
                <a:solidFill>
                  <a:srgbClr val="3B82F6"/>
                </a:solidFill>
                <a:latin typeface="Inter"/>
                <a:ea typeface="Inter"/>
                <a:cs typeface="Inter"/>
                <a:sym typeface="Inter"/>
              </a:endParaRPr>
            </a:p>
            <a:p>
              <a:pPr indent="0" lvl="0" marL="0" rtl="0" algn="l">
                <a:spcBef>
                  <a:spcPts val="1000"/>
                </a:spcBef>
                <a:spcAft>
                  <a:spcPts val="0"/>
                </a:spcAft>
                <a:buNone/>
              </a:pPr>
              <a:r>
                <a:rPr b="0" i="0" lang="it" sz="850">
                  <a:solidFill>
                    <a:srgbClr val="94A3B8"/>
                  </a:solidFill>
                  <a:latin typeface="Inter Light"/>
                  <a:ea typeface="Inter Light"/>
                  <a:cs typeface="Inter Light"/>
                  <a:sym typeface="Inter Light"/>
                </a:rPr>
                <a:t>Negligible gravity forces ⟶ </a:t>
              </a:r>
              <a:r>
                <a:rPr b="0" i="0" lang="it" sz="850">
                  <a:solidFill>
                    <a:srgbClr val="60A5FA"/>
                  </a:solidFill>
                  <a:latin typeface="Inter SemiBold"/>
                  <a:ea typeface="Inter SemiBold"/>
                  <a:cs typeface="Inter SemiBold"/>
                  <a:sym typeface="Inter SemiBold"/>
                </a:rPr>
                <a:t>g = 0</a:t>
              </a:r>
              <a:r>
                <a:rPr b="0" i="0" lang="it" sz="850">
                  <a:solidFill>
                    <a:srgbClr val="94A3B8"/>
                  </a:solidFill>
                  <a:latin typeface="Inter Light"/>
                  <a:ea typeface="Inter Light"/>
                  <a:cs typeface="Inter Light"/>
                  <a:sym typeface="Inter Light"/>
                </a:rPr>
                <a:t>.</a:t>
              </a:r>
              <a:endParaRPr b="1" i="0" sz="850">
                <a:solidFill>
                  <a:srgbClr val="3B82F6"/>
                </a:solidFill>
                <a:latin typeface="Inter"/>
                <a:ea typeface="Inter"/>
                <a:cs typeface="Inter"/>
                <a:sym typeface="Inter"/>
              </a:endParaRPr>
            </a:p>
            <a:p>
              <a:pPr indent="0" lvl="0" marL="0" rtl="0" algn="l">
                <a:spcBef>
                  <a:spcPts val="800"/>
                </a:spcBef>
                <a:spcAft>
                  <a:spcPts val="0"/>
                </a:spcAft>
                <a:buNone/>
              </a:pPr>
              <a:r>
                <a:rPr b="0" i="0" lang="it" sz="850">
                  <a:solidFill>
                    <a:srgbClr val="CBD5E1"/>
                  </a:solidFill>
                  <a:latin typeface="Inter"/>
                  <a:ea typeface="Inter"/>
                  <a:cs typeface="Inter"/>
                  <a:sym typeface="Inter"/>
                </a:rPr>
                <a:t>Isolates purely hydrodynamic forces and eliminates mass/body force terms in momentum balance.</a:t>
              </a:r>
              <a:endParaRPr b="1" i="0" sz="850">
                <a:solidFill>
                  <a:srgbClr val="3B82F6"/>
                </a:solidFill>
                <a:latin typeface="Inter"/>
                <a:ea typeface="Inter"/>
                <a:cs typeface="Inter"/>
                <a:sym typeface="Inter"/>
              </a:endParaRPr>
            </a:p>
          </p:txBody>
        </p:sp>
      </p:grpSp>
      <p:grpSp>
        <p:nvGrpSpPr>
          <p:cNvPr id="675" name="Google Shape;675;p42"/>
          <p:cNvGrpSpPr/>
          <p:nvPr/>
        </p:nvGrpSpPr>
        <p:grpSpPr>
          <a:xfrm>
            <a:off x="6096000" y="1000125"/>
            <a:ext cx="2667000" cy="3762300"/>
            <a:chOff x="0" y="0"/>
            <a:chExt cx="2667000" cy="3762300"/>
          </a:xfrm>
        </p:grpSpPr>
        <p:sp>
          <p:nvSpPr>
            <p:cNvPr id="676" name="Google Shape;676;p42"/>
            <p:cNvSpPr/>
            <p:nvPr/>
          </p:nvSpPr>
          <p:spPr>
            <a:xfrm>
              <a:off x="0" y="0"/>
              <a:ext cx="2667000" cy="37623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7" name="Google Shape;677;p42"/>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42"/>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2200">
                  <a:solidFill>
                    <a:srgbClr val="3B82F6"/>
                  </a:solidFill>
                  <a:latin typeface="Inter"/>
                  <a:ea typeface="Inter"/>
                  <a:cs typeface="Inter"/>
                  <a:sym typeface="Inter"/>
                </a:rPr>
                <a:t>03</a:t>
              </a:r>
              <a:endParaRPr b="1" i="0" sz="2200">
                <a:solidFill>
                  <a:srgbClr val="3B82F6"/>
                </a:solidFill>
                <a:latin typeface="Inter"/>
                <a:ea typeface="Inter"/>
                <a:cs typeface="Inter"/>
                <a:sym typeface="Inter"/>
              </a:endParaRPr>
            </a:p>
            <a:p>
              <a:pPr indent="0" lvl="0" marL="0" rtl="0" algn="l">
                <a:spcBef>
                  <a:spcPts val="800"/>
                </a:spcBef>
                <a:spcAft>
                  <a:spcPts val="0"/>
                </a:spcAft>
                <a:buNone/>
              </a:pPr>
              <a:r>
                <a:rPr b="0" i="0" lang="it" sz="750">
                  <a:solidFill>
                    <a:srgbClr val="3B82F6"/>
                  </a:solidFill>
                  <a:latin typeface="Inter SemiBold"/>
                  <a:ea typeface="Inter SemiBold"/>
                  <a:cs typeface="Inter SemiBold"/>
                  <a:sym typeface="Inter SemiBold"/>
                </a:rPr>
                <a:t>THERMODYNAMICS</a:t>
              </a:r>
              <a:endParaRPr b="1" i="0" sz="750">
                <a:solidFill>
                  <a:srgbClr val="3B82F6"/>
                </a:solidFill>
                <a:latin typeface="Inter"/>
                <a:ea typeface="Inter"/>
                <a:cs typeface="Inter"/>
                <a:sym typeface="Inter"/>
              </a:endParaRPr>
            </a:p>
            <a:p>
              <a:pPr indent="0" lvl="0" marL="0" rtl="0" algn="l">
                <a:spcBef>
                  <a:spcPts val="400"/>
                </a:spcBef>
                <a:spcAft>
                  <a:spcPts val="0"/>
                </a:spcAft>
                <a:buNone/>
              </a:pPr>
              <a:r>
                <a:rPr b="0" i="0" lang="it" sz="1400">
                  <a:solidFill>
                    <a:srgbClr val="F8F9FA"/>
                  </a:solidFill>
                  <a:latin typeface="Inter SemiBold"/>
                  <a:ea typeface="Inter SemiBold"/>
                  <a:cs typeface="Inter SemiBold"/>
                  <a:sym typeface="Inter SemiBold"/>
                </a:rPr>
                <a:t>Isothermal</a:t>
              </a:r>
              <a:endParaRPr b="1" i="0" sz="1400">
                <a:solidFill>
                  <a:srgbClr val="3B82F6"/>
                </a:solidFill>
                <a:latin typeface="Inter"/>
                <a:ea typeface="Inter"/>
                <a:cs typeface="Inter"/>
                <a:sym typeface="Inter"/>
              </a:endParaRPr>
            </a:p>
            <a:p>
              <a:pPr indent="0" lvl="0" marL="0" rtl="0" algn="l">
                <a:spcBef>
                  <a:spcPts val="1000"/>
                </a:spcBef>
                <a:spcAft>
                  <a:spcPts val="0"/>
                </a:spcAft>
                <a:buNone/>
              </a:pPr>
              <a:r>
                <a:rPr b="0" i="0" lang="it" sz="850">
                  <a:solidFill>
                    <a:srgbClr val="94A3B8"/>
                  </a:solidFill>
                  <a:latin typeface="Inter Light"/>
                  <a:ea typeface="Inter Light"/>
                  <a:cs typeface="Inter Light"/>
                  <a:sym typeface="Inter Light"/>
                </a:rPr>
                <a:t>Uniform temperature profile ⟶ </a:t>
              </a:r>
              <a:r>
                <a:rPr b="0" i="0" lang="it" sz="850">
                  <a:solidFill>
                    <a:srgbClr val="60A5FA"/>
                  </a:solidFill>
                  <a:latin typeface="Inter SemiBold"/>
                  <a:ea typeface="Inter SemiBold"/>
                  <a:cs typeface="Inter SemiBold"/>
                  <a:sym typeface="Inter SemiBold"/>
                </a:rPr>
                <a:t>T = const (∇T = 0)</a:t>
              </a:r>
              <a:r>
                <a:rPr b="0" i="0" lang="it" sz="850">
                  <a:solidFill>
                    <a:srgbClr val="94A3B8"/>
                  </a:solidFill>
                  <a:latin typeface="Inter Light"/>
                  <a:ea typeface="Inter Light"/>
                  <a:cs typeface="Inter Light"/>
                  <a:sym typeface="Inter Light"/>
                </a:rPr>
                <a:t>.</a:t>
              </a:r>
              <a:endParaRPr b="1" i="0" sz="850">
                <a:solidFill>
                  <a:srgbClr val="3B82F6"/>
                </a:solidFill>
                <a:latin typeface="Inter"/>
                <a:ea typeface="Inter"/>
                <a:cs typeface="Inter"/>
                <a:sym typeface="Inter"/>
              </a:endParaRPr>
            </a:p>
            <a:p>
              <a:pPr indent="0" lvl="0" marL="0" rtl="0" algn="l">
                <a:spcBef>
                  <a:spcPts val="800"/>
                </a:spcBef>
                <a:spcAft>
                  <a:spcPts val="0"/>
                </a:spcAft>
                <a:buNone/>
              </a:pPr>
              <a:r>
                <a:rPr b="0" i="0" lang="it" sz="850">
                  <a:solidFill>
                    <a:srgbClr val="CBD5E1"/>
                  </a:solidFill>
                  <a:latin typeface="Inter"/>
                  <a:ea typeface="Inter"/>
                  <a:cs typeface="Inter"/>
                  <a:sym typeface="Inter"/>
                </a:rPr>
                <a:t>Decouples the energy equation and eliminates thermal dissipation effects.</a:t>
              </a:r>
              <a:endParaRPr b="1" i="0" sz="850">
                <a:solidFill>
                  <a:srgbClr val="3B82F6"/>
                </a:solidFill>
                <a:latin typeface="Inter"/>
                <a:ea typeface="Inter"/>
                <a:cs typeface="Inter"/>
                <a:sym typeface="Inter"/>
              </a:endParaRPr>
            </a:p>
          </p:txBody>
        </p:sp>
      </p:grpSp>
      <p:sp>
        <p:nvSpPr>
          <p:cNvPr id="679" name="Google Shape;67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3" name="Shape 683"/>
        <p:cNvGrpSpPr/>
        <p:nvPr/>
      </p:nvGrpSpPr>
      <p:grpSpPr>
        <a:xfrm>
          <a:off x="0" y="0"/>
          <a:ext cx="0" cy="0"/>
          <a:chOff x="0" y="0"/>
          <a:chExt cx="0" cy="0"/>
        </a:xfrm>
      </p:grpSpPr>
      <p:sp>
        <p:nvSpPr>
          <p:cNvPr id="684" name="Google Shape;684;p43"/>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2600">
                <a:solidFill>
                  <a:srgbClr val="F8F9FA"/>
                </a:solidFill>
                <a:latin typeface="Inter SemiBold"/>
                <a:ea typeface="Inter SemiBold"/>
                <a:cs typeface="Inter SemiBold"/>
                <a:sym typeface="Inter SemiBold"/>
              </a:rPr>
              <a:t>Recap: Governing Equations &amp; Boundary Conditions</a:t>
            </a:r>
            <a:endParaRPr b="0" sz="2600">
              <a:solidFill>
                <a:srgbClr val="F8F9FA"/>
              </a:solidFill>
              <a:latin typeface="Inter SemiBold"/>
              <a:ea typeface="Inter SemiBold"/>
              <a:cs typeface="Inter SemiBold"/>
              <a:sym typeface="Inter SemiBold"/>
            </a:endParaRPr>
          </a:p>
        </p:txBody>
      </p:sp>
      <p:cxnSp>
        <p:nvCxnSpPr>
          <p:cNvPr id="685" name="Google Shape;685;p43"/>
          <p:cNvCxnSpPr/>
          <p:nvPr/>
        </p:nvCxnSpPr>
        <p:spPr>
          <a:xfrm>
            <a:off x="381000" y="7620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686" name="Google Shape;686;p43"/>
          <p:cNvGrpSpPr/>
          <p:nvPr/>
        </p:nvGrpSpPr>
        <p:grpSpPr>
          <a:xfrm>
            <a:off x="381000" y="904875"/>
            <a:ext cx="4048200" cy="1905000"/>
            <a:chOff x="0" y="0"/>
            <a:chExt cx="4048200" cy="1905000"/>
          </a:xfrm>
        </p:grpSpPr>
        <p:sp>
          <p:nvSpPr>
            <p:cNvPr id="687" name="Google Shape;687;p43"/>
            <p:cNvSpPr/>
            <p:nvPr/>
          </p:nvSpPr>
          <p:spPr>
            <a:xfrm>
              <a:off x="0" y="0"/>
              <a:ext cx="4048200" cy="1905000"/>
            </a:xfrm>
            <a:prstGeom prst="roundRect">
              <a:avLst>
                <a:gd fmla="val 40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43"/>
            <p:cNvSpPr/>
            <p:nvPr/>
          </p:nvSpPr>
          <p:spPr>
            <a:xfrm>
              <a:off x="0" y="0"/>
              <a:ext cx="40482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43"/>
            <p:cNvSpPr txBox="1"/>
            <p:nvPr/>
          </p:nvSpPr>
          <p:spPr>
            <a:xfrm>
              <a:off x="190500" y="142875"/>
              <a:ext cx="3667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400">
                  <a:solidFill>
                    <a:srgbClr val="3B82F6"/>
                  </a:solidFill>
                  <a:latin typeface="Inter"/>
                  <a:ea typeface="Inter"/>
                  <a:cs typeface="Inter"/>
                  <a:sym typeface="Inter"/>
                </a:rPr>
                <a:t>01 </a:t>
              </a:r>
              <a:r>
                <a:rPr b="0" lang="it" sz="800">
                  <a:solidFill>
                    <a:srgbClr val="3B82F6"/>
                  </a:solidFill>
                  <a:latin typeface="Inter SemiBold"/>
                  <a:ea typeface="Inter SemiBold"/>
                  <a:cs typeface="Inter SemiBold"/>
                  <a:sym typeface="Inter SemiBold"/>
                </a:rPr>
                <a:t>CONTINUITY EQUATION</a:t>
              </a:r>
              <a:endParaRPr b="1" sz="1400">
                <a:solidFill>
                  <a:srgbClr val="3B82F6"/>
                </a:solidFill>
                <a:latin typeface="Inter"/>
                <a:ea typeface="Inter"/>
                <a:cs typeface="Inter"/>
                <a:sym typeface="Inter"/>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Incompressible Flow Regime</a:t>
              </a:r>
              <a:endParaRPr b="0" sz="1200">
                <a:solidFill>
                  <a:srgbClr val="F8F9FA"/>
                </a:solidFill>
                <a:latin typeface="Inter SemiBold"/>
                <a:ea typeface="Inter SemiBold"/>
                <a:cs typeface="Inter SemiBold"/>
                <a:sym typeface="Inter SemiBold"/>
              </a:endParaRPr>
            </a:p>
          </p:txBody>
        </p:sp>
        <p:pic>
          <p:nvPicPr>
            <p:cNvPr id="690" name="Google Shape;690;p43"/>
            <p:cNvPicPr preferRelativeResize="0"/>
            <p:nvPr/>
          </p:nvPicPr>
          <p:blipFill rotWithShape="1">
            <a:blip r:embed="rId4">
              <a:alphaModFix/>
            </a:blip>
            <a:srcRect b="0" l="0" r="0" t="0"/>
            <a:stretch/>
          </p:blipFill>
          <p:spPr>
            <a:xfrm>
              <a:off x="1336988" y="1000125"/>
              <a:ext cx="1285500" cy="214200"/>
            </a:xfrm>
            <a:prstGeom prst="rect">
              <a:avLst/>
            </a:prstGeom>
            <a:noFill/>
            <a:ln>
              <a:noFill/>
            </a:ln>
          </p:spPr>
        </p:pic>
      </p:grpSp>
      <p:grpSp>
        <p:nvGrpSpPr>
          <p:cNvPr id="691" name="Google Shape;691;p43"/>
          <p:cNvGrpSpPr/>
          <p:nvPr/>
        </p:nvGrpSpPr>
        <p:grpSpPr>
          <a:xfrm>
            <a:off x="4714875" y="904875"/>
            <a:ext cx="4048200" cy="1905000"/>
            <a:chOff x="0" y="0"/>
            <a:chExt cx="4048200" cy="1905000"/>
          </a:xfrm>
        </p:grpSpPr>
        <p:sp>
          <p:nvSpPr>
            <p:cNvPr id="692" name="Google Shape;692;p43"/>
            <p:cNvSpPr/>
            <p:nvPr/>
          </p:nvSpPr>
          <p:spPr>
            <a:xfrm>
              <a:off x="0" y="0"/>
              <a:ext cx="4048200" cy="1905000"/>
            </a:xfrm>
            <a:prstGeom prst="roundRect">
              <a:avLst>
                <a:gd fmla="val 40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43"/>
            <p:cNvSpPr/>
            <p:nvPr/>
          </p:nvSpPr>
          <p:spPr>
            <a:xfrm>
              <a:off x="0" y="0"/>
              <a:ext cx="40482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4" name="Google Shape;694;p43"/>
            <p:cNvSpPr txBox="1"/>
            <p:nvPr/>
          </p:nvSpPr>
          <p:spPr>
            <a:xfrm>
              <a:off x="190500" y="142875"/>
              <a:ext cx="3667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400">
                  <a:solidFill>
                    <a:srgbClr val="3B82F6"/>
                  </a:solidFill>
                  <a:latin typeface="Inter"/>
                  <a:ea typeface="Inter"/>
                  <a:cs typeface="Inter"/>
                  <a:sym typeface="Inter"/>
                </a:rPr>
                <a:t>02 </a:t>
              </a:r>
              <a:r>
                <a:rPr b="0" lang="it" sz="800">
                  <a:solidFill>
                    <a:srgbClr val="3B82F6"/>
                  </a:solidFill>
                  <a:latin typeface="Inter SemiBold"/>
                  <a:ea typeface="Inter SemiBold"/>
                  <a:cs typeface="Inter SemiBold"/>
                  <a:sym typeface="Inter SemiBold"/>
                </a:rPr>
                <a:t>MOMENTUM BALANCE</a:t>
              </a:r>
              <a:endParaRPr b="1" sz="1400">
                <a:solidFill>
                  <a:srgbClr val="3B82F6"/>
                </a:solidFill>
                <a:latin typeface="Inter"/>
                <a:ea typeface="Inter"/>
                <a:cs typeface="Inter"/>
                <a:sym typeface="Inter"/>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Quasi-Stokes Steady-State</a:t>
              </a:r>
              <a:endParaRPr b="0" sz="1200">
                <a:solidFill>
                  <a:srgbClr val="F8F9FA"/>
                </a:solidFill>
                <a:latin typeface="Inter SemiBold"/>
                <a:ea typeface="Inter SemiBold"/>
                <a:cs typeface="Inter SemiBold"/>
                <a:sym typeface="Inter SemiBold"/>
              </a:endParaRPr>
            </a:p>
          </p:txBody>
        </p:sp>
        <p:pic>
          <p:nvPicPr>
            <p:cNvPr id="695" name="Google Shape;695;p43"/>
            <p:cNvPicPr preferRelativeResize="0"/>
            <p:nvPr/>
          </p:nvPicPr>
          <p:blipFill rotWithShape="1">
            <a:blip r:embed="rId5">
              <a:alphaModFix/>
            </a:blip>
            <a:srcRect b="40" l="0" r="0" t="50"/>
            <a:stretch/>
          </p:blipFill>
          <p:spPr>
            <a:xfrm>
              <a:off x="238125" y="857250"/>
              <a:ext cx="3571800" cy="402900"/>
            </a:xfrm>
            <a:prstGeom prst="rect">
              <a:avLst/>
            </a:prstGeom>
            <a:noFill/>
            <a:ln>
              <a:noFill/>
            </a:ln>
          </p:spPr>
        </p:pic>
      </p:grpSp>
      <p:sp>
        <p:nvSpPr>
          <p:cNvPr id="696" name="Google Shape;69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697" name="Google Shape;697;p43"/>
          <p:cNvGrpSpPr/>
          <p:nvPr/>
        </p:nvGrpSpPr>
        <p:grpSpPr>
          <a:xfrm>
            <a:off x="381000" y="2952750"/>
            <a:ext cx="4048200" cy="1905000"/>
            <a:chOff x="0" y="0"/>
            <a:chExt cx="4048200" cy="1905000"/>
          </a:xfrm>
        </p:grpSpPr>
        <p:sp>
          <p:nvSpPr>
            <p:cNvPr id="698" name="Google Shape;698;p43"/>
            <p:cNvSpPr/>
            <p:nvPr/>
          </p:nvSpPr>
          <p:spPr>
            <a:xfrm>
              <a:off x="0" y="0"/>
              <a:ext cx="4048200" cy="1905000"/>
            </a:xfrm>
            <a:prstGeom prst="roundRect">
              <a:avLst>
                <a:gd fmla="val 40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43"/>
            <p:cNvSpPr/>
            <p:nvPr/>
          </p:nvSpPr>
          <p:spPr>
            <a:xfrm>
              <a:off x="0" y="0"/>
              <a:ext cx="40482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0" name="Google Shape;700;p43"/>
            <p:cNvSpPr txBox="1"/>
            <p:nvPr/>
          </p:nvSpPr>
          <p:spPr>
            <a:xfrm>
              <a:off x="190500" y="142875"/>
              <a:ext cx="3667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400">
                  <a:solidFill>
                    <a:srgbClr val="3B82F6"/>
                  </a:solidFill>
                  <a:latin typeface="Inter"/>
                  <a:ea typeface="Inter"/>
                  <a:cs typeface="Inter"/>
                  <a:sym typeface="Inter"/>
                </a:rPr>
                <a:t>03 </a:t>
              </a:r>
              <a:r>
                <a:rPr b="0" lang="it" sz="800">
                  <a:solidFill>
                    <a:srgbClr val="3B82F6"/>
                  </a:solidFill>
                  <a:latin typeface="Inter SemiBold"/>
                  <a:ea typeface="Inter SemiBold"/>
                  <a:cs typeface="Inter SemiBold"/>
                  <a:sym typeface="Inter SemiBold"/>
                </a:rPr>
                <a:t>RHEOLOGICAL CONSTITUTIVE EQUATION</a:t>
              </a:r>
              <a:endParaRPr b="1" sz="1400">
                <a:solidFill>
                  <a:srgbClr val="3B82F6"/>
                </a:solidFill>
                <a:latin typeface="Inter"/>
                <a:ea typeface="Inter"/>
                <a:cs typeface="Inter"/>
                <a:sym typeface="Inter"/>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Giesekus Model Formulation</a:t>
              </a:r>
              <a:endParaRPr b="0" sz="1200">
                <a:solidFill>
                  <a:srgbClr val="F8F9FA"/>
                </a:solidFill>
                <a:latin typeface="Inter SemiBold"/>
                <a:ea typeface="Inter SemiBold"/>
                <a:cs typeface="Inter SemiBold"/>
                <a:sym typeface="Inter SemiBold"/>
              </a:endParaRPr>
            </a:p>
          </p:txBody>
        </p:sp>
        <p:pic>
          <p:nvPicPr>
            <p:cNvPr id="701" name="Google Shape;701;p43"/>
            <p:cNvPicPr preferRelativeResize="0"/>
            <p:nvPr/>
          </p:nvPicPr>
          <p:blipFill rotWithShape="1">
            <a:blip r:embed="rId6">
              <a:alphaModFix/>
            </a:blip>
            <a:srcRect b="60" l="0" r="0" t="50"/>
            <a:stretch/>
          </p:blipFill>
          <p:spPr>
            <a:xfrm>
              <a:off x="238125" y="809625"/>
              <a:ext cx="3571800" cy="664800"/>
            </a:xfrm>
            <a:prstGeom prst="rect">
              <a:avLst/>
            </a:prstGeom>
            <a:noFill/>
            <a:ln>
              <a:noFill/>
            </a:ln>
          </p:spPr>
        </p:pic>
      </p:grpSp>
      <p:grpSp>
        <p:nvGrpSpPr>
          <p:cNvPr id="702" name="Google Shape;702;p43"/>
          <p:cNvGrpSpPr/>
          <p:nvPr/>
        </p:nvGrpSpPr>
        <p:grpSpPr>
          <a:xfrm>
            <a:off x="4714875" y="2952750"/>
            <a:ext cx="4048200" cy="1905000"/>
            <a:chOff x="0" y="0"/>
            <a:chExt cx="4048200" cy="1905000"/>
          </a:xfrm>
        </p:grpSpPr>
        <p:sp>
          <p:nvSpPr>
            <p:cNvPr id="703" name="Google Shape;703;p43"/>
            <p:cNvSpPr/>
            <p:nvPr/>
          </p:nvSpPr>
          <p:spPr>
            <a:xfrm>
              <a:off x="0" y="0"/>
              <a:ext cx="4048200" cy="1905000"/>
            </a:xfrm>
            <a:prstGeom prst="roundRect">
              <a:avLst>
                <a:gd fmla="val 4000"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43"/>
            <p:cNvSpPr/>
            <p:nvPr/>
          </p:nvSpPr>
          <p:spPr>
            <a:xfrm>
              <a:off x="0" y="0"/>
              <a:ext cx="40482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43"/>
            <p:cNvSpPr txBox="1"/>
            <p:nvPr/>
          </p:nvSpPr>
          <p:spPr>
            <a:xfrm>
              <a:off x="190500" y="142875"/>
              <a:ext cx="36672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400">
                  <a:solidFill>
                    <a:srgbClr val="10B981"/>
                  </a:solidFill>
                  <a:latin typeface="Inter"/>
                  <a:ea typeface="Inter"/>
                  <a:cs typeface="Inter"/>
                  <a:sym typeface="Inter"/>
                </a:rPr>
                <a:t>04 </a:t>
              </a:r>
              <a:r>
                <a:rPr b="0" lang="it" sz="800">
                  <a:solidFill>
                    <a:srgbClr val="10B981"/>
                  </a:solidFill>
                  <a:latin typeface="Inter SemiBold"/>
                  <a:ea typeface="Inter SemiBold"/>
                  <a:cs typeface="Inter SemiBold"/>
                  <a:sym typeface="Inter SemiBold"/>
                </a:rPr>
                <a:t>BOUNDARY CONDITIONS</a:t>
              </a:r>
              <a:endParaRPr b="1" sz="1400">
                <a:solidFill>
                  <a:srgbClr val="10B981"/>
                </a:solidFill>
                <a:latin typeface="Inter"/>
                <a:ea typeface="Inter"/>
                <a:cs typeface="Inter"/>
                <a:sym typeface="Inter"/>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Wall, Roll No-Slip &amp; Pressure Reference</a:t>
              </a:r>
              <a:endParaRPr b="1" sz="1200">
                <a:solidFill>
                  <a:srgbClr val="10B981"/>
                </a:solidFill>
                <a:latin typeface="Inter"/>
                <a:ea typeface="Inter"/>
                <a:cs typeface="Inter"/>
                <a:sym typeface="Inter"/>
              </a:endParaRPr>
            </a:p>
          </p:txBody>
        </p:sp>
      </p:grpSp>
      <p:sp>
        <p:nvSpPr>
          <p:cNvPr id="706" name="Google Shape;706;p43"/>
          <p:cNvSpPr txBox="1"/>
          <p:nvPr/>
        </p:nvSpPr>
        <p:spPr>
          <a:xfrm>
            <a:off x="4905375" y="3667125"/>
            <a:ext cx="36672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1050">
                <a:solidFill>
                  <a:srgbClr val="10B981"/>
                </a:solidFill>
                <a:latin typeface="Inter SemiBold"/>
                <a:ea typeface="Inter SemiBold"/>
                <a:cs typeface="Inter SemiBold"/>
                <a:sym typeface="Inter SemiBold"/>
              </a:rPr>
              <a:t>• Outer Walls (No-Slip):</a:t>
            </a:r>
            <a:r>
              <a:rPr b="0" lang="it" sz="1050">
                <a:solidFill>
                  <a:srgbClr val="CBD5E1"/>
                </a:solidFill>
                <a:latin typeface="Inter"/>
                <a:ea typeface="Inter"/>
                <a:cs typeface="Inter"/>
                <a:sym typeface="Inter"/>
              </a:rPr>
              <a:t>                </a:t>
            </a:r>
            <a:endParaRPr b="0" sz="1050">
              <a:solidFill>
                <a:srgbClr val="CBD5E1"/>
              </a:solidFill>
              <a:latin typeface="Inter"/>
              <a:ea typeface="Inter"/>
              <a:cs typeface="Inter"/>
              <a:sym typeface="Inter"/>
            </a:endParaRPr>
          </a:p>
          <a:p>
            <a:pPr indent="0" lvl="0" marL="0" rtl="0" algn="l">
              <a:spcBef>
                <a:spcPts val="0"/>
              </a:spcBef>
              <a:spcAft>
                <a:spcPts val="0"/>
              </a:spcAft>
              <a:buNone/>
            </a:pPr>
            <a:r>
              <a:rPr b="0" lang="it" sz="1050">
                <a:solidFill>
                  <a:srgbClr val="10B981"/>
                </a:solidFill>
                <a:latin typeface="Inter SemiBold"/>
                <a:ea typeface="Inter SemiBold"/>
                <a:cs typeface="Inter SemiBold"/>
                <a:sym typeface="Inter SemiBold"/>
              </a:rPr>
              <a:t>• Rotating Rolls(No-Slip</a:t>
            </a:r>
            <a:r>
              <a:rPr lang="it" sz="1050">
                <a:solidFill>
                  <a:srgbClr val="10B981"/>
                </a:solidFill>
                <a:latin typeface="Inter SemiBold"/>
                <a:ea typeface="Inter SemiBold"/>
                <a:cs typeface="Inter SemiBold"/>
                <a:sym typeface="Inter SemiBold"/>
              </a:rPr>
              <a:t>)</a:t>
            </a:r>
            <a:r>
              <a:rPr b="0" lang="it" sz="1050">
                <a:solidFill>
                  <a:srgbClr val="10B981"/>
                </a:solidFill>
                <a:latin typeface="Inter SemiBold"/>
                <a:ea typeface="Inter SemiBold"/>
                <a:cs typeface="Inter SemiBold"/>
                <a:sym typeface="Inter SemiBold"/>
              </a:rPr>
              <a:t>:</a:t>
            </a:r>
            <a:r>
              <a:rPr b="0" lang="it" sz="1050">
                <a:solidFill>
                  <a:srgbClr val="CBD5E1"/>
                </a:solidFill>
                <a:latin typeface="Inter"/>
                <a:ea typeface="Inter"/>
                <a:cs typeface="Inter"/>
                <a:sym typeface="Inter"/>
              </a:rPr>
              <a:t> </a:t>
            </a:r>
            <a:r>
              <a:rPr b="0" lang="it" sz="1050">
                <a:solidFill>
                  <a:srgbClr val="F8F9FA"/>
                </a:solidFill>
                <a:latin typeface="Inter Medium"/>
                <a:ea typeface="Inter Medium"/>
                <a:cs typeface="Inter Medium"/>
                <a:sym typeface="Inter Medium"/>
              </a:rPr>
              <a:t>                   </a:t>
            </a:r>
            <a:r>
              <a:rPr b="0" lang="it" sz="1050">
                <a:solidFill>
                  <a:srgbClr val="F8F9FA"/>
                </a:solidFill>
                <a:latin typeface="Inter Medium"/>
                <a:ea typeface="Inter Medium"/>
                <a:cs typeface="Inter Medium"/>
                <a:sym typeface="Inter Medium"/>
              </a:rPr>
              <a:t>       </a:t>
            </a:r>
            <a:r>
              <a:rPr b="0" lang="it" sz="1100">
                <a:solidFill>
                  <a:srgbClr val="F8F9FA"/>
                </a:solidFill>
                <a:latin typeface="Inter Medium"/>
                <a:ea typeface="Inter Medium"/>
                <a:cs typeface="Inter Medium"/>
                <a:sym typeface="Inter Medium"/>
              </a:rPr>
              <a:t>  </a:t>
            </a:r>
            <a:r>
              <a:rPr b="0" lang="it" sz="1050">
                <a:solidFill>
                  <a:srgbClr val="F8F9FA"/>
                </a:solidFill>
                <a:latin typeface="Inter Medium"/>
                <a:ea typeface="Inter Medium"/>
                <a:cs typeface="Inter Medium"/>
                <a:sym typeface="Inter Medium"/>
              </a:rPr>
              <a:t>         </a:t>
            </a:r>
            <a:endParaRPr b="0" sz="1100">
              <a:solidFill>
                <a:srgbClr val="F8FAFC"/>
              </a:solidFill>
              <a:latin typeface="Inter"/>
              <a:ea typeface="Inter"/>
              <a:cs typeface="Inter"/>
              <a:sym typeface="Inter"/>
            </a:endParaRPr>
          </a:p>
          <a:p>
            <a:pPr indent="0" lvl="0" marL="0" rtl="0" algn="l">
              <a:spcBef>
                <a:spcPts val="0"/>
              </a:spcBef>
              <a:spcAft>
                <a:spcPts val="0"/>
              </a:spcAft>
              <a:buNone/>
            </a:pPr>
            <a:r>
              <a:rPr b="0" lang="it" sz="1050">
                <a:solidFill>
                  <a:srgbClr val="10B981"/>
                </a:solidFill>
                <a:latin typeface="Inter SemiBold"/>
                <a:ea typeface="Inter SemiBold"/>
                <a:cs typeface="Inter SemiBold"/>
                <a:sym typeface="Inter SemiBold"/>
              </a:rPr>
              <a:t>•</a:t>
            </a:r>
            <a:r>
              <a:rPr b="0" lang="it" sz="1050">
                <a:solidFill>
                  <a:srgbClr val="10B981"/>
                </a:solidFill>
                <a:latin typeface="Inter SemiBold"/>
                <a:ea typeface="Inter SemiBold"/>
                <a:cs typeface="Inter SemiBold"/>
                <a:sym typeface="Inter SemiBold"/>
              </a:rPr>
              <a:t> Pressure Point:</a:t>
            </a:r>
            <a:r>
              <a:rPr b="0" lang="it" sz="1050">
                <a:solidFill>
                  <a:srgbClr val="CBD5E1"/>
                </a:solidFill>
                <a:latin typeface="Inter"/>
                <a:ea typeface="Inter"/>
                <a:cs typeface="Inter"/>
                <a:sym typeface="Inter"/>
              </a:rPr>
              <a:t> </a:t>
            </a:r>
            <a:r>
              <a:rPr b="0" lang="it" sz="1050">
                <a:solidFill>
                  <a:srgbClr val="F8F9FA"/>
                </a:solidFill>
                <a:latin typeface="Inter Medium"/>
                <a:ea typeface="Inter Medium"/>
                <a:cs typeface="Inter Medium"/>
                <a:sym typeface="Inter Medium"/>
              </a:rPr>
              <a:t>           </a:t>
            </a:r>
            <a:r>
              <a:rPr lang="it" sz="1050">
                <a:solidFill>
                  <a:srgbClr val="F8F9FA"/>
                </a:solidFill>
                <a:latin typeface="Inter Medium"/>
                <a:ea typeface="Inter Medium"/>
                <a:cs typeface="Inter Medium"/>
                <a:sym typeface="Inter Medium"/>
              </a:rPr>
              <a:t>       </a:t>
            </a:r>
            <a:endParaRPr b="0" sz="1050">
              <a:solidFill>
                <a:srgbClr val="CBD5E1"/>
              </a:solidFill>
              <a:latin typeface="Inter"/>
              <a:ea typeface="Inter"/>
              <a:cs typeface="Inter"/>
              <a:sym typeface="Inter"/>
            </a:endParaRPr>
          </a:p>
        </p:txBody>
      </p:sp>
      <p:pic>
        <p:nvPicPr>
          <p:cNvPr id="707" name="Google Shape;707;p43" title="{&quot;red&quot;:248,&quot;green&quot;:249,&quot;blue&quot;:250,&quot;origURL&quot;:&quot;https://saxarona.github.io/mathjax-viewer/?input=u%3D0#2&quot;,&quot;size&quot;:10.5,&quot;width&quot;:288.755905511811,&quot;height&quot;:82.51181102362204,&quot;slideId&quot;:&quot;h4a5b233786fdcce1_0_26&quot;,&quot;pageElementId&quot;:&quot;h55b05db522735db6_3_778&quot;,&quot;spaceCount&quot;:10,&quot;spaceStart&quot;:25}"/>
          <p:cNvPicPr preferRelativeResize="0"/>
          <p:nvPr/>
        </p:nvPicPr>
        <p:blipFill>
          <a:blip r:embed="rId7">
            <a:alphaModFix/>
          </a:blip>
          <a:stretch>
            <a:fillRect/>
          </a:stretch>
        </p:blipFill>
        <p:spPr>
          <a:xfrm>
            <a:off x="6498836" y="3988653"/>
            <a:ext cx="360045" cy="96012"/>
          </a:xfrm>
          <a:prstGeom prst="rect">
            <a:avLst/>
          </a:prstGeom>
          <a:noFill/>
          <a:ln>
            <a:noFill/>
          </a:ln>
        </p:spPr>
      </p:pic>
      <p:pic>
        <p:nvPicPr>
          <p:cNvPr id="708" name="Google Shape;708;p43" title="{&quot;red&quot;:248,&quot;green&quot;:249,&quot;blue&quot;:250,&quot;origURL&quot;:&quot;https://saxarona.github.io/mathjax-viewer/?input=p%3Dp_0#2&quot;,&quot;size&quot;:10.5,&quot;width&quot;:288.755905511811,&quot;height&quot;:82.51181102362204,&quot;slideId&quot;:&quot;h4a5b233786fdcce1_0_26&quot;,&quot;pageElementId&quot;:&quot;h55b05db522735db6_3_778&quot;,&quot;spaceCount&quot;:11,&quot;spaceStart&quot;:105}"/>
          <p:cNvPicPr preferRelativeResize="0"/>
          <p:nvPr/>
        </p:nvPicPr>
        <p:blipFill>
          <a:blip r:embed="rId8">
            <a:alphaModFix/>
          </a:blip>
          <a:stretch>
            <a:fillRect/>
          </a:stretch>
        </p:blipFill>
        <p:spPr>
          <a:xfrm>
            <a:off x="6039100" y="4334793"/>
            <a:ext cx="408051" cy="96012"/>
          </a:xfrm>
          <a:prstGeom prst="rect">
            <a:avLst/>
          </a:prstGeom>
          <a:noFill/>
          <a:ln>
            <a:noFill/>
          </a:ln>
        </p:spPr>
      </p:pic>
      <p:pic>
        <p:nvPicPr>
          <p:cNvPr id="709" name="Google Shape;709;p43" title="{&quot;red&quot;:255,&quot;green&quot;:255,&quot;blue&quot;:255,&quot;origURL&quot;:&quot;https://saxarona.github.io/mathjax-viewer/?input=u%3D%5Cpm%5Comega%5Ccdot%20r#2&quot;,&quot;size&quot;:11,&quot;width&quot;:129.61417322834646,&quot;height&quot;:28.11023622047244,&quot;slideId&quot;:&quot;h4a5b233786fdcce1_0_26&quot;,&quot;pageElementId&quot;:&quot;h55b05db522735db6_3_984&quot;,&quot;spaceCount&quot;:18,&quot;spaceStart&quot;:0}"/>
          <p:cNvPicPr preferRelativeResize="0"/>
          <p:nvPr/>
        </p:nvPicPr>
        <p:blipFill>
          <a:blip r:embed="rId9">
            <a:alphaModFix/>
          </a:blip>
          <a:stretch>
            <a:fillRect/>
          </a:stretch>
        </p:blipFill>
        <p:spPr>
          <a:xfrm>
            <a:off x="6542300" y="4137063"/>
            <a:ext cx="696087" cy="10801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3" name="Shape 713"/>
        <p:cNvGrpSpPr/>
        <p:nvPr/>
      </p:nvGrpSpPr>
      <p:grpSpPr>
        <a:xfrm>
          <a:off x="0" y="0"/>
          <a:ext cx="0" cy="0"/>
          <a:chOff x="0" y="0"/>
          <a:chExt cx="0" cy="0"/>
        </a:xfrm>
      </p:grpSpPr>
      <p:cxnSp>
        <p:nvCxnSpPr>
          <p:cNvPr id="714" name="Google Shape;714;p44"/>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715" name="Google Shape;715;p44"/>
          <p:cNvSpPr txBox="1"/>
          <p:nvPr>
            <p:ph type="title"/>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it" sz="3200">
                <a:solidFill>
                  <a:srgbClr val="F8F9FA"/>
                </a:solidFill>
                <a:latin typeface="Inter SemiBold"/>
                <a:ea typeface="Inter SemiBold"/>
                <a:cs typeface="Inter SemiBold"/>
                <a:sym typeface="Inter SemiBold"/>
              </a:rPr>
              <a:t>CFD Meshes &amp; Boundary Detail</a:t>
            </a:r>
            <a:endParaRPr b="0" sz="3200">
              <a:solidFill>
                <a:srgbClr val="F8F9FA"/>
              </a:solidFill>
              <a:latin typeface="Inter SemiBold"/>
              <a:ea typeface="Inter SemiBold"/>
              <a:cs typeface="Inter SemiBold"/>
              <a:sym typeface="Inter SemiBold"/>
            </a:endParaRPr>
          </a:p>
        </p:txBody>
      </p:sp>
      <p:grpSp>
        <p:nvGrpSpPr>
          <p:cNvPr id="716" name="Google Shape;716;p44"/>
          <p:cNvGrpSpPr/>
          <p:nvPr/>
        </p:nvGrpSpPr>
        <p:grpSpPr>
          <a:xfrm>
            <a:off x="381000" y="1000125"/>
            <a:ext cx="2667000" cy="3857700"/>
            <a:chOff x="0" y="0"/>
            <a:chExt cx="2667000" cy="3857700"/>
          </a:xfrm>
        </p:grpSpPr>
        <p:sp>
          <p:nvSpPr>
            <p:cNvPr id="717" name="Google Shape;717;p44"/>
            <p:cNvSpPr/>
            <p:nvPr/>
          </p:nvSpPr>
          <p:spPr>
            <a:xfrm>
              <a:off x="0" y="0"/>
              <a:ext cx="2667000" cy="38577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44"/>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44"/>
            <p:cNvSpPr txBox="1"/>
            <p:nvPr/>
          </p:nvSpPr>
          <p:spPr>
            <a:xfrm>
              <a:off x="142875" y="76200"/>
              <a:ext cx="23814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1018">
                  <a:solidFill>
                    <a:srgbClr val="3B82F6"/>
                  </a:solidFill>
                  <a:latin typeface="Inter"/>
                  <a:ea typeface="Inter"/>
                  <a:cs typeface="Inter"/>
                  <a:sym typeface="Inter"/>
                </a:rPr>
                <a:t>125k</a:t>
              </a:r>
              <a:endParaRPr b="1" i="0" sz="1018">
                <a:solidFill>
                  <a:srgbClr val="3B82F6"/>
                </a:solidFill>
                <a:latin typeface="Inter"/>
                <a:ea typeface="Inter"/>
                <a:cs typeface="Inter"/>
                <a:sym typeface="Inter"/>
              </a:endParaRPr>
            </a:p>
            <a:p>
              <a:pPr indent="0" lvl="0" marL="0" rtl="0" algn="l">
                <a:spcBef>
                  <a:spcPts val="150"/>
                </a:spcBef>
                <a:spcAft>
                  <a:spcPts val="0"/>
                </a:spcAft>
                <a:buNone/>
              </a:pPr>
              <a:r>
                <a:t/>
              </a:r>
              <a:endParaRPr b="0" i="0" sz="833">
                <a:solidFill>
                  <a:srgbClr val="E2E8F0"/>
                </a:solidFill>
                <a:latin typeface="Inter Medium"/>
                <a:ea typeface="Inter Medium"/>
                <a:cs typeface="Inter Medium"/>
                <a:sym typeface="Inter Medium"/>
              </a:endParaRPr>
            </a:p>
          </p:txBody>
        </p:sp>
      </p:grpSp>
      <p:grpSp>
        <p:nvGrpSpPr>
          <p:cNvPr id="720" name="Google Shape;720;p44"/>
          <p:cNvGrpSpPr/>
          <p:nvPr/>
        </p:nvGrpSpPr>
        <p:grpSpPr>
          <a:xfrm>
            <a:off x="3238500" y="1000125"/>
            <a:ext cx="2667000" cy="3857700"/>
            <a:chOff x="0" y="0"/>
            <a:chExt cx="2667000" cy="3857700"/>
          </a:xfrm>
        </p:grpSpPr>
        <p:sp>
          <p:nvSpPr>
            <p:cNvPr id="721" name="Google Shape;721;p44"/>
            <p:cNvSpPr/>
            <p:nvPr/>
          </p:nvSpPr>
          <p:spPr>
            <a:xfrm>
              <a:off x="0" y="0"/>
              <a:ext cx="2667000" cy="38577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44"/>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44"/>
            <p:cNvSpPr txBox="1"/>
            <p:nvPr/>
          </p:nvSpPr>
          <p:spPr>
            <a:xfrm>
              <a:off x="142875" y="76200"/>
              <a:ext cx="23814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1018">
                  <a:solidFill>
                    <a:srgbClr val="3B82F6"/>
                  </a:solidFill>
                  <a:latin typeface="Inter"/>
                  <a:ea typeface="Inter"/>
                  <a:cs typeface="Inter"/>
                  <a:sym typeface="Inter"/>
                </a:rPr>
                <a:t>52k</a:t>
              </a:r>
              <a:endParaRPr b="1" i="0" sz="1018">
                <a:solidFill>
                  <a:srgbClr val="3B82F6"/>
                </a:solidFill>
                <a:latin typeface="Inter"/>
                <a:ea typeface="Inter"/>
                <a:cs typeface="Inter"/>
                <a:sym typeface="Inter"/>
              </a:endParaRPr>
            </a:p>
            <a:p>
              <a:pPr indent="0" lvl="0" marL="0" rtl="0" algn="ctr">
                <a:spcBef>
                  <a:spcPts val="150"/>
                </a:spcBef>
                <a:spcAft>
                  <a:spcPts val="0"/>
                </a:spcAft>
                <a:buNone/>
              </a:pPr>
              <a:r>
                <a:t/>
              </a:r>
              <a:endParaRPr b="0" i="0" sz="833">
                <a:solidFill>
                  <a:srgbClr val="E2E8F0"/>
                </a:solidFill>
                <a:latin typeface="Inter Medium"/>
                <a:ea typeface="Inter Medium"/>
                <a:cs typeface="Inter Medium"/>
                <a:sym typeface="Inter Medium"/>
              </a:endParaRPr>
            </a:p>
          </p:txBody>
        </p:sp>
      </p:grpSp>
      <p:grpSp>
        <p:nvGrpSpPr>
          <p:cNvPr id="724" name="Google Shape;724;p44"/>
          <p:cNvGrpSpPr/>
          <p:nvPr/>
        </p:nvGrpSpPr>
        <p:grpSpPr>
          <a:xfrm>
            <a:off x="6096000" y="1000125"/>
            <a:ext cx="2667000" cy="3857700"/>
            <a:chOff x="0" y="0"/>
            <a:chExt cx="2667000" cy="3857700"/>
          </a:xfrm>
        </p:grpSpPr>
        <p:sp>
          <p:nvSpPr>
            <p:cNvPr id="725" name="Google Shape;725;p44"/>
            <p:cNvSpPr/>
            <p:nvPr/>
          </p:nvSpPr>
          <p:spPr>
            <a:xfrm>
              <a:off x="0" y="0"/>
              <a:ext cx="2667000" cy="38577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44"/>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44"/>
            <p:cNvSpPr txBox="1"/>
            <p:nvPr/>
          </p:nvSpPr>
          <p:spPr>
            <a:xfrm>
              <a:off x="142875" y="76200"/>
              <a:ext cx="23814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1018">
                  <a:solidFill>
                    <a:srgbClr val="3B82F6"/>
                  </a:solidFill>
                  <a:latin typeface="Inter"/>
                  <a:ea typeface="Inter"/>
                  <a:cs typeface="Inter"/>
                  <a:sym typeface="Inter"/>
                </a:rPr>
                <a:t>5k</a:t>
              </a:r>
              <a:endParaRPr b="1" i="0" sz="1018">
                <a:solidFill>
                  <a:srgbClr val="3B82F6"/>
                </a:solidFill>
                <a:latin typeface="Inter"/>
                <a:ea typeface="Inter"/>
                <a:cs typeface="Inter"/>
                <a:sym typeface="Inter"/>
              </a:endParaRPr>
            </a:p>
            <a:p>
              <a:pPr indent="0" lvl="0" marL="0" rtl="0" algn="ctr">
                <a:spcBef>
                  <a:spcPts val="150"/>
                </a:spcBef>
                <a:spcAft>
                  <a:spcPts val="0"/>
                </a:spcAft>
                <a:buNone/>
              </a:pPr>
              <a:r>
                <a:t/>
              </a:r>
              <a:endParaRPr b="0" i="0" sz="833">
                <a:solidFill>
                  <a:srgbClr val="E2E8F0"/>
                </a:solidFill>
                <a:latin typeface="Inter Medium"/>
                <a:ea typeface="Inter Medium"/>
                <a:cs typeface="Inter Medium"/>
                <a:sym typeface="Inter Medium"/>
              </a:endParaRPr>
            </a:p>
          </p:txBody>
        </p:sp>
      </p:grpSp>
      <p:pic>
        <p:nvPicPr>
          <p:cNvPr id="728" name="Google Shape;728;p44"/>
          <p:cNvPicPr preferRelativeResize="0"/>
          <p:nvPr/>
        </p:nvPicPr>
        <p:blipFill rotWithShape="1">
          <a:blip r:embed="rId4">
            <a:alphaModFix/>
          </a:blip>
          <a:srcRect b="12474" l="0" r="0" t="12474"/>
          <a:stretch/>
        </p:blipFill>
        <p:spPr>
          <a:xfrm>
            <a:off x="523875" y="1381125"/>
            <a:ext cx="2381400" cy="1428900"/>
          </a:xfrm>
          <a:prstGeom prst="rect">
            <a:avLst/>
          </a:prstGeom>
          <a:noFill/>
          <a:ln>
            <a:noFill/>
          </a:ln>
        </p:spPr>
      </p:pic>
      <p:pic>
        <p:nvPicPr>
          <p:cNvPr id="729" name="Google Shape;729;p44"/>
          <p:cNvPicPr preferRelativeResize="0"/>
          <p:nvPr/>
        </p:nvPicPr>
        <p:blipFill rotWithShape="1">
          <a:blip r:embed="rId5">
            <a:alphaModFix/>
          </a:blip>
          <a:srcRect b="12474" l="0" r="0" t="12474"/>
          <a:stretch/>
        </p:blipFill>
        <p:spPr>
          <a:xfrm>
            <a:off x="3381375" y="1381125"/>
            <a:ext cx="2381400" cy="1428900"/>
          </a:xfrm>
          <a:prstGeom prst="rect">
            <a:avLst/>
          </a:prstGeom>
          <a:noFill/>
          <a:ln>
            <a:noFill/>
          </a:ln>
        </p:spPr>
      </p:pic>
      <p:pic>
        <p:nvPicPr>
          <p:cNvPr id="730" name="Google Shape;730;p44"/>
          <p:cNvPicPr preferRelativeResize="0"/>
          <p:nvPr/>
        </p:nvPicPr>
        <p:blipFill rotWithShape="1">
          <a:blip r:embed="rId6">
            <a:alphaModFix/>
          </a:blip>
          <a:srcRect b="12474" l="0" r="0" t="12474"/>
          <a:stretch/>
        </p:blipFill>
        <p:spPr>
          <a:xfrm>
            <a:off x="6238875" y="1381125"/>
            <a:ext cx="2381400" cy="1428900"/>
          </a:xfrm>
          <a:prstGeom prst="rect">
            <a:avLst/>
          </a:prstGeom>
          <a:noFill/>
          <a:ln>
            <a:noFill/>
          </a:ln>
        </p:spPr>
      </p:pic>
      <p:grpSp>
        <p:nvGrpSpPr>
          <p:cNvPr id="731" name="Google Shape;731;p44"/>
          <p:cNvGrpSpPr/>
          <p:nvPr/>
        </p:nvGrpSpPr>
        <p:grpSpPr>
          <a:xfrm>
            <a:off x="523875" y="2857500"/>
            <a:ext cx="2381400" cy="247800"/>
            <a:chOff x="0" y="0"/>
            <a:chExt cx="2381400" cy="247800"/>
          </a:xfrm>
        </p:grpSpPr>
        <p:sp>
          <p:nvSpPr>
            <p:cNvPr id="732" name="Google Shape;732;p44"/>
            <p:cNvSpPr/>
            <p:nvPr/>
          </p:nvSpPr>
          <p:spPr>
            <a:xfrm>
              <a:off x="0" y="0"/>
              <a:ext cx="2381400" cy="247800"/>
            </a:xfrm>
            <a:prstGeom prst="roundRect">
              <a:avLst>
                <a:gd fmla="val 50000" name="adj"/>
              </a:avLst>
            </a:prstGeom>
            <a:solidFill>
              <a:srgbClr val="1E26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44"/>
            <p:cNvSpPr txBox="1"/>
            <p:nvPr/>
          </p:nvSpPr>
          <p:spPr>
            <a:xfrm>
              <a:off x="0" y="0"/>
              <a:ext cx="2381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900">
                  <a:solidFill>
                    <a:srgbClr val="60A5FA"/>
                  </a:solidFill>
                  <a:latin typeface="Inter SemiBold"/>
                  <a:ea typeface="Inter SemiBold"/>
                  <a:cs typeface="Inter SemiBold"/>
                  <a:sym typeface="Inter SemiBold"/>
                </a:rPr>
                <a:t>▼ DETAIL</a:t>
              </a:r>
              <a:endParaRPr b="0" sz="900">
                <a:solidFill>
                  <a:srgbClr val="60A5FA"/>
                </a:solidFill>
                <a:latin typeface="Inter SemiBold"/>
                <a:ea typeface="Inter SemiBold"/>
                <a:cs typeface="Inter SemiBold"/>
                <a:sym typeface="Inter SemiBold"/>
              </a:endParaRPr>
            </a:p>
          </p:txBody>
        </p:sp>
      </p:grpSp>
      <p:grpSp>
        <p:nvGrpSpPr>
          <p:cNvPr id="734" name="Google Shape;734;p44"/>
          <p:cNvGrpSpPr/>
          <p:nvPr/>
        </p:nvGrpSpPr>
        <p:grpSpPr>
          <a:xfrm>
            <a:off x="3381375" y="2857500"/>
            <a:ext cx="2381400" cy="247800"/>
            <a:chOff x="0" y="0"/>
            <a:chExt cx="2381400" cy="247800"/>
          </a:xfrm>
        </p:grpSpPr>
        <p:sp>
          <p:nvSpPr>
            <p:cNvPr id="735" name="Google Shape;735;p44"/>
            <p:cNvSpPr/>
            <p:nvPr/>
          </p:nvSpPr>
          <p:spPr>
            <a:xfrm>
              <a:off x="0" y="0"/>
              <a:ext cx="2381400" cy="247800"/>
            </a:xfrm>
            <a:prstGeom prst="roundRect">
              <a:avLst>
                <a:gd fmla="val 50000" name="adj"/>
              </a:avLst>
            </a:prstGeom>
            <a:solidFill>
              <a:srgbClr val="1E26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6" name="Google Shape;736;p44"/>
            <p:cNvSpPr txBox="1"/>
            <p:nvPr/>
          </p:nvSpPr>
          <p:spPr>
            <a:xfrm>
              <a:off x="0" y="0"/>
              <a:ext cx="2381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900">
                  <a:solidFill>
                    <a:srgbClr val="60A5FA"/>
                  </a:solidFill>
                  <a:latin typeface="Inter SemiBold"/>
                  <a:ea typeface="Inter SemiBold"/>
                  <a:cs typeface="Inter SemiBold"/>
                  <a:sym typeface="Inter SemiBold"/>
                </a:rPr>
                <a:t>▼ DETAIL</a:t>
              </a:r>
              <a:endParaRPr b="0" sz="900">
                <a:solidFill>
                  <a:srgbClr val="60A5FA"/>
                </a:solidFill>
                <a:latin typeface="Inter SemiBold"/>
                <a:ea typeface="Inter SemiBold"/>
                <a:cs typeface="Inter SemiBold"/>
                <a:sym typeface="Inter SemiBold"/>
              </a:endParaRPr>
            </a:p>
          </p:txBody>
        </p:sp>
      </p:grpSp>
      <p:grpSp>
        <p:nvGrpSpPr>
          <p:cNvPr id="737" name="Google Shape;737;p44"/>
          <p:cNvGrpSpPr/>
          <p:nvPr/>
        </p:nvGrpSpPr>
        <p:grpSpPr>
          <a:xfrm>
            <a:off x="6238875" y="2857500"/>
            <a:ext cx="2381400" cy="247800"/>
            <a:chOff x="0" y="0"/>
            <a:chExt cx="2381400" cy="247800"/>
          </a:xfrm>
        </p:grpSpPr>
        <p:sp>
          <p:nvSpPr>
            <p:cNvPr id="738" name="Google Shape;738;p44"/>
            <p:cNvSpPr/>
            <p:nvPr/>
          </p:nvSpPr>
          <p:spPr>
            <a:xfrm>
              <a:off x="0" y="0"/>
              <a:ext cx="2381400" cy="247800"/>
            </a:xfrm>
            <a:prstGeom prst="roundRect">
              <a:avLst>
                <a:gd fmla="val 50000" name="adj"/>
              </a:avLst>
            </a:prstGeom>
            <a:solidFill>
              <a:srgbClr val="1E26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44"/>
            <p:cNvSpPr txBox="1"/>
            <p:nvPr/>
          </p:nvSpPr>
          <p:spPr>
            <a:xfrm>
              <a:off x="0" y="0"/>
              <a:ext cx="2381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900">
                  <a:solidFill>
                    <a:srgbClr val="60A5FA"/>
                  </a:solidFill>
                  <a:latin typeface="Inter SemiBold"/>
                  <a:ea typeface="Inter SemiBold"/>
                  <a:cs typeface="Inter SemiBold"/>
                  <a:sym typeface="Inter SemiBold"/>
                </a:rPr>
                <a:t>▼ DETAIL</a:t>
              </a:r>
              <a:endParaRPr b="0" sz="900">
                <a:solidFill>
                  <a:srgbClr val="60A5FA"/>
                </a:solidFill>
                <a:latin typeface="Inter SemiBold"/>
                <a:ea typeface="Inter SemiBold"/>
                <a:cs typeface="Inter SemiBold"/>
                <a:sym typeface="Inter SemiBold"/>
              </a:endParaRPr>
            </a:p>
          </p:txBody>
        </p:sp>
      </p:grpSp>
      <p:pic>
        <p:nvPicPr>
          <p:cNvPr id="740" name="Google Shape;740;p44"/>
          <p:cNvPicPr preferRelativeResize="0"/>
          <p:nvPr/>
        </p:nvPicPr>
        <p:blipFill rotWithShape="1">
          <a:blip r:embed="rId7">
            <a:alphaModFix/>
          </a:blip>
          <a:srcRect b="17472" l="0" r="0" t="17479"/>
          <a:stretch/>
        </p:blipFill>
        <p:spPr>
          <a:xfrm>
            <a:off x="523875" y="3190875"/>
            <a:ext cx="2381400" cy="1238400"/>
          </a:xfrm>
          <a:prstGeom prst="rect">
            <a:avLst/>
          </a:prstGeom>
          <a:noFill/>
          <a:ln>
            <a:noFill/>
          </a:ln>
        </p:spPr>
      </p:pic>
      <p:pic>
        <p:nvPicPr>
          <p:cNvPr id="741" name="Google Shape;741;p44"/>
          <p:cNvPicPr preferRelativeResize="0"/>
          <p:nvPr/>
        </p:nvPicPr>
        <p:blipFill rotWithShape="1">
          <a:blip r:embed="rId8">
            <a:alphaModFix/>
          </a:blip>
          <a:srcRect b="17472" l="0" r="0" t="17479"/>
          <a:stretch/>
        </p:blipFill>
        <p:spPr>
          <a:xfrm>
            <a:off x="3381375" y="3190875"/>
            <a:ext cx="2381400" cy="1238400"/>
          </a:xfrm>
          <a:prstGeom prst="rect">
            <a:avLst/>
          </a:prstGeom>
          <a:noFill/>
          <a:ln>
            <a:noFill/>
          </a:ln>
        </p:spPr>
      </p:pic>
      <p:pic>
        <p:nvPicPr>
          <p:cNvPr id="742" name="Google Shape;742;p44"/>
          <p:cNvPicPr preferRelativeResize="0"/>
          <p:nvPr/>
        </p:nvPicPr>
        <p:blipFill rotWithShape="1">
          <a:blip r:embed="rId9">
            <a:alphaModFix/>
          </a:blip>
          <a:srcRect b="17472" l="0" r="0" t="17479"/>
          <a:stretch/>
        </p:blipFill>
        <p:spPr>
          <a:xfrm>
            <a:off x="6238875" y="3190875"/>
            <a:ext cx="2381400" cy="1238400"/>
          </a:xfrm>
          <a:prstGeom prst="rect">
            <a:avLst/>
          </a:prstGeom>
          <a:noFill/>
          <a:ln>
            <a:noFill/>
          </a:ln>
        </p:spPr>
      </p:pic>
      <p:sp>
        <p:nvSpPr>
          <p:cNvPr id="743" name="Google Shape;743;p44"/>
          <p:cNvSpPr txBox="1"/>
          <p:nvPr/>
        </p:nvSpPr>
        <p:spPr>
          <a:xfrm>
            <a:off x="523875" y="4495800"/>
            <a:ext cx="23814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it" sz="850">
                <a:solidFill>
                  <a:srgbClr val="94A3B8"/>
                </a:solidFill>
                <a:latin typeface="Inter"/>
                <a:ea typeface="Inter"/>
                <a:cs typeface="Inter"/>
                <a:sym typeface="Inter"/>
              </a:rPr>
              <a:t>High boundary layer refinement</a:t>
            </a:r>
            <a:endParaRPr sz="850">
              <a:solidFill>
                <a:srgbClr val="94A3B8"/>
              </a:solidFill>
              <a:latin typeface="Inter"/>
              <a:ea typeface="Inter"/>
              <a:cs typeface="Inter"/>
              <a:sym typeface="Inter"/>
            </a:endParaRPr>
          </a:p>
        </p:txBody>
      </p:sp>
      <p:sp>
        <p:nvSpPr>
          <p:cNvPr id="744" name="Google Shape;744;p44"/>
          <p:cNvSpPr txBox="1"/>
          <p:nvPr/>
        </p:nvSpPr>
        <p:spPr>
          <a:xfrm>
            <a:off x="3381375" y="4495800"/>
            <a:ext cx="23814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it" sz="850">
                <a:solidFill>
                  <a:srgbClr val="94A3B8"/>
                </a:solidFill>
                <a:latin typeface="Inter"/>
                <a:ea typeface="Inter"/>
                <a:cs typeface="Inter"/>
                <a:sym typeface="Inter"/>
              </a:rPr>
              <a:t>Balanced mesh density</a:t>
            </a:r>
            <a:endParaRPr sz="850">
              <a:solidFill>
                <a:srgbClr val="94A3B8"/>
              </a:solidFill>
              <a:latin typeface="Inter"/>
              <a:ea typeface="Inter"/>
              <a:cs typeface="Inter"/>
              <a:sym typeface="Inter"/>
            </a:endParaRPr>
          </a:p>
        </p:txBody>
      </p:sp>
      <p:sp>
        <p:nvSpPr>
          <p:cNvPr id="745" name="Google Shape;745;p44"/>
          <p:cNvSpPr txBox="1"/>
          <p:nvPr/>
        </p:nvSpPr>
        <p:spPr>
          <a:xfrm>
            <a:off x="6238875" y="4495800"/>
            <a:ext cx="23814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it" sz="850">
                <a:solidFill>
                  <a:srgbClr val="94A3B8"/>
                </a:solidFill>
                <a:latin typeface="Inter"/>
                <a:ea typeface="Inter"/>
                <a:cs typeface="Inter"/>
                <a:sym typeface="Inter"/>
              </a:rPr>
              <a:t>Coarse discretization</a:t>
            </a:r>
            <a:endParaRPr sz="850">
              <a:solidFill>
                <a:srgbClr val="94A3B8"/>
              </a:solidFill>
              <a:latin typeface="Inter"/>
              <a:ea typeface="Inter"/>
              <a:cs typeface="Inter"/>
              <a:sym typeface="Inter"/>
            </a:endParaRPr>
          </a:p>
        </p:txBody>
      </p:sp>
      <p:sp>
        <p:nvSpPr>
          <p:cNvPr id="746" name="Google Shape;74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0" name="Shape 750"/>
        <p:cNvGrpSpPr/>
        <p:nvPr/>
      </p:nvGrpSpPr>
      <p:grpSpPr>
        <a:xfrm>
          <a:off x="0" y="0"/>
          <a:ext cx="0" cy="0"/>
          <a:chOff x="0" y="0"/>
          <a:chExt cx="0" cy="0"/>
        </a:xfrm>
      </p:grpSpPr>
      <p:sp>
        <p:nvSpPr>
          <p:cNvPr id="751" name="Google Shape;751;p45"/>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3200">
                <a:solidFill>
                  <a:srgbClr val="F8F9FA"/>
                </a:solidFill>
                <a:latin typeface="Inter SemiBold"/>
                <a:ea typeface="Inter SemiBold"/>
                <a:cs typeface="Inter SemiBold"/>
                <a:sym typeface="Inter SemiBold"/>
              </a:rPr>
              <a:t>Relevant Cutlines</a:t>
            </a:r>
            <a:endParaRPr b="0" sz="3200">
              <a:solidFill>
                <a:srgbClr val="F8F9FA"/>
              </a:solidFill>
              <a:latin typeface="Inter SemiBold"/>
              <a:ea typeface="Inter SemiBold"/>
              <a:cs typeface="Inter SemiBold"/>
              <a:sym typeface="Inter SemiBold"/>
            </a:endParaRPr>
          </a:p>
        </p:txBody>
      </p:sp>
      <p:cxnSp>
        <p:nvCxnSpPr>
          <p:cNvPr id="752" name="Google Shape;752;p45"/>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753" name="Google Shape;753;p45"/>
          <p:cNvGrpSpPr/>
          <p:nvPr/>
        </p:nvGrpSpPr>
        <p:grpSpPr>
          <a:xfrm>
            <a:off x="381000" y="1000125"/>
            <a:ext cx="2667000" cy="3857700"/>
            <a:chOff x="0" y="0"/>
            <a:chExt cx="2667000" cy="3857700"/>
          </a:xfrm>
        </p:grpSpPr>
        <p:sp>
          <p:nvSpPr>
            <p:cNvPr id="754" name="Google Shape;754;p45"/>
            <p:cNvSpPr/>
            <p:nvPr/>
          </p:nvSpPr>
          <p:spPr>
            <a:xfrm>
              <a:off x="0" y="0"/>
              <a:ext cx="2667000" cy="38577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5" name="Google Shape;755;p45"/>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6" name="Google Shape;756;p45"/>
            <p:cNvSpPr txBox="1"/>
            <p:nvPr/>
          </p:nvSpPr>
          <p:spPr>
            <a:xfrm>
              <a:off x="142875" y="142875"/>
              <a:ext cx="2381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1100">
                  <a:solidFill>
                    <a:srgbClr val="3B82F6"/>
                  </a:solidFill>
                  <a:latin typeface="Inter"/>
                  <a:ea typeface="Inter"/>
                  <a:cs typeface="Inter"/>
                  <a:sym typeface="Inter"/>
                </a:rPr>
                <a:t>HORIZONTAL CUTLINE</a:t>
              </a:r>
              <a:endParaRPr b="1" sz="1100">
                <a:solidFill>
                  <a:srgbClr val="3B82F6"/>
                </a:solidFill>
                <a:latin typeface="Inter"/>
                <a:ea typeface="Inter"/>
                <a:cs typeface="Inter"/>
                <a:sym typeface="Inter"/>
              </a:endParaRPr>
            </a:p>
          </p:txBody>
        </p:sp>
        <p:sp>
          <p:nvSpPr>
            <p:cNvPr id="757" name="Google Shape;757;p45"/>
            <p:cNvSpPr txBox="1"/>
            <p:nvPr/>
          </p:nvSpPr>
          <p:spPr>
            <a:xfrm>
              <a:off x="142875" y="3286125"/>
              <a:ext cx="2381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950">
                  <a:solidFill>
                    <a:srgbClr val="94A3B8"/>
                  </a:solidFill>
                  <a:latin typeface="Inter"/>
                  <a:ea typeface="Inter"/>
                  <a:cs typeface="Inter"/>
                  <a:sym typeface="Inter"/>
                </a:rPr>
                <a:t>Horizontal cross-section passing through the domain center</a:t>
              </a:r>
              <a:endParaRPr b="0" sz="950">
                <a:solidFill>
                  <a:srgbClr val="94A3B8"/>
                </a:solidFill>
                <a:latin typeface="Inter"/>
                <a:ea typeface="Inter"/>
                <a:cs typeface="Inter"/>
                <a:sym typeface="Inter"/>
              </a:endParaRPr>
            </a:p>
          </p:txBody>
        </p:sp>
      </p:grpSp>
      <p:grpSp>
        <p:nvGrpSpPr>
          <p:cNvPr id="758" name="Google Shape;758;p45"/>
          <p:cNvGrpSpPr/>
          <p:nvPr/>
        </p:nvGrpSpPr>
        <p:grpSpPr>
          <a:xfrm>
            <a:off x="3238500" y="1000125"/>
            <a:ext cx="2667000" cy="3857700"/>
            <a:chOff x="0" y="0"/>
            <a:chExt cx="2667000" cy="3857700"/>
          </a:xfrm>
        </p:grpSpPr>
        <p:sp>
          <p:nvSpPr>
            <p:cNvPr id="759" name="Google Shape;759;p45"/>
            <p:cNvSpPr/>
            <p:nvPr/>
          </p:nvSpPr>
          <p:spPr>
            <a:xfrm>
              <a:off x="0" y="0"/>
              <a:ext cx="2667000" cy="38577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0" name="Google Shape;760;p45"/>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1" name="Google Shape;761;p45"/>
            <p:cNvSpPr txBox="1"/>
            <p:nvPr/>
          </p:nvSpPr>
          <p:spPr>
            <a:xfrm>
              <a:off x="142875" y="142875"/>
              <a:ext cx="2381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1100">
                  <a:solidFill>
                    <a:srgbClr val="3B82F6"/>
                  </a:solidFill>
                  <a:latin typeface="Inter"/>
                  <a:ea typeface="Inter"/>
                  <a:cs typeface="Inter"/>
                  <a:sym typeface="Inter"/>
                </a:rPr>
                <a:t>VERTICAL CUTLINE</a:t>
              </a:r>
              <a:endParaRPr b="1" sz="1100">
                <a:solidFill>
                  <a:srgbClr val="3B82F6"/>
                </a:solidFill>
                <a:latin typeface="Inter"/>
                <a:ea typeface="Inter"/>
                <a:cs typeface="Inter"/>
                <a:sym typeface="Inter"/>
              </a:endParaRPr>
            </a:p>
          </p:txBody>
        </p:sp>
        <p:sp>
          <p:nvSpPr>
            <p:cNvPr id="762" name="Google Shape;762;p45"/>
            <p:cNvSpPr txBox="1"/>
            <p:nvPr/>
          </p:nvSpPr>
          <p:spPr>
            <a:xfrm>
              <a:off x="142875" y="3286125"/>
              <a:ext cx="2381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950">
                  <a:solidFill>
                    <a:srgbClr val="94A3B8"/>
                  </a:solidFill>
                  <a:latin typeface="Inter"/>
                  <a:ea typeface="Inter"/>
                  <a:cs typeface="Inter"/>
                  <a:sym typeface="Inter"/>
                </a:rPr>
                <a:t>Vertical cross-section along the central symmetry axis</a:t>
              </a:r>
              <a:endParaRPr b="0" sz="950">
                <a:solidFill>
                  <a:srgbClr val="94A3B8"/>
                </a:solidFill>
                <a:latin typeface="Inter"/>
                <a:ea typeface="Inter"/>
                <a:cs typeface="Inter"/>
                <a:sym typeface="Inter"/>
              </a:endParaRPr>
            </a:p>
          </p:txBody>
        </p:sp>
      </p:grpSp>
      <p:grpSp>
        <p:nvGrpSpPr>
          <p:cNvPr id="763" name="Google Shape;763;p45"/>
          <p:cNvGrpSpPr/>
          <p:nvPr/>
        </p:nvGrpSpPr>
        <p:grpSpPr>
          <a:xfrm>
            <a:off x="6096000" y="1000125"/>
            <a:ext cx="2667000" cy="3857700"/>
            <a:chOff x="0" y="0"/>
            <a:chExt cx="2667000" cy="3857700"/>
          </a:xfrm>
        </p:grpSpPr>
        <p:sp>
          <p:nvSpPr>
            <p:cNvPr id="764" name="Google Shape;764;p45"/>
            <p:cNvSpPr/>
            <p:nvPr/>
          </p:nvSpPr>
          <p:spPr>
            <a:xfrm>
              <a:off x="0" y="0"/>
              <a:ext cx="2667000" cy="3857700"/>
            </a:xfrm>
            <a:prstGeom prst="roundRect">
              <a:avLst>
                <a:gd fmla="val 2857"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5" name="Google Shape;765;p45"/>
            <p:cNvSpPr/>
            <p:nvPr/>
          </p:nvSpPr>
          <p:spPr>
            <a:xfrm>
              <a:off x="0" y="0"/>
              <a:ext cx="2667000" cy="285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6" name="Google Shape;766;p45"/>
            <p:cNvSpPr txBox="1"/>
            <p:nvPr/>
          </p:nvSpPr>
          <p:spPr>
            <a:xfrm>
              <a:off x="142875" y="142875"/>
              <a:ext cx="2381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1100">
                  <a:solidFill>
                    <a:srgbClr val="3B82F6"/>
                  </a:solidFill>
                  <a:latin typeface="Inter"/>
                  <a:ea typeface="Inter"/>
                  <a:cs typeface="Inter"/>
                  <a:sym typeface="Inter"/>
                </a:rPr>
                <a:t>OBLIQUE CUTLINE</a:t>
              </a:r>
              <a:endParaRPr b="1" sz="1100">
                <a:solidFill>
                  <a:srgbClr val="3B82F6"/>
                </a:solidFill>
                <a:latin typeface="Inter"/>
                <a:ea typeface="Inter"/>
                <a:cs typeface="Inter"/>
                <a:sym typeface="Inter"/>
              </a:endParaRPr>
            </a:p>
          </p:txBody>
        </p:sp>
        <p:sp>
          <p:nvSpPr>
            <p:cNvPr id="767" name="Google Shape;767;p45"/>
            <p:cNvSpPr txBox="1"/>
            <p:nvPr/>
          </p:nvSpPr>
          <p:spPr>
            <a:xfrm>
              <a:off x="142875" y="3286125"/>
              <a:ext cx="2381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950">
                  <a:solidFill>
                    <a:srgbClr val="94A3B8"/>
                  </a:solidFill>
                  <a:latin typeface="Inter"/>
                  <a:ea typeface="Inter"/>
                  <a:cs typeface="Inter"/>
                  <a:sym typeface="Inter"/>
                </a:rPr>
                <a:t>Diagonal cross-section traversing opposite domain corners</a:t>
              </a:r>
              <a:endParaRPr b="0" sz="950">
                <a:solidFill>
                  <a:srgbClr val="94A3B8"/>
                </a:solidFill>
                <a:latin typeface="Inter"/>
                <a:ea typeface="Inter"/>
                <a:cs typeface="Inter"/>
                <a:sym typeface="Inter"/>
              </a:endParaRPr>
            </a:p>
          </p:txBody>
        </p:sp>
      </p:grpSp>
      <p:pic>
        <p:nvPicPr>
          <p:cNvPr id="768" name="Google Shape;768;p45"/>
          <p:cNvPicPr preferRelativeResize="0"/>
          <p:nvPr/>
        </p:nvPicPr>
        <p:blipFill rotWithShape="1">
          <a:blip r:embed="rId4">
            <a:alphaModFix/>
          </a:blip>
          <a:srcRect b="4131" l="13421" r="10452" t="7413"/>
          <a:stretch/>
        </p:blipFill>
        <p:spPr>
          <a:xfrm>
            <a:off x="476625" y="1842825"/>
            <a:ext cx="2460900" cy="2286000"/>
          </a:xfrm>
          <a:prstGeom prst="rect">
            <a:avLst/>
          </a:prstGeom>
          <a:noFill/>
          <a:ln>
            <a:noFill/>
          </a:ln>
        </p:spPr>
      </p:pic>
      <p:pic>
        <p:nvPicPr>
          <p:cNvPr id="769" name="Google Shape;769;p45"/>
          <p:cNvPicPr preferRelativeResize="0"/>
          <p:nvPr/>
        </p:nvPicPr>
        <p:blipFill rotWithShape="1">
          <a:blip r:embed="rId5">
            <a:alphaModFix/>
          </a:blip>
          <a:srcRect b="4972" l="13025" r="8179" t="4963"/>
          <a:stretch/>
        </p:blipFill>
        <p:spPr>
          <a:xfrm>
            <a:off x="3297600" y="1842825"/>
            <a:ext cx="2548800" cy="2328600"/>
          </a:xfrm>
          <a:prstGeom prst="rect">
            <a:avLst/>
          </a:prstGeom>
          <a:noFill/>
          <a:ln>
            <a:noFill/>
          </a:ln>
        </p:spPr>
      </p:pic>
      <p:pic>
        <p:nvPicPr>
          <p:cNvPr id="770" name="Google Shape;770;p45"/>
          <p:cNvPicPr preferRelativeResize="0"/>
          <p:nvPr/>
        </p:nvPicPr>
        <p:blipFill rotWithShape="1">
          <a:blip r:embed="rId6">
            <a:alphaModFix/>
          </a:blip>
          <a:srcRect b="1989" l="13361" r="9317" t="4194"/>
          <a:stretch/>
        </p:blipFill>
        <p:spPr>
          <a:xfrm>
            <a:off x="6206475" y="1842825"/>
            <a:ext cx="2490600" cy="2415900"/>
          </a:xfrm>
          <a:prstGeom prst="rect">
            <a:avLst/>
          </a:prstGeom>
          <a:noFill/>
          <a:ln>
            <a:noFill/>
          </a:ln>
        </p:spPr>
      </p:pic>
      <p:sp>
        <p:nvSpPr>
          <p:cNvPr id="771" name="Google Shape;77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5" name="Shape 775"/>
        <p:cNvGrpSpPr/>
        <p:nvPr/>
      </p:nvGrpSpPr>
      <p:grpSpPr>
        <a:xfrm>
          <a:off x="0" y="0"/>
          <a:ext cx="0" cy="0"/>
          <a:chOff x="0" y="0"/>
          <a:chExt cx="0" cy="0"/>
        </a:xfrm>
      </p:grpSpPr>
      <p:sp>
        <p:nvSpPr>
          <p:cNvPr id="776" name="Google Shape;776;p46"/>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3200" u="none" strike="noStrike">
                <a:solidFill>
                  <a:srgbClr val="F8F9FA"/>
                </a:solidFill>
                <a:latin typeface="Inter SemiBold"/>
                <a:ea typeface="Inter SemiBold"/>
                <a:cs typeface="Inter SemiBold"/>
                <a:sym typeface="Inter SemiBold"/>
              </a:rPr>
              <a:t>Horizontal Velocity (u)</a:t>
            </a:r>
            <a:endParaRPr b="0" i="0" sz="3200" u="none" strike="noStrike">
              <a:solidFill>
                <a:srgbClr val="F8F9FA"/>
              </a:solidFill>
              <a:latin typeface="Inter SemiBold"/>
              <a:ea typeface="Inter SemiBold"/>
              <a:cs typeface="Inter SemiBold"/>
              <a:sym typeface="Inter SemiBold"/>
            </a:endParaRPr>
          </a:p>
        </p:txBody>
      </p:sp>
      <p:cxnSp>
        <p:nvCxnSpPr>
          <p:cNvPr id="777" name="Google Shape;777;p46"/>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778" name="Google Shape;778;p46" title="cutline_convergence_u_dark.png"/>
          <p:cNvPicPr preferRelativeResize="0"/>
          <p:nvPr/>
        </p:nvPicPr>
        <p:blipFill>
          <a:blip r:embed="rId4">
            <a:alphaModFix/>
          </a:blip>
          <a:stretch>
            <a:fillRect/>
          </a:stretch>
        </p:blipFill>
        <p:spPr>
          <a:xfrm>
            <a:off x="152400" y="1560900"/>
            <a:ext cx="8839204" cy="2684563"/>
          </a:xfrm>
          <a:prstGeom prst="rect">
            <a:avLst/>
          </a:prstGeom>
          <a:noFill/>
          <a:ln>
            <a:noFill/>
          </a:ln>
        </p:spPr>
      </p:pic>
      <p:sp>
        <p:nvSpPr>
          <p:cNvPr id="779" name="Google Shape;77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780" name="Google Shape;780;p46"/>
          <p:cNvGrpSpPr/>
          <p:nvPr/>
        </p:nvGrpSpPr>
        <p:grpSpPr>
          <a:xfrm>
            <a:off x="400050" y="895350"/>
            <a:ext cx="8343900" cy="247800"/>
            <a:chOff x="0" y="0"/>
            <a:chExt cx="8343900" cy="247800"/>
          </a:xfrm>
        </p:grpSpPr>
        <p:sp>
          <p:nvSpPr>
            <p:cNvPr id="781" name="Google Shape;781;p46"/>
            <p:cNvSpPr/>
            <p:nvPr/>
          </p:nvSpPr>
          <p:spPr>
            <a:xfrm>
              <a:off x="0" y="0"/>
              <a:ext cx="26193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46"/>
            <p:cNvSpPr txBox="1"/>
            <p:nvPr/>
          </p:nvSpPr>
          <p:spPr>
            <a:xfrm>
              <a:off x="0" y="0"/>
              <a:ext cx="2619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93C5FD"/>
                  </a:solidFill>
                  <a:latin typeface="Inter SemiBold"/>
                  <a:ea typeface="Inter SemiBold"/>
                  <a:cs typeface="Inter SemiBold"/>
                  <a:sym typeface="Inter SemiBold"/>
                </a:rPr>
                <a:t>SETUP: </a:t>
              </a:r>
              <a:r>
                <a:rPr lang="it" sz="850">
                  <a:solidFill>
                    <a:srgbClr val="93C5FD"/>
                  </a:solidFill>
                  <a:latin typeface="Inter SemiBold"/>
                  <a:ea typeface="Inter SemiBold"/>
                  <a:cs typeface="Inter SemiBold"/>
                  <a:sym typeface="Inter SemiBold"/>
                </a:rPr>
                <a:t>Mesh Convergence</a:t>
              </a:r>
              <a:endParaRPr b="0" sz="850">
                <a:solidFill>
                  <a:srgbClr val="93C5FD"/>
                </a:solidFill>
                <a:latin typeface="Inter SemiBold"/>
                <a:ea typeface="Inter SemiBold"/>
                <a:cs typeface="Inter SemiBold"/>
                <a:sym typeface="Inter SemiBold"/>
              </a:endParaRPr>
            </a:p>
          </p:txBody>
        </p:sp>
        <p:grpSp>
          <p:nvGrpSpPr>
            <p:cNvPr id="783" name="Google Shape;783;p46"/>
            <p:cNvGrpSpPr/>
            <p:nvPr/>
          </p:nvGrpSpPr>
          <p:grpSpPr>
            <a:xfrm>
              <a:off x="2733675" y="0"/>
              <a:ext cx="2714700" cy="247800"/>
              <a:chOff x="0" y="0"/>
              <a:chExt cx="2714700" cy="247800"/>
            </a:xfrm>
          </p:grpSpPr>
          <p:sp>
            <p:nvSpPr>
              <p:cNvPr id="784" name="Google Shape;784;p46"/>
              <p:cNvSpPr/>
              <p:nvPr/>
            </p:nvSpPr>
            <p:spPr>
              <a:xfrm>
                <a:off x="0" y="0"/>
                <a:ext cx="27147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46"/>
              <p:cNvSpPr txBox="1"/>
              <p:nvPr/>
            </p:nvSpPr>
            <p:spPr>
              <a:xfrm>
                <a:off x="0" y="0"/>
                <a:ext cx="2714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34D399"/>
                    </a:solidFill>
                    <a:latin typeface="Inter SemiBold"/>
                    <a:ea typeface="Inter SemiBold"/>
                    <a:cs typeface="Inter SemiBold"/>
                    <a:sym typeface="Inter SemiBold"/>
                  </a:rPr>
                  <a:t>MESH: </a:t>
                </a:r>
                <a:r>
                  <a:rPr lang="it" sz="850">
                    <a:solidFill>
                      <a:srgbClr val="34D399"/>
                    </a:solidFill>
                    <a:latin typeface="Inter SemiBold"/>
                    <a:ea typeface="Inter SemiBold"/>
                    <a:cs typeface="Inter SemiBold"/>
                    <a:sym typeface="Inter SemiBold"/>
                  </a:rPr>
                  <a:t>All</a:t>
                </a:r>
                <a:endParaRPr b="0" sz="850">
                  <a:solidFill>
                    <a:srgbClr val="34D399"/>
                  </a:solidFill>
                  <a:latin typeface="Inter SemiBold"/>
                  <a:ea typeface="Inter SemiBold"/>
                  <a:cs typeface="Inter SemiBold"/>
                  <a:sym typeface="Inter SemiBold"/>
                </a:endParaRPr>
              </a:p>
            </p:txBody>
          </p:sp>
        </p:grpSp>
        <p:grpSp>
          <p:nvGrpSpPr>
            <p:cNvPr id="786" name="Google Shape;786;p46"/>
            <p:cNvGrpSpPr/>
            <p:nvPr/>
          </p:nvGrpSpPr>
          <p:grpSpPr>
            <a:xfrm>
              <a:off x="5524500" y="0"/>
              <a:ext cx="2819400" cy="247800"/>
              <a:chOff x="0" y="0"/>
              <a:chExt cx="2819400" cy="247800"/>
            </a:xfrm>
          </p:grpSpPr>
          <p:sp>
            <p:nvSpPr>
              <p:cNvPr id="787" name="Google Shape;787;p46"/>
              <p:cNvSpPr/>
              <p:nvPr/>
            </p:nvSpPr>
            <p:spPr>
              <a:xfrm>
                <a:off x="0" y="0"/>
                <a:ext cx="28194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46"/>
              <p:cNvSpPr txBox="1"/>
              <p:nvPr/>
            </p:nvSpPr>
            <p:spPr>
              <a:xfrm>
                <a:off x="0" y="0"/>
                <a:ext cx="2819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FBBF24"/>
                    </a:solidFill>
                    <a:latin typeface="Inter SemiBold"/>
                    <a:ea typeface="Inter SemiBold"/>
                    <a:cs typeface="Inter SemiBold"/>
                    <a:sym typeface="Inter SemiBold"/>
                  </a:rPr>
                  <a:t>PARAMS: λ =</a:t>
                </a:r>
                <a:r>
                  <a:rPr lang="it" sz="850">
                    <a:solidFill>
                      <a:srgbClr val="FBBF24"/>
                    </a:solidFill>
                    <a:latin typeface="Inter SemiBold"/>
                    <a:ea typeface="Inter SemiBold"/>
                    <a:cs typeface="Inter SemiBold"/>
                    <a:sym typeface="Inter SemiBold"/>
                  </a:rPr>
                  <a:t>1</a:t>
                </a:r>
                <a:r>
                  <a:rPr b="0" lang="it" sz="850">
                    <a:solidFill>
                      <a:srgbClr val="FBBF24"/>
                    </a:solidFill>
                    <a:latin typeface="Inter SemiBold"/>
                    <a:ea typeface="Inter SemiBold"/>
                    <a:cs typeface="Inter SemiBold"/>
                    <a:sym typeface="Inter SemiBold"/>
                  </a:rPr>
                  <a:t> s, ηp​ = 0</a:t>
                </a:r>
                <a:r>
                  <a:rPr lang="it" sz="850">
                    <a:solidFill>
                      <a:srgbClr val="FBBF24"/>
                    </a:solidFill>
                    <a:latin typeface="Inter SemiBold"/>
                    <a:ea typeface="Inter SemiBold"/>
                    <a:cs typeface="Inter SemiBold"/>
                    <a:sym typeface="Inter SemiBold"/>
                  </a:rPr>
                  <a:t>.9 Pa s</a:t>
                </a:r>
                <a:endParaRPr b="0" sz="850">
                  <a:solidFill>
                    <a:srgbClr val="FBBF24"/>
                  </a:solidFill>
                  <a:latin typeface="Inter SemiBold"/>
                  <a:ea typeface="Inter SemiBold"/>
                  <a:cs typeface="Inter SemiBold"/>
                  <a:sym typeface="Inter SemiBold"/>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792" name="Shape 792"/>
        <p:cNvGrpSpPr/>
        <p:nvPr/>
      </p:nvGrpSpPr>
      <p:grpSpPr>
        <a:xfrm>
          <a:off x="0" y="0"/>
          <a:ext cx="0" cy="0"/>
          <a:chOff x="0" y="0"/>
          <a:chExt cx="0" cy="0"/>
        </a:xfrm>
      </p:grpSpPr>
      <p:sp>
        <p:nvSpPr>
          <p:cNvPr id="793" name="Google Shape;793;p47"/>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it" sz="3200">
                <a:solidFill>
                  <a:srgbClr val="F8F9FA"/>
                </a:solidFill>
                <a:latin typeface="Inter SemiBold"/>
                <a:ea typeface="Inter SemiBold"/>
                <a:cs typeface="Inter SemiBold"/>
                <a:sym typeface="Inter SemiBold"/>
              </a:rPr>
              <a:t>v</a:t>
            </a:r>
            <a:endParaRPr b="0" sz="3200">
              <a:solidFill>
                <a:srgbClr val="F8F9FA"/>
              </a:solidFill>
              <a:latin typeface="Inter SemiBold"/>
              <a:ea typeface="Inter SemiBold"/>
              <a:cs typeface="Inter SemiBold"/>
              <a:sym typeface="Inter SemiBold"/>
            </a:endParaRPr>
          </a:p>
        </p:txBody>
      </p:sp>
      <p:cxnSp>
        <p:nvCxnSpPr>
          <p:cNvPr id="794" name="Google Shape;794;p47"/>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795" name="Google Shape;795;p47" title="cutline_convergence_v_dark.png"/>
          <p:cNvPicPr preferRelativeResize="0"/>
          <p:nvPr/>
        </p:nvPicPr>
        <p:blipFill>
          <a:blip r:embed="rId4">
            <a:alphaModFix/>
          </a:blip>
          <a:stretch>
            <a:fillRect/>
          </a:stretch>
        </p:blipFill>
        <p:spPr>
          <a:xfrm>
            <a:off x="152400" y="866700"/>
            <a:ext cx="8839204" cy="2684563"/>
          </a:xfrm>
          <a:prstGeom prst="rect">
            <a:avLst/>
          </a:prstGeom>
          <a:noFill/>
          <a:ln>
            <a:noFill/>
          </a:ln>
        </p:spPr>
      </p:pic>
      <p:sp>
        <p:nvSpPr>
          <p:cNvPr id="796" name="Google Shape;79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0" name="Shape 800"/>
        <p:cNvGrpSpPr/>
        <p:nvPr/>
      </p:nvGrpSpPr>
      <p:grpSpPr>
        <a:xfrm>
          <a:off x="0" y="0"/>
          <a:ext cx="0" cy="0"/>
          <a:chOff x="0" y="0"/>
          <a:chExt cx="0" cy="0"/>
        </a:xfrm>
      </p:grpSpPr>
      <p:sp>
        <p:nvSpPr>
          <p:cNvPr id="801" name="Google Shape;801;p48"/>
          <p:cNvSpPr txBox="1"/>
          <p:nvPr/>
        </p:nvSpPr>
        <p:spPr>
          <a:xfrm>
            <a:off x="388938"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it" sz="3200">
                <a:solidFill>
                  <a:srgbClr val="F8F9FA"/>
                </a:solidFill>
                <a:latin typeface="Inter SemiBold"/>
                <a:ea typeface="Inter SemiBold"/>
                <a:cs typeface="Inter SemiBold"/>
                <a:sym typeface="Inter SemiBold"/>
              </a:rPr>
              <a:t>Normal extra stress (tauxx)</a:t>
            </a:r>
            <a:endParaRPr b="0" sz="3200">
              <a:solidFill>
                <a:srgbClr val="F8F9FA"/>
              </a:solidFill>
              <a:latin typeface="Inter SemiBold"/>
              <a:ea typeface="Inter SemiBold"/>
              <a:cs typeface="Inter SemiBold"/>
              <a:sym typeface="Inter SemiBold"/>
            </a:endParaRPr>
          </a:p>
        </p:txBody>
      </p:sp>
      <p:cxnSp>
        <p:nvCxnSpPr>
          <p:cNvPr id="802" name="Google Shape;802;p48"/>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803" name="Google Shape;803;p48" title="cutline_convergence_tauxx_dark.png"/>
          <p:cNvPicPr preferRelativeResize="0"/>
          <p:nvPr/>
        </p:nvPicPr>
        <p:blipFill>
          <a:blip r:embed="rId4">
            <a:alphaModFix/>
          </a:blip>
          <a:stretch>
            <a:fillRect/>
          </a:stretch>
        </p:blipFill>
        <p:spPr>
          <a:xfrm>
            <a:off x="82550" y="1581075"/>
            <a:ext cx="8839204" cy="2710459"/>
          </a:xfrm>
          <a:prstGeom prst="rect">
            <a:avLst/>
          </a:prstGeom>
          <a:noFill/>
          <a:ln>
            <a:noFill/>
          </a:ln>
        </p:spPr>
      </p:pic>
      <p:sp>
        <p:nvSpPr>
          <p:cNvPr id="804" name="Google Shape;80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805" name="Google Shape;805;p48"/>
          <p:cNvGrpSpPr/>
          <p:nvPr/>
        </p:nvGrpSpPr>
        <p:grpSpPr>
          <a:xfrm>
            <a:off x="400050" y="895350"/>
            <a:ext cx="8343900" cy="247800"/>
            <a:chOff x="0" y="0"/>
            <a:chExt cx="8343900" cy="247800"/>
          </a:xfrm>
        </p:grpSpPr>
        <p:sp>
          <p:nvSpPr>
            <p:cNvPr id="806" name="Google Shape;806;p48"/>
            <p:cNvSpPr/>
            <p:nvPr/>
          </p:nvSpPr>
          <p:spPr>
            <a:xfrm>
              <a:off x="0" y="0"/>
              <a:ext cx="26193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48"/>
            <p:cNvSpPr txBox="1"/>
            <p:nvPr/>
          </p:nvSpPr>
          <p:spPr>
            <a:xfrm>
              <a:off x="0" y="0"/>
              <a:ext cx="2619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93C5FD"/>
                  </a:solidFill>
                  <a:latin typeface="Inter SemiBold"/>
                  <a:ea typeface="Inter SemiBold"/>
                  <a:cs typeface="Inter SemiBold"/>
                  <a:sym typeface="Inter SemiBold"/>
                </a:rPr>
                <a:t>SETUP: </a:t>
              </a:r>
              <a:r>
                <a:rPr lang="it" sz="850">
                  <a:solidFill>
                    <a:srgbClr val="93C5FD"/>
                  </a:solidFill>
                  <a:latin typeface="Inter SemiBold"/>
                  <a:ea typeface="Inter SemiBold"/>
                  <a:cs typeface="Inter SemiBold"/>
                  <a:sym typeface="Inter SemiBold"/>
                </a:rPr>
                <a:t>Mesh Convergence</a:t>
              </a:r>
              <a:endParaRPr b="0" sz="850">
                <a:solidFill>
                  <a:srgbClr val="93C5FD"/>
                </a:solidFill>
                <a:latin typeface="Inter SemiBold"/>
                <a:ea typeface="Inter SemiBold"/>
                <a:cs typeface="Inter SemiBold"/>
                <a:sym typeface="Inter SemiBold"/>
              </a:endParaRPr>
            </a:p>
          </p:txBody>
        </p:sp>
        <p:grpSp>
          <p:nvGrpSpPr>
            <p:cNvPr id="808" name="Google Shape;808;p48"/>
            <p:cNvGrpSpPr/>
            <p:nvPr/>
          </p:nvGrpSpPr>
          <p:grpSpPr>
            <a:xfrm>
              <a:off x="2733675" y="0"/>
              <a:ext cx="2714700" cy="247800"/>
              <a:chOff x="0" y="0"/>
              <a:chExt cx="2714700" cy="247800"/>
            </a:xfrm>
          </p:grpSpPr>
          <p:sp>
            <p:nvSpPr>
              <p:cNvPr id="809" name="Google Shape;809;p48"/>
              <p:cNvSpPr/>
              <p:nvPr/>
            </p:nvSpPr>
            <p:spPr>
              <a:xfrm>
                <a:off x="0" y="0"/>
                <a:ext cx="27147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0" name="Google Shape;810;p48"/>
              <p:cNvSpPr txBox="1"/>
              <p:nvPr/>
            </p:nvSpPr>
            <p:spPr>
              <a:xfrm>
                <a:off x="0" y="0"/>
                <a:ext cx="2714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34D399"/>
                    </a:solidFill>
                    <a:latin typeface="Inter SemiBold"/>
                    <a:ea typeface="Inter SemiBold"/>
                    <a:cs typeface="Inter SemiBold"/>
                    <a:sym typeface="Inter SemiBold"/>
                  </a:rPr>
                  <a:t>MESH: </a:t>
                </a:r>
                <a:r>
                  <a:rPr lang="it" sz="850">
                    <a:solidFill>
                      <a:srgbClr val="34D399"/>
                    </a:solidFill>
                    <a:latin typeface="Inter SemiBold"/>
                    <a:ea typeface="Inter SemiBold"/>
                    <a:cs typeface="Inter SemiBold"/>
                    <a:sym typeface="Inter SemiBold"/>
                  </a:rPr>
                  <a:t>All</a:t>
                </a:r>
                <a:endParaRPr b="0" sz="850">
                  <a:solidFill>
                    <a:srgbClr val="34D399"/>
                  </a:solidFill>
                  <a:latin typeface="Inter SemiBold"/>
                  <a:ea typeface="Inter SemiBold"/>
                  <a:cs typeface="Inter SemiBold"/>
                  <a:sym typeface="Inter SemiBold"/>
                </a:endParaRPr>
              </a:p>
            </p:txBody>
          </p:sp>
        </p:grpSp>
        <p:grpSp>
          <p:nvGrpSpPr>
            <p:cNvPr id="811" name="Google Shape;811;p48"/>
            <p:cNvGrpSpPr/>
            <p:nvPr/>
          </p:nvGrpSpPr>
          <p:grpSpPr>
            <a:xfrm>
              <a:off x="5524500" y="0"/>
              <a:ext cx="2819400" cy="247800"/>
              <a:chOff x="0" y="0"/>
              <a:chExt cx="2819400" cy="247800"/>
            </a:xfrm>
          </p:grpSpPr>
          <p:sp>
            <p:nvSpPr>
              <p:cNvPr id="812" name="Google Shape;812;p48"/>
              <p:cNvSpPr/>
              <p:nvPr/>
            </p:nvSpPr>
            <p:spPr>
              <a:xfrm>
                <a:off x="0" y="0"/>
                <a:ext cx="28194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3" name="Google Shape;813;p48"/>
              <p:cNvSpPr txBox="1"/>
              <p:nvPr/>
            </p:nvSpPr>
            <p:spPr>
              <a:xfrm>
                <a:off x="0" y="0"/>
                <a:ext cx="2819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FBBF24"/>
                    </a:solidFill>
                    <a:latin typeface="Inter SemiBold"/>
                    <a:ea typeface="Inter SemiBold"/>
                    <a:cs typeface="Inter SemiBold"/>
                    <a:sym typeface="Inter SemiBold"/>
                  </a:rPr>
                  <a:t>PARAMS: λ =</a:t>
                </a:r>
                <a:r>
                  <a:rPr lang="it" sz="850">
                    <a:solidFill>
                      <a:srgbClr val="FBBF24"/>
                    </a:solidFill>
                    <a:latin typeface="Inter SemiBold"/>
                    <a:ea typeface="Inter SemiBold"/>
                    <a:cs typeface="Inter SemiBold"/>
                    <a:sym typeface="Inter SemiBold"/>
                  </a:rPr>
                  <a:t>1</a:t>
                </a:r>
                <a:r>
                  <a:rPr b="0" lang="it" sz="850">
                    <a:solidFill>
                      <a:srgbClr val="FBBF24"/>
                    </a:solidFill>
                    <a:latin typeface="Inter SemiBold"/>
                    <a:ea typeface="Inter SemiBold"/>
                    <a:cs typeface="Inter SemiBold"/>
                    <a:sym typeface="Inter SemiBold"/>
                  </a:rPr>
                  <a:t> s, ηp​ = 0</a:t>
                </a:r>
                <a:r>
                  <a:rPr lang="it" sz="850">
                    <a:solidFill>
                      <a:srgbClr val="FBBF24"/>
                    </a:solidFill>
                    <a:latin typeface="Inter SemiBold"/>
                    <a:ea typeface="Inter SemiBold"/>
                    <a:cs typeface="Inter SemiBold"/>
                    <a:sym typeface="Inter SemiBold"/>
                  </a:rPr>
                  <a:t>.9 Pa s</a:t>
                </a:r>
                <a:endParaRPr b="0" sz="850">
                  <a:solidFill>
                    <a:srgbClr val="FBBF24"/>
                  </a:solidFill>
                  <a:latin typeface="Inter SemiBold"/>
                  <a:ea typeface="Inter SemiBold"/>
                  <a:cs typeface="Inter SemiBold"/>
                  <a:sym typeface="Inter SemiBold"/>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7" name="Shape 817"/>
        <p:cNvGrpSpPr/>
        <p:nvPr/>
      </p:nvGrpSpPr>
      <p:grpSpPr>
        <a:xfrm>
          <a:off x="0" y="0"/>
          <a:ext cx="0" cy="0"/>
          <a:chOff x="0" y="0"/>
          <a:chExt cx="0" cy="0"/>
        </a:xfrm>
      </p:grpSpPr>
      <p:sp>
        <p:nvSpPr>
          <p:cNvPr id="818" name="Google Shape;818;p49"/>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it" sz="3200">
                <a:solidFill>
                  <a:srgbClr val="F8F9FA"/>
                </a:solidFill>
                <a:latin typeface="Inter SemiBold"/>
                <a:ea typeface="Inter SemiBold"/>
                <a:cs typeface="Inter SemiBold"/>
                <a:sym typeface="Inter SemiBold"/>
              </a:rPr>
              <a:t>Shear stress (ta</a:t>
            </a:r>
            <a:r>
              <a:rPr lang="it" sz="3200">
                <a:solidFill>
                  <a:srgbClr val="F8F9FA"/>
                </a:solidFill>
                <a:latin typeface="Inter SemiBold"/>
                <a:ea typeface="Inter SemiBold"/>
                <a:cs typeface="Inter SemiBold"/>
                <a:sym typeface="Inter SemiBold"/>
              </a:rPr>
              <a:t>uxy)</a:t>
            </a:r>
            <a:endParaRPr b="0" sz="3200">
              <a:solidFill>
                <a:srgbClr val="F8F9FA"/>
              </a:solidFill>
              <a:latin typeface="Inter SemiBold"/>
              <a:ea typeface="Inter SemiBold"/>
              <a:cs typeface="Inter SemiBold"/>
              <a:sym typeface="Inter SemiBold"/>
            </a:endParaRPr>
          </a:p>
        </p:txBody>
      </p:sp>
      <p:cxnSp>
        <p:nvCxnSpPr>
          <p:cNvPr id="819" name="Google Shape;819;p49"/>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820" name="Google Shape;820;p49" title="cutline_convergence_tauxy_dark.png"/>
          <p:cNvPicPr preferRelativeResize="0"/>
          <p:nvPr/>
        </p:nvPicPr>
        <p:blipFill>
          <a:blip r:embed="rId4">
            <a:alphaModFix/>
          </a:blip>
          <a:stretch>
            <a:fillRect/>
          </a:stretch>
        </p:blipFill>
        <p:spPr>
          <a:xfrm>
            <a:off x="152400" y="1580950"/>
            <a:ext cx="8839204" cy="2706143"/>
          </a:xfrm>
          <a:prstGeom prst="rect">
            <a:avLst/>
          </a:prstGeom>
          <a:noFill/>
          <a:ln>
            <a:noFill/>
          </a:ln>
        </p:spPr>
      </p:pic>
      <p:sp>
        <p:nvSpPr>
          <p:cNvPr id="821" name="Google Shape;82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822" name="Google Shape;822;p49"/>
          <p:cNvGrpSpPr/>
          <p:nvPr/>
        </p:nvGrpSpPr>
        <p:grpSpPr>
          <a:xfrm>
            <a:off x="400050" y="895350"/>
            <a:ext cx="8343900" cy="247800"/>
            <a:chOff x="0" y="0"/>
            <a:chExt cx="8343900" cy="247800"/>
          </a:xfrm>
        </p:grpSpPr>
        <p:sp>
          <p:nvSpPr>
            <p:cNvPr id="823" name="Google Shape;823;p49"/>
            <p:cNvSpPr/>
            <p:nvPr/>
          </p:nvSpPr>
          <p:spPr>
            <a:xfrm>
              <a:off x="0" y="0"/>
              <a:ext cx="26193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49"/>
            <p:cNvSpPr txBox="1"/>
            <p:nvPr/>
          </p:nvSpPr>
          <p:spPr>
            <a:xfrm>
              <a:off x="0" y="0"/>
              <a:ext cx="2619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93C5FD"/>
                  </a:solidFill>
                  <a:latin typeface="Inter SemiBold"/>
                  <a:ea typeface="Inter SemiBold"/>
                  <a:cs typeface="Inter SemiBold"/>
                  <a:sym typeface="Inter SemiBold"/>
                </a:rPr>
                <a:t>SETUP: </a:t>
              </a:r>
              <a:r>
                <a:rPr lang="it" sz="850">
                  <a:solidFill>
                    <a:srgbClr val="93C5FD"/>
                  </a:solidFill>
                  <a:latin typeface="Inter SemiBold"/>
                  <a:ea typeface="Inter SemiBold"/>
                  <a:cs typeface="Inter SemiBold"/>
                  <a:sym typeface="Inter SemiBold"/>
                </a:rPr>
                <a:t>Mesh Convergence</a:t>
              </a:r>
              <a:endParaRPr b="0" sz="850">
                <a:solidFill>
                  <a:srgbClr val="93C5FD"/>
                </a:solidFill>
                <a:latin typeface="Inter SemiBold"/>
                <a:ea typeface="Inter SemiBold"/>
                <a:cs typeface="Inter SemiBold"/>
                <a:sym typeface="Inter SemiBold"/>
              </a:endParaRPr>
            </a:p>
          </p:txBody>
        </p:sp>
        <p:grpSp>
          <p:nvGrpSpPr>
            <p:cNvPr id="825" name="Google Shape;825;p49"/>
            <p:cNvGrpSpPr/>
            <p:nvPr/>
          </p:nvGrpSpPr>
          <p:grpSpPr>
            <a:xfrm>
              <a:off x="2733675" y="0"/>
              <a:ext cx="2714700" cy="247800"/>
              <a:chOff x="0" y="0"/>
              <a:chExt cx="2714700" cy="247800"/>
            </a:xfrm>
          </p:grpSpPr>
          <p:sp>
            <p:nvSpPr>
              <p:cNvPr id="826" name="Google Shape;826;p49"/>
              <p:cNvSpPr/>
              <p:nvPr/>
            </p:nvSpPr>
            <p:spPr>
              <a:xfrm>
                <a:off x="0" y="0"/>
                <a:ext cx="27147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7" name="Google Shape;827;p49"/>
              <p:cNvSpPr txBox="1"/>
              <p:nvPr/>
            </p:nvSpPr>
            <p:spPr>
              <a:xfrm>
                <a:off x="0" y="0"/>
                <a:ext cx="2714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34D399"/>
                    </a:solidFill>
                    <a:latin typeface="Inter SemiBold"/>
                    <a:ea typeface="Inter SemiBold"/>
                    <a:cs typeface="Inter SemiBold"/>
                    <a:sym typeface="Inter SemiBold"/>
                  </a:rPr>
                  <a:t>MESH: </a:t>
                </a:r>
                <a:r>
                  <a:rPr lang="it" sz="850">
                    <a:solidFill>
                      <a:srgbClr val="34D399"/>
                    </a:solidFill>
                    <a:latin typeface="Inter SemiBold"/>
                    <a:ea typeface="Inter SemiBold"/>
                    <a:cs typeface="Inter SemiBold"/>
                    <a:sym typeface="Inter SemiBold"/>
                  </a:rPr>
                  <a:t>All</a:t>
                </a:r>
                <a:endParaRPr b="0" sz="850">
                  <a:solidFill>
                    <a:srgbClr val="34D399"/>
                  </a:solidFill>
                  <a:latin typeface="Inter SemiBold"/>
                  <a:ea typeface="Inter SemiBold"/>
                  <a:cs typeface="Inter SemiBold"/>
                  <a:sym typeface="Inter SemiBold"/>
                </a:endParaRPr>
              </a:p>
            </p:txBody>
          </p:sp>
        </p:grpSp>
        <p:grpSp>
          <p:nvGrpSpPr>
            <p:cNvPr id="828" name="Google Shape;828;p49"/>
            <p:cNvGrpSpPr/>
            <p:nvPr/>
          </p:nvGrpSpPr>
          <p:grpSpPr>
            <a:xfrm>
              <a:off x="5524500" y="0"/>
              <a:ext cx="2819400" cy="247800"/>
              <a:chOff x="0" y="0"/>
              <a:chExt cx="2819400" cy="247800"/>
            </a:xfrm>
          </p:grpSpPr>
          <p:sp>
            <p:nvSpPr>
              <p:cNvPr id="829" name="Google Shape;829;p49"/>
              <p:cNvSpPr/>
              <p:nvPr/>
            </p:nvSpPr>
            <p:spPr>
              <a:xfrm>
                <a:off x="0" y="0"/>
                <a:ext cx="28194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0" name="Google Shape;830;p49"/>
              <p:cNvSpPr txBox="1"/>
              <p:nvPr/>
            </p:nvSpPr>
            <p:spPr>
              <a:xfrm>
                <a:off x="0" y="0"/>
                <a:ext cx="2819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FBBF24"/>
                    </a:solidFill>
                    <a:latin typeface="Inter SemiBold"/>
                    <a:ea typeface="Inter SemiBold"/>
                    <a:cs typeface="Inter SemiBold"/>
                    <a:sym typeface="Inter SemiBold"/>
                  </a:rPr>
                  <a:t>PARAMS: λ =</a:t>
                </a:r>
                <a:r>
                  <a:rPr lang="it" sz="850">
                    <a:solidFill>
                      <a:srgbClr val="FBBF24"/>
                    </a:solidFill>
                    <a:latin typeface="Inter SemiBold"/>
                    <a:ea typeface="Inter SemiBold"/>
                    <a:cs typeface="Inter SemiBold"/>
                    <a:sym typeface="Inter SemiBold"/>
                  </a:rPr>
                  <a:t>1</a:t>
                </a:r>
                <a:r>
                  <a:rPr b="0" lang="it" sz="850">
                    <a:solidFill>
                      <a:srgbClr val="FBBF24"/>
                    </a:solidFill>
                    <a:latin typeface="Inter SemiBold"/>
                    <a:ea typeface="Inter SemiBold"/>
                    <a:cs typeface="Inter SemiBold"/>
                    <a:sym typeface="Inter SemiBold"/>
                  </a:rPr>
                  <a:t> s, ηp​ = 0</a:t>
                </a:r>
                <a:r>
                  <a:rPr lang="it" sz="850">
                    <a:solidFill>
                      <a:srgbClr val="FBBF24"/>
                    </a:solidFill>
                    <a:latin typeface="Inter SemiBold"/>
                    <a:ea typeface="Inter SemiBold"/>
                    <a:cs typeface="Inter SemiBold"/>
                    <a:sym typeface="Inter SemiBold"/>
                  </a:rPr>
                  <a:t>.9 Pa s</a:t>
                </a:r>
                <a:endParaRPr b="0" sz="850">
                  <a:solidFill>
                    <a:srgbClr val="FBBF24"/>
                  </a:solidFill>
                  <a:latin typeface="Inter SemiBold"/>
                  <a:ea typeface="Inter SemiBold"/>
                  <a:cs typeface="Inter SemiBold"/>
                  <a:sym typeface="Inter SemiBold"/>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834" name="Shape 834"/>
        <p:cNvGrpSpPr/>
        <p:nvPr/>
      </p:nvGrpSpPr>
      <p:grpSpPr>
        <a:xfrm>
          <a:off x="0" y="0"/>
          <a:ext cx="0" cy="0"/>
          <a:chOff x="0" y="0"/>
          <a:chExt cx="0" cy="0"/>
        </a:xfrm>
      </p:grpSpPr>
      <p:sp>
        <p:nvSpPr>
          <p:cNvPr id="835" name="Google Shape;835;p50"/>
          <p:cNvSpPr txBox="1"/>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it" sz="3200">
                <a:solidFill>
                  <a:srgbClr val="F8F9FA"/>
                </a:solidFill>
                <a:latin typeface="Inter SemiBold"/>
                <a:ea typeface="Inter SemiBold"/>
                <a:cs typeface="Inter SemiBold"/>
                <a:sym typeface="Inter SemiBold"/>
              </a:rPr>
              <a:t>tauyy</a:t>
            </a:r>
            <a:endParaRPr b="0" sz="3200">
              <a:solidFill>
                <a:srgbClr val="F8F9FA"/>
              </a:solidFill>
              <a:latin typeface="Inter SemiBold"/>
              <a:ea typeface="Inter SemiBold"/>
              <a:cs typeface="Inter SemiBold"/>
              <a:sym typeface="Inter SemiBold"/>
            </a:endParaRPr>
          </a:p>
        </p:txBody>
      </p:sp>
      <p:cxnSp>
        <p:nvCxnSpPr>
          <p:cNvPr id="836" name="Google Shape;836;p50"/>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837" name="Google Shape;837;p50" title="cutline_convergence_tauyy_dark.png"/>
          <p:cNvPicPr preferRelativeResize="0"/>
          <p:nvPr/>
        </p:nvPicPr>
        <p:blipFill>
          <a:blip r:embed="rId4">
            <a:alphaModFix/>
          </a:blip>
          <a:stretch>
            <a:fillRect/>
          </a:stretch>
        </p:blipFill>
        <p:spPr>
          <a:xfrm>
            <a:off x="152400" y="1462025"/>
            <a:ext cx="8839204" cy="2706143"/>
          </a:xfrm>
          <a:prstGeom prst="rect">
            <a:avLst/>
          </a:prstGeom>
          <a:noFill/>
          <a:ln>
            <a:noFill/>
          </a:ln>
        </p:spPr>
      </p:pic>
      <p:sp>
        <p:nvSpPr>
          <p:cNvPr id="838" name="Google Shape;83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2" name="Shape 842"/>
        <p:cNvGrpSpPr/>
        <p:nvPr/>
      </p:nvGrpSpPr>
      <p:grpSpPr>
        <a:xfrm>
          <a:off x="0" y="0"/>
          <a:ext cx="0" cy="0"/>
          <a:chOff x="0" y="0"/>
          <a:chExt cx="0" cy="0"/>
        </a:xfrm>
      </p:grpSpPr>
      <p:sp>
        <p:nvSpPr>
          <p:cNvPr id="843" name="Google Shape;843;p51"/>
          <p:cNvSpPr txBox="1"/>
          <p:nvPr>
            <p:ph type="title"/>
          </p:nvPr>
        </p:nvSpPr>
        <p:spPr>
          <a:xfrm>
            <a:off x="381000" y="190500"/>
            <a:ext cx="8382000" cy="5238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lang="it" sz="3200">
                <a:solidFill>
                  <a:srgbClr val="F8F9FA"/>
                </a:solidFill>
                <a:latin typeface="Inter SemiBold"/>
                <a:ea typeface="Inter SemiBold"/>
                <a:cs typeface="Inter SemiBold"/>
                <a:sym typeface="Inter SemiBold"/>
              </a:rPr>
              <a:t>Physical parameters &amp; </a:t>
            </a:r>
            <a:r>
              <a:rPr b="0" lang="it" sz="3200">
                <a:solidFill>
                  <a:srgbClr val="F8F9FA"/>
                </a:solidFill>
                <a:latin typeface="Inter SemiBold"/>
                <a:ea typeface="Inter SemiBold"/>
                <a:cs typeface="Inter SemiBold"/>
                <a:sym typeface="Inter SemiBold"/>
              </a:rPr>
              <a:t>Collocation Points</a:t>
            </a:r>
            <a:endParaRPr b="0" sz="3200">
              <a:solidFill>
                <a:srgbClr val="F8F9FA"/>
              </a:solidFill>
              <a:latin typeface="Inter SemiBold"/>
              <a:ea typeface="Inter SemiBold"/>
              <a:cs typeface="Inter SemiBold"/>
              <a:sym typeface="Inter SemiBold"/>
            </a:endParaRPr>
          </a:p>
        </p:txBody>
      </p:sp>
      <p:cxnSp>
        <p:nvCxnSpPr>
          <p:cNvPr id="844" name="Google Shape;844;p51"/>
          <p:cNvCxnSpPr/>
          <p:nvPr/>
        </p:nvCxnSpPr>
        <p:spPr>
          <a:xfrm>
            <a:off x="381000" y="80962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pic>
        <p:nvPicPr>
          <p:cNvPr id="845" name="Google Shape;845;p51"/>
          <p:cNvPicPr preferRelativeResize="0"/>
          <p:nvPr/>
        </p:nvPicPr>
        <p:blipFill rotWithShape="1">
          <a:blip r:embed="rId4">
            <a:alphaModFix/>
          </a:blip>
          <a:srcRect b="295" l="0" r="0" t="4685"/>
          <a:stretch/>
        </p:blipFill>
        <p:spPr>
          <a:xfrm>
            <a:off x="3894825" y="904950"/>
            <a:ext cx="4762500" cy="3924300"/>
          </a:xfrm>
          <a:prstGeom prst="roundRect">
            <a:avLst>
              <a:gd fmla="val 1941" name="adj"/>
            </a:avLst>
          </a:prstGeom>
          <a:noFill/>
          <a:ln>
            <a:noFill/>
          </a:ln>
        </p:spPr>
      </p:pic>
      <p:sp>
        <p:nvSpPr>
          <p:cNvPr id="846" name="Google Shape;84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847" name="Google Shape;847;p51"/>
          <p:cNvGrpSpPr/>
          <p:nvPr/>
        </p:nvGrpSpPr>
        <p:grpSpPr>
          <a:xfrm>
            <a:off x="381000" y="904875"/>
            <a:ext cx="3238500" cy="3924300"/>
            <a:chOff x="0" y="0"/>
            <a:chExt cx="3238500" cy="3924300"/>
          </a:xfrm>
        </p:grpSpPr>
        <p:sp>
          <p:nvSpPr>
            <p:cNvPr id="848" name="Google Shape;848;p51"/>
            <p:cNvSpPr/>
            <p:nvPr/>
          </p:nvSpPr>
          <p:spPr>
            <a:xfrm>
              <a:off x="0" y="0"/>
              <a:ext cx="3238500" cy="3924300"/>
            </a:xfrm>
            <a:prstGeom prst="roundRect">
              <a:avLst>
                <a:gd fmla="val 2352"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9" name="Google Shape;849;p51"/>
            <p:cNvSpPr txBox="1"/>
            <p:nvPr/>
          </p:nvSpPr>
          <p:spPr>
            <a:xfrm>
              <a:off x="152400" y="152400"/>
              <a:ext cx="2933700" cy="3619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1300">
                  <a:solidFill>
                    <a:srgbClr val="F8F9FA"/>
                  </a:solidFill>
                  <a:latin typeface="Inter"/>
                  <a:ea typeface="Inter"/>
                  <a:cs typeface="Inter"/>
                  <a:sym typeface="Inter"/>
                </a:rPr>
                <a:t>Physical Parameters</a:t>
              </a:r>
              <a:endParaRPr b="1" sz="1300">
                <a:solidFill>
                  <a:srgbClr val="F8F9FA"/>
                </a:solidFill>
                <a:latin typeface="Inter"/>
                <a:ea typeface="Inter"/>
                <a:cs typeface="Inter"/>
                <a:sym typeface="Inter"/>
              </a:endParaRPr>
            </a:p>
            <a:p>
              <a:pPr indent="0" lvl="0" marL="0" rtl="0" algn="l">
                <a:spcBef>
                  <a:spcPts val="800"/>
                </a:spcBef>
                <a:spcAft>
                  <a:spcPts val="0"/>
                </a:spcAft>
                <a:buNone/>
              </a:pPr>
              <a:r>
                <a:rPr b="0" lang="it" sz="950">
                  <a:solidFill>
                    <a:srgbClr val="FFA657"/>
                  </a:solidFill>
                  <a:latin typeface="Inter SemiBold"/>
                  <a:ea typeface="Inter SemiBold"/>
                  <a:cs typeface="Inter SemiBold"/>
                  <a:sym typeface="Inter SemiBold"/>
                </a:rPr>
                <a:t>Roll Velocity (uroll): </a:t>
              </a:r>
              <a:r>
                <a:rPr b="0" lang="it" sz="950">
                  <a:solidFill>
                    <a:srgbClr val="F8F9FA"/>
                  </a:solidFill>
                  <a:latin typeface="Inter SemiBold"/>
                  <a:ea typeface="Inter SemiBold"/>
                  <a:cs typeface="Inter SemiBold"/>
                  <a:sym typeface="Inter SemiBold"/>
                </a:rPr>
                <a:t>8.333 × 10⁻³ m/s</a:t>
              </a:r>
              <a:endParaRPr b="0" sz="950">
                <a:solidFill>
                  <a:srgbClr val="F8F9FA"/>
                </a:solidFill>
                <a:latin typeface="Inter SemiBold"/>
                <a:ea typeface="Inter SemiBold"/>
                <a:cs typeface="Inter SemiBold"/>
                <a:sym typeface="Inter SemiBold"/>
              </a:endParaRPr>
            </a:p>
            <a:p>
              <a:pPr indent="0" lvl="0" marL="0" rtl="0" algn="l">
                <a:spcBef>
                  <a:spcPts val="100"/>
                </a:spcBef>
                <a:spcAft>
                  <a:spcPts val="0"/>
                </a:spcAft>
                <a:buNone/>
              </a:pPr>
              <a:r>
                <a:t/>
              </a:r>
              <a:endParaRPr b="0" sz="800">
                <a:solidFill>
                  <a:srgbClr val="8B949E"/>
                </a:solidFill>
                <a:latin typeface="Inter"/>
                <a:ea typeface="Inter"/>
                <a:cs typeface="Inter"/>
                <a:sym typeface="Inter"/>
              </a:endParaRPr>
            </a:p>
            <a:p>
              <a:pPr indent="0" lvl="0" marL="0" rtl="0" algn="l">
                <a:spcBef>
                  <a:spcPts val="600"/>
                </a:spcBef>
                <a:spcAft>
                  <a:spcPts val="0"/>
                </a:spcAft>
                <a:buNone/>
              </a:pPr>
              <a:r>
                <a:rPr b="0" lang="it" sz="950">
                  <a:solidFill>
                    <a:srgbClr val="7EE787"/>
                  </a:solidFill>
                  <a:latin typeface="Inter SemiBold"/>
                  <a:ea typeface="Inter SemiBold"/>
                  <a:cs typeface="Inter SemiBold"/>
                  <a:sym typeface="Inter SemiBold"/>
                </a:rPr>
                <a:t>Density (ρ): </a:t>
              </a:r>
              <a:r>
                <a:rPr b="0" lang="it" sz="950">
                  <a:solidFill>
                    <a:srgbClr val="F8F9FA"/>
                  </a:solidFill>
                  <a:latin typeface="Inter SemiBold"/>
                  <a:ea typeface="Inter SemiBold"/>
                  <a:cs typeface="Inter SemiBold"/>
                  <a:sym typeface="Inter SemiBold"/>
                </a:rPr>
                <a:t>1000 kg/m³</a:t>
              </a:r>
              <a:endParaRPr b="0" sz="950">
                <a:solidFill>
                  <a:srgbClr val="F8F9FA"/>
                </a:solidFill>
                <a:latin typeface="Inter SemiBold"/>
                <a:ea typeface="Inter SemiBold"/>
                <a:cs typeface="Inter SemiBold"/>
                <a:sym typeface="Inter SemiBold"/>
              </a:endParaRPr>
            </a:p>
            <a:p>
              <a:pPr indent="0" lvl="0" marL="0" rtl="0" algn="l">
                <a:spcBef>
                  <a:spcPts val="600"/>
                </a:spcBef>
                <a:spcAft>
                  <a:spcPts val="0"/>
                </a:spcAft>
                <a:buNone/>
              </a:pPr>
              <a:r>
                <a:rPr b="0" lang="it" sz="950">
                  <a:solidFill>
                    <a:srgbClr val="38BDF8"/>
                  </a:solidFill>
                  <a:latin typeface="Inter SemiBold"/>
                  <a:ea typeface="Inter SemiBold"/>
                  <a:cs typeface="Inter SemiBold"/>
                  <a:sym typeface="Inter SemiBold"/>
                </a:rPr>
                <a:t>Flow Characteristics:</a:t>
              </a:r>
              <a:endParaRPr b="0" sz="950">
                <a:solidFill>
                  <a:srgbClr val="F8F9FA"/>
                </a:solidFill>
                <a:latin typeface="Inter SemiBold"/>
                <a:ea typeface="Inter SemiBold"/>
                <a:cs typeface="Inter SemiBold"/>
                <a:sym typeface="Inter SemiBold"/>
              </a:endParaRPr>
            </a:p>
            <a:p>
              <a:pPr indent="0" lvl="0" marL="0" rtl="0" algn="l">
                <a:spcBef>
                  <a:spcPts val="100"/>
                </a:spcBef>
                <a:spcAft>
                  <a:spcPts val="0"/>
                </a:spcAft>
                <a:buNone/>
              </a:pPr>
              <a:r>
                <a:rPr b="0" lang="it" sz="800">
                  <a:solidFill>
                    <a:srgbClr val="C9D1D9"/>
                  </a:solidFill>
                  <a:latin typeface="Inter"/>
                  <a:ea typeface="Inter"/>
                  <a:cs typeface="Inter"/>
                  <a:sym typeface="Inter"/>
                </a:rPr>
                <a:t>Purely extensional flow field considering flow parameter</a:t>
              </a:r>
              <a:endParaRPr b="0" sz="800">
                <a:solidFill>
                  <a:srgbClr val="C9D1D9"/>
                </a:solidFill>
                <a:latin typeface="Inter"/>
                <a:ea typeface="Inter"/>
                <a:cs typeface="Inter"/>
                <a:sym typeface="Inter"/>
              </a:endParaRPr>
            </a:p>
            <a:p>
              <a:pPr indent="0" lvl="0" marL="0" rtl="0" algn="l">
                <a:spcBef>
                  <a:spcPts val="600"/>
                </a:spcBef>
                <a:spcAft>
                  <a:spcPts val="0"/>
                </a:spcAft>
                <a:buNone/>
              </a:pPr>
              <a:r>
                <a:rPr b="0" lang="it" sz="950">
                  <a:solidFill>
                    <a:srgbClr val="79C0FF"/>
                  </a:solidFill>
                  <a:latin typeface="Inter SemiBold"/>
                  <a:ea typeface="Inter SemiBold"/>
                  <a:cs typeface="Inter SemiBold"/>
                  <a:sym typeface="Inter SemiBold"/>
                </a:rPr>
                <a:t>Reynolds Num. (Re): </a:t>
              </a:r>
              <a:r>
                <a:rPr b="0" lang="it" sz="950">
                  <a:solidFill>
                    <a:srgbClr val="F8F9FA"/>
                  </a:solidFill>
                  <a:latin typeface="Inter SemiBold"/>
                  <a:ea typeface="Inter SemiBold"/>
                  <a:cs typeface="Inter SemiBold"/>
                  <a:sym typeface="Inter SemiBold"/>
                </a:rPr>
                <a:t>0.0417 ≪ 1</a:t>
              </a:r>
              <a:endParaRPr b="0" sz="950">
                <a:solidFill>
                  <a:srgbClr val="F8F9FA"/>
                </a:solidFill>
                <a:latin typeface="Inter SemiBold"/>
                <a:ea typeface="Inter SemiBold"/>
                <a:cs typeface="Inter SemiBold"/>
                <a:sym typeface="Inter SemiBold"/>
              </a:endParaRPr>
            </a:p>
            <a:p>
              <a:pPr indent="0" lvl="0" marL="0" rtl="0" algn="l">
                <a:spcBef>
                  <a:spcPts val="100"/>
                </a:spcBef>
                <a:spcAft>
                  <a:spcPts val="0"/>
                </a:spcAft>
                <a:buNone/>
              </a:pPr>
              <a:r>
                <a:t/>
              </a:r>
              <a:endParaRPr b="0" sz="800">
                <a:solidFill>
                  <a:srgbClr val="8B949E"/>
                </a:solidFill>
                <a:latin typeface="Inter"/>
                <a:ea typeface="Inter"/>
                <a:cs typeface="Inter"/>
                <a:sym typeface="Inter"/>
              </a:endParaRPr>
            </a:p>
            <a:p>
              <a:pPr indent="0" lvl="0" marL="0" rtl="0" algn="l">
                <a:spcBef>
                  <a:spcPts val="600"/>
                </a:spcBef>
                <a:spcAft>
                  <a:spcPts val="0"/>
                </a:spcAft>
                <a:buNone/>
              </a:pPr>
              <a:r>
                <a:rPr b="0" lang="it" sz="950">
                  <a:solidFill>
                    <a:srgbClr val="D2A8FF"/>
                  </a:solidFill>
                  <a:latin typeface="Inter SemiBold"/>
                  <a:ea typeface="Inter SemiBold"/>
                  <a:cs typeface="Inter SemiBold"/>
                  <a:sym typeface="Inter SemiBold"/>
                </a:rPr>
                <a:t>Weissenberg Num. (Wi): </a:t>
              </a:r>
              <a:endParaRPr b="0" sz="950">
                <a:solidFill>
                  <a:srgbClr val="F8F9FA"/>
                </a:solidFill>
                <a:latin typeface="Inter SemiBold"/>
                <a:ea typeface="Inter SemiBold"/>
                <a:cs typeface="Inter SemiBold"/>
                <a:sym typeface="Inter SemiBold"/>
              </a:endParaRPr>
            </a:p>
            <a:p>
              <a:pPr indent="0" lvl="0" marL="0" rtl="0" algn="l">
                <a:spcBef>
                  <a:spcPts val="100"/>
                </a:spcBef>
                <a:spcAft>
                  <a:spcPts val="0"/>
                </a:spcAft>
                <a:buNone/>
              </a:pPr>
              <a:r>
                <a:t/>
              </a:r>
              <a:endParaRPr b="0" sz="800">
                <a:solidFill>
                  <a:srgbClr val="8B949E"/>
                </a:solidFill>
                <a:latin typeface="Inter"/>
                <a:ea typeface="Inter"/>
                <a:cs typeface="Inter"/>
                <a:sym typeface="Inter"/>
              </a:endParaRPr>
            </a:p>
            <a:p>
              <a:pPr indent="0" lvl="0" marL="0" rtl="0" algn="l">
                <a:spcBef>
                  <a:spcPts val="600"/>
                </a:spcBef>
                <a:spcAft>
                  <a:spcPts val="0"/>
                </a:spcAft>
                <a:buNone/>
              </a:pPr>
              <a:r>
                <a:rPr b="0" lang="it" sz="950">
                  <a:solidFill>
                    <a:srgbClr val="F2CC60"/>
                  </a:solidFill>
                  <a:latin typeface="Inter SemiBold"/>
                  <a:ea typeface="Inter SemiBold"/>
                  <a:cs typeface="Inter SemiBold"/>
                  <a:sym typeface="Inter SemiBold"/>
                </a:rPr>
                <a:t>Deborah Num. (De): </a:t>
              </a:r>
              <a:endParaRPr b="0" sz="950">
                <a:solidFill>
                  <a:srgbClr val="F8F9FA"/>
                </a:solidFill>
                <a:latin typeface="Inter SemiBold"/>
                <a:ea typeface="Inter SemiBold"/>
                <a:cs typeface="Inter SemiBold"/>
                <a:sym typeface="Inter SemiBold"/>
              </a:endParaRPr>
            </a:p>
            <a:p>
              <a:pPr indent="0" lvl="0" marL="0" rtl="0" algn="l">
                <a:spcBef>
                  <a:spcPts val="100"/>
                </a:spcBef>
                <a:spcAft>
                  <a:spcPts val="0"/>
                </a:spcAft>
                <a:buNone/>
              </a:pPr>
              <a:r>
                <a:t/>
              </a:r>
              <a:endParaRPr b="0" sz="800">
                <a:solidFill>
                  <a:srgbClr val="8B949E"/>
                </a:solidFill>
                <a:latin typeface="Inter"/>
                <a:ea typeface="Inter"/>
                <a:cs typeface="Inter"/>
                <a:sym typeface="Inte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3" name="Shape 853"/>
        <p:cNvGrpSpPr/>
        <p:nvPr/>
      </p:nvGrpSpPr>
      <p:grpSpPr>
        <a:xfrm>
          <a:off x="0" y="0"/>
          <a:ext cx="0" cy="0"/>
          <a:chOff x="0" y="0"/>
          <a:chExt cx="0" cy="0"/>
        </a:xfrm>
      </p:grpSpPr>
      <p:sp>
        <p:nvSpPr>
          <p:cNvPr id="854" name="Google Shape;854;p52"/>
          <p:cNvSpPr txBox="1"/>
          <p:nvPr/>
        </p:nvSpPr>
        <p:spPr>
          <a:xfrm>
            <a:off x="285750" y="190500"/>
            <a:ext cx="8572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F8F9FA"/>
                </a:solidFill>
                <a:latin typeface="Inter"/>
                <a:ea typeface="Inter"/>
                <a:cs typeface="Inter"/>
                <a:sym typeface="Inter"/>
              </a:rPr>
              <a:t>Multi-Objective Loss Function &amp; BC Formulation</a:t>
            </a:r>
            <a:endParaRPr b="0" sz="1000">
              <a:solidFill>
                <a:srgbClr val="8B949E"/>
              </a:solidFill>
              <a:latin typeface="Inter"/>
              <a:ea typeface="Inter"/>
              <a:cs typeface="Inter"/>
              <a:sym typeface="Inter"/>
            </a:endParaRPr>
          </a:p>
        </p:txBody>
      </p:sp>
      <p:grpSp>
        <p:nvGrpSpPr>
          <p:cNvPr id="855" name="Google Shape;855;p52"/>
          <p:cNvGrpSpPr/>
          <p:nvPr/>
        </p:nvGrpSpPr>
        <p:grpSpPr>
          <a:xfrm>
            <a:off x="285750" y="714375"/>
            <a:ext cx="8572500" cy="400200"/>
            <a:chOff x="0" y="0"/>
            <a:chExt cx="8572500" cy="400200"/>
          </a:xfrm>
        </p:grpSpPr>
        <p:sp>
          <p:nvSpPr>
            <p:cNvPr id="856" name="Google Shape;856;p52"/>
            <p:cNvSpPr/>
            <p:nvPr/>
          </p:nvSpPr>
          <p:spPr>
            <a:xfrm>
              <a:off x="0" y="0"/>
              <a:ext cx="8572500" cy="400200"/>
            </a:xfrm>
            <a:prstGeom prst="roundRect">
              <a:avLst>
                <a:gd fmla="val 14285"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7" name="Google Shape;857;p52"/>
            <p:cNvSpPr txBox="1"/>
            <p:nvPr/>
          </p:nvSpPr>
          <p:spPr>
            <a:xfrm>
              <a:off x="0" y="0"/>
              <a:ext cx="85725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1100">
                  <a:solidFill>
                    <a:srgbClr val="EF4444"/>
                  </a:solidFill>
                  <a:latin typeface="Consolas"/>
                  <a:ea typeface="Consolas"/>
                  <a:cs typeface="Consolas"/>
                  <a:sym typeface="Consolas"/>
                </a:rPr>
                <a:t>Ltotal</a:t>
              </a:r>
              <a:r>
                <a:rPr lang="it" sz="1100">
                  <a:solidFill>
                    <a:srgbClr val="F8F9FA"/>
                  </a:solidFill>
                  <a:latin typeface="Consolas"/>
                  <a:ea typeface="Consolas"/>
                  <a:cs typeface="Consolas"/>
                  <a:sym typeface="Consolas"/>
                </a:rPr>
                <a:t> = </a:t>
              </a:r>
              <a:r>
                <a:rPr lang="it" sz="1100">
                  <a:solidFill>
                    <a:schemeClr val="lt1"/>
                  </a:solidFill>
                  <a:latin typeface="Consolas"/>
                  <a:ea typeface="Consolas"/>
                  <a:cs typeface="Consolas"/>
                  <a:sym typeface="Consolas"/>
                </a:rPr>
                <a:t>wdata</a:t>
              </a:r>
              <a:r>
                <a:rPr lang="it" sz="1100">
                  <a:solidFill>
                    <a:srgbClr val="F8F9FA"/>
                  </a:solidFill>
                  <a:latin typeface="Consolas"/>
                  <a:ea typeface="Consolas"/>
                  <a:cs typeface="Consolas"/>
                  <a:sym typeface="Consolas"/>
                </a:rPr>
                <a:t> · </a:t>
              </a:r>
              <a:r>
                <a:rPr lang="it" sz="1100">
                  <a:solidFill>
                    <a:srgbClr val="10B981"/>
                  </a:solidFill>
                  <a:latin typeface="Consolas"/>
                  <a:ea typeface="Consolas"/>
                  <a:cs typeface="Consolas"/>
                  <a:sym typeface="Consolas"/>
                </a:rPr>
                <a:t>Ldata</a:t>
              </a:r>
              <a:r>
                <a:rPr lang="it" sz="1100">
                  <a:solidFill>
                    <a:srgbClr val="F8F9FA"/>
                  </a:solidFill>
                  <a:latin typeface="Consolas"/>
                  <a:ea typeface="Consolas"/>
                  <a:cs typeface="Consolas"/>
                  <a:sym typeface="Consolas"/>
                </a:rPr>
                <a:t> + </a:t>
              </a:r>
              <a:r>
                <a:rPr lang="it" sz="1100">
                  <a:solidFill>
                    <a:schemeClr val="lt1"/>
                  </a:solidFill>
                  <a:latin typeface="Consolas"/>
                  <a:ea typeface="Consolas"/>
                  <a:cs typeface="Consolas"/>
                  <a:sym typeface="Consolas"/>
                </a:rPr>
                <a:t>wbc</a:t>
              </a:r>
              <a:r>
                <a:rPr lang="it" sz="1100">
                  <a:solidFill>
                    <a:srgbClr val="F8F9FA"/>
                  </a:solidFill>
                  <a:latin typeface="Consolas"/>
                  <a:ea typeface="Consolas"/>
                  <a:cs typeface="Consolas"/>
                  <a:sym typeface="Consolas"/>
                </a:rPr>
                <a:t> · </a:t>
              </a:r>
              <a:r>
                <a:rPr lang="it" sz="1100">
                  <a:solidFill>
                    <a:srgbClr val="FFA657"/>
                  </a:solidFill>
                  <a:latin typeface="Consolas"/>
                  <a:ea typeface="Consolas"/>
                  <a:cs typeface="Consolas"/>
                  <a:sym typeface="Consolas"/>
                </a:rPr>
                <a:t>Lbc</a:t>
              </a:r>
              <a:r>
                <a:rPr lang="it" sz="1100">
                  <a:solidFill>
                    <a:srgbClr val="F8F9FA"/>
                  </a:solidFill>
                  <a:latin typeface="Consolas"/>
                  <a:ea typeface="Consolas"/>
                  <a:cs typeface="Consolas"/>
                  <a:sym typeface="Consolas"/>
                </a:rPr>
                <a:t> + </a:t>
              </a:r>
              <a:r>
                <a:rPr lang="it" sz="1100">
                  <a:solidFill>
                    <a:srgbClr val="F8FAFC"/>
                  </a:solidFill>
                  <a:latin typeface="Consolas"/>
                  <a:ea typeface="Consolas"/>
                  <a:cs typeface="Consolas"/>
                  <a:sym typeface="Consolas"/>
                </a:rPr>
                <a:t>wconst</a:t>
              </a:r>
              <a:r>
                <a:rPr lang="it" sz="1100">
                  <a:solidFill>
                    <a:srgbClr val="F8F9FA"/>
                  </a:solidFill>
                  <a:latin typeface="Consolas"/>
                  <a:ea typeface="Consolas"/>
                  <a:cs typeface="Consolas"/>
                  <a:sym typeface="Consolas"/>
                </a:rPr>
                <a:t> · </a:t>
              </a:r>
              <a:r>
                <a:rPr lang="it" sz="1100">
                  <a:solidFill>
                    <a:srgbClr val="D2A8FF"/>
                  </a:solidFill>
                  <a:latin typeface="Consolas"/>
                  <a:ea typeface="Consolas"/>
                  <a:cs typeface="Consolas"/>
                  <a:sym typeface="Consolas"/>
                </a:rPr>
                <a:t>Lconst</a:t>
              </a:r>
              <a:r>
                <a:rPr lang="it" sz="1100">
                  <a:solidFill>
                    <a:srgbClr val="F8F9FA"/>
                  </a:solidFill>
                  <a:latin typeface="Consolas"/>
                  <a:ea typeface="Consolas"/>
                  <a:cs typeface="Consolas"/>
                  <a:sym typeface="Consolas"/>
                </a:rPr>
                <a:t> + </a:t>
              </a:r>
              <a:r>
                <a:rPr lang="it" sz="1100">
                  <a:solidFill>
                    <a:srgbClr val="F8FAFC"/>
                  </a:solidFill>
                  <a:latin typeface="Consolas"/>
                  <a:ea typeface="Consolas"/>
                  <a:cs typeface="Consolas"/>
                  <a:sym typeface="Consolas"/>
                </a:rPr>
                <a:t>wmom</a:t>
              </a:r>
              <a:r>
                <a:rPr lang="it" sz="1100">
                  <a:solidFill>
                    <a:srgbClr val="F8F9FA"/>
                  </a:solidFill>
                  <a:latin typeface="Consolas"/>
                  <a:ea typeface="Consolas"/>
                  <a:cs typeface="Consolas"/>
                  <a:sym typeface="Consolas"/>
                </a:rPr>
                <a:t> · </a:t>
              </a:r>
              <a:r>
                <a:rPr lang="it" sz="1100">
                  <a:solidFill>
                    <a:srgbClr val="8B5CF6"/>
                  </a:solidFill>
                  <a:latin typeface="Consolas"/>
                  <a:ea typeface="Consolas"/>
                  <a:cs typeface="Consolas"/>
                  <a:sym typeface="Consolas"/>
                </a:rPr>
                <a:t>Lmom</a:t>
              </a:r>
              <a:endParaRPr sz="1100">
                <a:solidFill>
                  <a:srgbClr val="8B5CF6"/>
                </a:solidFill>
                <a:latin typeface="Consolas"/>
                <a:ea typeface="Consolas"/>
                <a:cs typeface="Consolas"/>
                <a:sym typeface="Consolas"/>
              </a:endParaRPr>
            </a:p>
          </p:txBody>
        </p:sp>
      </p:grpSp>
      <p:grpSp>
        <p:nvGrpSpPr>
          <p:cNvPr id="858" name="Google Shape;858;p52"/>
          <p:cNvGrpSpPr/>
          <p:nvPr/>
        </p:nvGrpSpPr>
        <p:grpSpPr>
          <a:xfrm>
            <a:off x="285750" y="1238250"/>
            <a:ext cx="2667000" cy="1762200"/>
            <a:chOff x="0" y="0"/>
            <a:chExt cx="2667000" cy="1762200"/>
          </a:xfrm>
        </p:grpSpPr>
        <p:sp>
          <p:nvSpPr>
            <p:cNvPr id="859" name="Google Shape;859;p52"/>
            <p:cNvSpPr/>
            <p:nvPr/>
          </p:nvSpPr>
          <p:spPr>
            <a:xfrm>
              <a:off x="0" y="0"/>
              <a:ext cx="2667000" cy="1762200"/>
            </a:xfrm>
            <a:prstGeom prst="roundRect">
              <a:avLst>
                <a:gd fmla="val 3243"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0" name="Google Shape;860;p52"/>
            <p:cNvSpPr txBox="1"/>
            <p:nvPr/>
          </p:nvSpPr>
          <p:spPr>
            <a:xfrm>
              <a:off x="133350" y="114300"/>
              <a:ext cx="24003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10B981"/>
                  </a:solidFill>
                  <a:latin typeface="Inter SemiBold"/>
                  <a:ea typeface="Inter SemiBold"/>
                  <a:cs typeface="Inter SemiBold"/>
                  <a:sym typeface="Inter SemiBold"/>
                </a:rPr>
                <a:t>1. Velocity Data Loss (Ldata)</a:t>
              </a:r>
              <a:endParaRPr b="0" sz="1100">
                <a:solidFill>
                  <a:srgbClr val="10B981"/>
                </a:solidFill>
                <a:latin typeface="Inter SemiBold"/>
                <a:ea typeface="Inter SemiBold"/>
                <a:cs typeface="Inter SemiBold"/>
                <a:sym typeface="Inter SemiBold"/>
              </a:endParaRPr>
            </a:p>
          </p:txBody>
        </p:sp>
      </p:grpSp>
      <p:grpSp>
        <p:nvGrpSpPr>
          <p:cNvPr id="861" name="Google Shape;861;p52"/>
          <p:cNvGrpSpPr/>
          <p:nvPr/>
        </p:nvGrpSpPr>
        <p:grpSpPr>
          <a:xfrm>
            <a:off x="3238500" y="1238250"/>
            <a:ext cx="2667000" cy="1762200"/>
            <a:chOff x="0" y="0"/>
            <a:chExt cx="2667000" cy="1762200"/>
          </a:xfrm>
        </p:grpSpPr>
        <p:sp>
          <p:nvSpPr>
            <p:cNvPr id="862" name="Google Shape;862;p52"/>
            <p:cNvSpPr/>
            <p:nvPr/>
          </p:nvSpPr>
          <p:spPr>
            <a:xfrm>
              <a:off x="0" y="0"/>
              <a:ext cx="2667000" cy="1762200"/>
            </a:xfrm>
            <a:prstGeom prst="roundRect">
              <a:avLst>
                <a:gd fmla="val 3243"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52"/>
            <p:cNvSpPr txBox="1"/>
            <p:nvPr/>
          </p:nvSpPr>
          <p:spPr>
            <a:xfrm>
              <a:off x="133350" y="114300"/>
              <a:ext cx="2400300" cy="24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D2A8FF"/>
                  </a:solidFill>
                  <a:latin typeface="Inter SemiBold"/>
                  <a:ea typeface="Inter SemiBold"/>
                  <a:cs typeface="Inter SemiBold"/>
                  <a:sym typeface="Inter SemiBold"/>
                </a:rPr>
                <a:t>2. Constitutive Eq. (Lconst)</a:t>
              </a:r>
              <a:endParaRPr b="0" sz="1100">
                <a:solidFill>
                  <a:srgbClr val="D2A8FF"/>
                </a:solidFill>
                <a:latin typeface="Inter SemiBold"/>
                <a:ea typeface="Inter SemiBold"/>
                <a:cs typeface="Inter SemiBold"/>
                <a:sym typeface="Inter SemiBold"/>
              </a:endParaRPr>
            </a:p>
            <a:p>
              <a:pPr indent="0" lvl="0" marL="0" rtl="0" algn="l">
                <a:spcBef>
                  <a:spcPts val="450"/>
                </a:spcBef>
                <a:spcAft>
                  <a:spcPts val="0"/>
                </a:spcAft>
                <a:buNone/>
              </a:pPr>
              <a:r>
                <a:t/>
              </a:r>
              <a:endParaRPr b="0" sz="800">
                <a:solidFill>
                  <a:srgbClr val="C9D1D9"/>
                </a:solidFill>
                <a:latin typeface="Consolas"/>
                <a:ea typeface="Consolas"/>
                <a:cs typeface="Consolas"/>
                <a:sym typeface="Consolas"/>
              </a:endParaRPr>
            </a:p>
          </p:txBody>
        </p:sp>
      </p:grpSp>
      <p:grpSp>
        <p:nvGrpSpPr>
          <p:cNvPr id="864" name="Google Shape;864;p52"/>
          <p:cNvGrpSpPr/>
          <p:nvPr/>
        </p:nvGrpSpPr>
        <p:grpSpPr>
          <a:xfrm>
            <a:off x="6191250" y="1238250"/>
            <a:ext cx="2667000" cy="1762200"/>
            <a:chOff x="0" y="0"/>
            <a:chExt cx="2667000" cy="1762200"/>
          </a:xfrm>
        </p:grpSpPr>
        <p:sp>
          <p:nvSpPr>
            <p:cNvPr id="865" name="Google Shape;865;p52"/>
            <p:cNvSpPr/>
            <p:nvPr/>
          </p:nvSpPr>
          <p:spPr>
            <a:xfrm>
              <a:off x="0" y="0"/>
              <a:ext cx="2667000" cy="1762200"/>
            </a:xfrm>
            <a:prstGeom prst="roundRect">
              <a:avLst>
                <a:gd fmla="val 3243"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6" name="Google Shape;866;p52"/>
            <p:cNvSpPr txBox="1"/>
            <p:nvPr/>
          </p:nvSpPr>
          <p:spPr>
            <a:xfrm>
              <a:off x="133350" y="114300"/>
              <a:ext cx="2400300" cy="22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0" lang="it" sz="1100">
                  <a:solidFill>
                    <a:srgbClr val="8B5CF6"/>
                  </a:solidFill>
                  <a:latin typeface="Inter SemiBold"/>
                  <a:ea typeface="Inter SemiBold"/>
                  <a:cs typeface="Inter SemiBold"/>
                  <a:sym typeface="Inter SemiBold"/>
                </a:rPr>
                <a:t>3. Momentum Balance (Lmom)</a:t>
              </a:r>
              <a:endParaRPr b="0" sz="800">
                <a:solidFill>
                  <a:srgbClr val="C9D1D9"/>
                </a:solidFill>
                <a:latin typeface="Consolas"/>
                <a:ea typeface="Consolas"/>
                <a:cs typeface="Consolas"/>
                <a:sym typeface="Consolas"/>
              </a:endParaRPr>
            </a:p>
          </p:txBody>
        </p:sp>
      </p:grpSp>
      <p:grpSp>
        <p:nvGrpSpPr>
          <p:cNvPr id="867" name="Google Shape;867;p52"/>
          <p:cNvGrpSpPr/>
          <p:nvPr/>
        </p:nvGrpSpPr>
        <p:grpSpPr>
          <a:xfrm>
            <a:off x="285750" y="3143250"/>
            <a:ext cx="2442077" cy="1762200"/>
            <a:chOff x="0" y="0"/>
            <a:chExt cx="3619500" cy="1762200"/>
          </a:xfrm>
        </p:grpSpPr>
        <p:sp>
          <p:nvSpPr>
            <p:cNvPr id="868" name="Google Shape;868;p52"/>
            <p:cNvSpPr/>
            <p:nvPr/>
          </p:nvSpPr>
          <p:spPr>
            <a:xfrm>
              <a:off x="0" y="0"/>
              <a:ext cx="3619500" cy="1762200"/>
            </a:xfrm>
            <a:prstGeom prst="roundRect">
              <a:avLst>
                <a:gd fmla="val 3243"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9" name="Google Shape;869;p52"/>
            <p:cNvSpPr txBox="1"/>
            <p:nvPr/>
          </p:nvSpPr>
          <p:spPr>
            <a:xfrm>
              <a:off x="152400" y="133350"/>
              <a:ext cx="33147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F59E0B"/>
                  </a:solidFill>
                  <a:latin typeface="Inter SemiBold"/>
                  <a:ea typeface="Inter SemiBold"/>
                  <a:cs typeface="Inter SemiBold"/>
                  <a:sym typeface="Inter SemiBold"/>
                </a:rPr>
                <a:t>4. Boundary Conditions (Lbc)</a:t>
              </a:r>
              <a:endParaRPr b="0" sz="1100">
                <a:solidFill>
                  <a:srgbClr val="F59E0B"/>
                </a:solidFill>
                <a:latin typeface="Inter SemiBold"/>
                <a:ea typeface="Inter SemiBold"/>
                <a:cs typeface="Inter SemiBold"/>
                <a:sym typeface="Inter SemiBold"/>
              </a:endParaRPr>
            </a:p>
            <a:p>
              <a:pPr indent="0" lvl="0" marL="0" rtl="0" algn="l">
                <a:spcBef>
                  <a:spcPts val="750"/>
                </a:spcBef>
                <a:spcAft>
                  <a:spcPts val="0"/>
                </a:spcAft>
                <a:buNone/>
              </a:pPr>
              <a:r>
                <a:rPr b="0" lang="it" sz="950">
                  <a:solidFill>
                    <a:schemeClr val="lt1"/>
                  </a:solidFill>
                  <a:latin typeface="Inter SemiBold"/>
                  <a:ea typeface="Inter SemiBold"/>
                  <a:cs typeface="Inter SemiBold"/>
                  <a:sym typeface="Inter SemiBold"/>
                </a:rPr>
                <a:t>• No-Slip Kinematics</a:t>
              </a:r>
              <a:endParaRPr b="0" sz="950">
                <a:solidFill>
                  <a:schemeClr val="lt1"/>
                </a:solidFill>
                <a:latin typeface="Inter SemiBold"/>
                <a:ea typeface="Inter SemiBold"/>
                <a:cs typeface="Inter SemiBold"/>
                <a:sym typeface="Inter SemiBold"/>
              </a:endParaRPr>
            </a:p>
            <a:p>
              <a:pPr indent="0" lvl="0" marL="0" rtl="0" algn="l">
                <a:spcBef>
                  <a:spcPts val="600"/>
                </a:spcBef>
                <a:spcAft>
                  <a:spcPts val="0"/>
                </a:spcAft>
                <a:buNone/>
              </a:pPr>
              <a:r>
                <a:rPr b="0" lang="it" sz="950">
                  <a:solidFill>
                    <a:schemeClr val="lt1"/>
                  </a:solidFill>
                  <a:latin typeface="Inter SemiBold"/>
                  <a:ea typeface="Inter SemiBold"/>
                  <a:cs typeface="Inter SemiBold"/>
                  <a:sym typeface="Inter SemiBold"/>
                </a:rPr>
                <a:t>• Stress Tensor Anchor</a:t>
              </a:r>
              <a:endParaRPr b="0" sz="950">
                <a:solidFill>
                  <a:schemeClr val="lt1"/>
                </a:solidFill>
                <a:latin typeface="Inter SemiBold"/>
                <a:ea typeface="Inter SemiBold"/>
                <a:cs typeface="Inter SemiBold"/>
                <a:sym typeface="Inter SemiBold"/>
              </a:endParaRPr>
            </a:p>
            <a:p>
              <a:pPr indent="0" lvl="0" marL="0" rtl="0" algn="l">
                <a:spcBef>
                  <a:spcPts val="600"/>
                </a:spcBef>
                <a:spcAft>
                  <a:spcPts val="0"/>
                </a:spcAft>
                <a:buNone/>
              </a:pPr>
              <a:r>
                <a:rPr b="0" lang="it" sz="950">
                  <a:solidFill>
                    <a:schemeClr val="lt1"/>
                  </a:solidFill>
                  <a:latin typeface="Inter SemiBold"/>
                  <a:ea typeface="Inter SemiBold"/>
                  <a:cs typeface="Inter SemiBold"/>
                  <a:sym typeface="Inter SemiBold"/>
                </a:rPr>
                <a:t>• Pressure Point Reference</a:t>
              </a:r>
              <a:endParaRPr b="0" sz="950">
                <a:solidFill>
                  <a:schemeClr val="lt1"/>
                </a:solidFill>
                <a:latin typeface="Inter SemiBold"/>
                <a:ea typeface="Inter SemiBold"/>
                <a:cs typeface="Inter SemiBold"/>
                <a:sym typeface="Inter SemiBold"/>
              </a:endParaRPr>
            </a:p>
          </p:txBody>
        </p:sp>
      </p:grpSp>
      <p:cxnSp>
        <p:nvCxnSpPr>
          <p:cNvPr id="870" name="Google Shape;870;p52"/>
          <p:cNvCxnSpPr/>
          <p:nvPr/>
        </p:nvCxnSpPr>
        <p:spPr>
          <a:xfrm>
            <a:off x="381000" y="6343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871" name="Google Shape;871;p52"/>
          <p:cNvGrpSpPr/>
          <p:nvPr/>
        </p:nvGrpSpPr>
        <p:grpSpPr>
          <a:xfrm>
            <a:off x="2952750" y="3143250"/>
            <a:ext cx="5905500" cy="1762200"/>
            <a:chOff x="0" y="0"/>
            <a:chExt cx="4762500" cy="1762200"/>
          </a:xfrm>
        </p:grpSpPr>
        <p:sp>
          <p:nvSpPr>
            <p:cNvPr id="872" name="Google Shape;872;p52"/>
            <p:cNvSpPr/>
            <p:nvPr/>
          </p:nvSpPr>
          <p:spPr>
            <a:xfrm>
              <a:off x="0" y="0"/>
              <a:ext cx="4762500" cy="1762200"/>
            </a:xfrm>
            <a:prstGeom prst="roundRect">
              <a:avLst>
                <a:gd fmla="val 3243"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3" name="Google Shape;873;p52"/>
            <p:cNvSpPr txBox="1"/>
            <p:nvPr/>
          </p:nvSpPr>
          <p:spPr>
            <a:xfrm>
              <a:off x="152400" y="133350"/>
              <a:ext cx="4457700" cy="14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58A6FF"/>
                  </a:solidFill>
                  <a:latin typeface="Inter SemiBold"/>
                  <a:ea typeface="Inter SemiBold"/>
                  <a:cs typeface="Inter SemiBold"/>
                  <a:sym typeface="Inter SemiBold"/>
                </a:rPr>
                <a:t>5. Staged Training Strategy</a:t>
              </a:r>
              <a:endParaRPr b="0" sz="1100">
                <a:solidFill>
                  <a:srgbClr val="58A6FF"/>
                </a:solidFill>
                <a:latin typeface="Inter SemiBold"/>
                <a:ea typeface="Inter SemiBold"/>
                <a:cs typeface="Inter SemiBold"/>
                <a:sym typeface="Inter SemiBold"/>
              </a:endParaRPr>
            </a:p>
            <a:p>
              <a:pPr indent="0" lvl="0" marL="0" rtl="0" algn="l">
                <a:spcBef>
                  <a:spcPts val="600"/>
                </a:spcBef>
                <a:spcAft>
                  <a:spcPts val="0"/>
                </a:spcAft>
                <a:buNone/>
              </a:pPr>
              <a:r>
                <a:rPr b="0" lang="it" sz="850">
                  <a:solidFill>
                    <a:srgbClr val="79C0FF"/>
                  </a:solidFill>
                  <a:latin typeface="Inter SemiBold"/>
                  <a:ea typeface="Inter SemiBold"/>
                  <a:cs typeface="Inter SemiBold"/>
                  <a:sym typeface="Inter SemiBold"/>
                </a:rPr>
                <a:t>• Phase 1 (Rheology &amp; Kinematics): </a:t>
              </a:r>
              <a:r>
                <a:rPr b="0" lang="it" sz="850">
                  <a:solidFill>
                    <a:srgbClr val="C9D1D9"/>
                  </a:solidFill>
                  <a:latin typeface="Inter"/>
                  <a:ea typeface="Inter"/>
                  <a:cs typeface="Inter"/>
                  <a:sym typeface="Inter"/>
                </a:rPr>
                <a:t>wmom = 0, wconst &gt; 0 → Trains stream function ψ, stress τ, and learns inverse parameters (λ, μp, α, ε).</a:t>
              </a:r>
              <a:endParaRPr b="0" sz="850">
                <a:solidFill>
                  <a:srgbClr val="79C0FF"/>
                </a:solidFill>
                <a:latin typeface="Inter SemiBold"/>
                <a:ea typeface="Inter SemiBold"/>
                <a:cs typeface="Inter SemiBold"/>
                <a:sym typeface="Inter SemiBold"/>
              </a:endParaRPr>
            </a:p>
            <a:p>
              <a:pPr indent="0" lvl="0" marL="0" rtl="0" algn="l">
                <a:spcBef>
                  <a:spcPts val="600"/>
                </a:spcBef>
                <a:spcAft>
                  <a:spcPts val="0"/>
                </a:spcAft>
                <a:buNone/>
              </a:pPr>
              <a:r>
                <a:rPr b="0" lang="it" sz="850">
                  <a:solidFill>
                    <a:srgbClr val="79C0FF"/>
                  </a:solidFill>
                  <a:latin typeface="Inter SemiBold"/>
                  <a:ea typeface="Inter SemiBold"/>
                  <a:cs typeface="Inter SemiBold"/>
                  <a:sym typeface="Inter SemiBold"/>
                </a:rPr>
                <a:t>• Phase 2 (Hydrodynamics &amp; Pressure): </a:t>
              </a:r>
              <a:r>
                <a:rPr b="0" lang="it" sz="850">
                  <a:solidFill>
                    <a:srgbClr val="C9D1D9"/>
                  </a:solidFill>
                  <a:latin typeface="Inter"/>
                  <a:ea typeface="Inter"/>
                  <a:cs typeface="Inter"/>
                  <a:sym typeface="Inter"/>
                </a:rPr>
                <a:t>w</a:t>
              </a:r>
              <a:r>
                <a:rPr lang="it" sz="850">
                  <a:solidFill>
                    <a:srgbClr val="C9D1D9"/>
                  </a:solidFill>
                  <a:latin typeface="Inter"/>
                  <a:ea typeface="Inter"/>
                  <a:cs typeface="Inter"/>
                  <a:sym typeface="Inter"/>
                </a:rPr>
                <a:t>const =0, w</a:t>
              </a:r>
              <a:r>
                <a:rPr b="0" lang="it" sz="850">
                  <a:solidFill>
                    <a:srgbClr val="C9D1D9"/>
                  </a:solidFill>
                  <a:latin typeface="Inter"/>
                  <a:ea typeface="Inter"/>
                  <a:cs typeface="Inter"/>
                  <a:sym typeface="Inter"/>
                </a:rPr>
                <a:t>mom &gt; 0, τ frozen → Solves pressure field p and solvent viscosity μs with ψ fine-tuned at reduced learning rate.</a:t>
              </a:r>
              <a:endParaRPr b="0" sz="850">
                <a:solidFill>
                  <a:srgbClr val="79C0FF"/>
                </a:solidFill>
                <a:latin typeface="Inter SemiBold"/>
                <a:ea typeface="Inter SemiBold"/>
                <a:cs typeface="Inter SemiBold"/>
                <a:sym typeface="Inter SemiBold"/>
              </a:endParaRPr>
            </a:p>
          </p:txBody>
        </p:sp>
      </p:grpSp>
      <p:sp>
        <p:nvSpPr>
          <p:cNvPr id="874" name="Google Shape;874;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875" name="Google Shape;875;p52"/>
          <p:cNvPicPr preferRelativeResize="0"/>
          <p:nvPr/>
        </p:nvPicPr>
        <p:blipFill rotWithShape="1">
          <a:blip r:embed="rId4">
            <a:alphaModFix/>
          </a:blip>
          <a:srcRect b="0" l="0" r="0" t="0"/>
          <a:stretch/>
        </p:blipFill>
        <p:spPr>
          <a:xfrm>
            <a:off x="360150" y="1754813"/>
            <a:ext cx="2417700" cy="748200"/>
          </a:xfrm>
          <a:prstGeom prst="rect">
            <a:avLst/>
          </a:prstGeom>
          <a:noFill/>
          <a:ln>
            <a:noFill/>
          </a:ln>
        </p:spPr>
      </p:pic>
      <p:pic>
        <p:nvPicPr>
          <p:cNvPr id="876" name="Google Shape;876;p52"/>
          <p:cNvPicPr preferRelativeResize="0"/>
          <p:nvPr/>
        </p:nvPicPr>
        <p:blipFill rotWithShape="1">
          <a:blip r:embed="rId5">
            <a:alphaModFix/>
          </a:blip>
          <a:srcRect b="0" l="0" r="0" t="0"/>
          <a:stretch/>
        </p:blipFill>
        <p:spPr>
          <a:xfrm>
            <a:off x="3440250" y="1754825"/>
            <a:ext cx="2263500" cy="980700"/>
          </a:xfrm>
          <a:prstGeom prst="rect">
            <a:avLst/>
          </a:prstGeom>
          <a:noFill/>
          <a:ln>
            <a:noFill/>
          </a:ln>
        </p:spPr>
      </p:pic>
      <p:pic>
        <p:nvPicPr>
          <p:cNvPr id="877" name="Google Shape;877;p52"/>
          <p:cNvPicPr preferRelativeResize="0"/>
          <p:nvPr/>
        </p:nvPicPr>
        <p:blipFill rotWithShape="1">
          <a:blip r:embed="rId6">
            <a:alphaModFix/>
          </a:blip>
          <a:srcRect b="0" l="0" r="0" t="0"/>
          <a:stretch/>
        </p:blipFill>
        <p:spPr>
          <a:xfrm>
            <a:off x="6303750" y="1790513"/>
            <a:ext cx="2442000" cy="796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0F17"/>
        </a:solidFill>
      </p:bgPr>
    </p:bg>
    <p:spTree>
      <p:nvGrpSpPr>
        <p:cNvPr id="881" name="Shape 881"/>
        <p:cNvGrpSpPr/>
        <p:nvPr/>
      </p:nvGrpSpPr>
      <p:grpSpPr>
        <a:xfrm>
          <a:off x="0" y="0"/>
          <a:ext cx="0" cy="0"/>
          <a:chOff x="0" y="0"/>
          <a:chExt cx="0" cy="0"/>
        </a:xfrm>
      </p:grpSpPr>
      <p:sp>
        <p:nvSpPr>
          <p:cNvPr id="882" name="Google Shape;882;p53"/>
          <p:cNvSpPr txBox="1"/>
          <p:nvPr/>
        </p:nvSpPr>
        <p:spPr>
          <a:xfrm>
            <a:off x="285750" y="238125"/>
            <a:ext cx="8572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F8F9FA"/>
                </a:solidFill>
                <a:latin typeface="Inter"/>
                <a:ea typeface="Inter"/>
                <a:cs typeface="Inter"/>
                <a:sym typeface="Inter"/>
              </a:rPr>
              <a:t>PINN Training Setup &amp; Parameters </a:t>
            </a:r>
            <a:r>
              <a:rPr b="0" lang="it" sz="1400">
                <a:solidFill>
                  <a:srgbClr val="79C0FF"/>
                </a:solidFill>
                <a:latin typeface="Inter SemiBold"/>
                <a:ea typeface="Inter SemiBold"/>
                <a:cs typeface="Inter SemiBold"/>
                <a:sym typeface="Inter SemiBold"/>
              </a:rPr>
              <a:t>[Direct / Forward Problem]</a:t>
            </a:r>
            <a:endParaRPr b="1" sz="2000">
              <a:solidFill>
                <a:srgbClr val="F8F9FA"/>
              </a:solidFill>
              <a:latin typeface="Inter"/>
              <a:ea typeface="Inter"/>
              <a:cs typeface="Inter"/>
              <a:sym typeface="Inter"/>
            </a:endParaRPr>
          </a:p>
        </p:txBody>
      </p:sp>
      <p:grpSp>
        <p:nvGrpSpPr>
          <p:cNvPr id="883" name="Google Shape;883;p53"/>
          <p:cNvGrpSpPr/>
          <p:nvPr/>
        </p:nvGrpSpPr>
        <p:grpSpPr>
          <a:xfrm>
            <a:off x="285750" y="809625"/>
            <a:ext cx="4238700" cy="1952700"/>
            <a:chOff x="0" y="0"/>
            <a:chExt cx="4238700" cy="1952700"/>
          </a:xfrm>
        </p:grpSpPr>
        <p:sp>
          <p:nvSpPr>
            <p:cNvPr id="884" name="Google Shape;884;p53"/>
            <p:cNvSpPr/>
            <p:nvPr/>
          </p:nvSpPr>
          <p:spPr>
            <a:xfrm>
              <a:off x="0" y="0"/>
              <a:ext cx="4238700" cy="1952700"/>
            </a:xfrm>
            <a:prstGeom prst="roundRect">
              <a:avLst>
                <a:gd fmla="val 2925"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5" name="Google Shape;885;p53"/>
            <p:cNvSpPr txBox="1"/>
            <p:nvPr/>
          </p:nvSpPr>
          <p:spPr>
            <a:xfrm>
              <a:off x="152400" y="114300"/>
              <a:ext cx="3933900" cy="2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1100">
                  <a:solidFill>
                    <a:srgbClr val="58A6FF"/>
                  </a:solidFill>
                  <a:latin typeface="Inter SemiBold"/>
                  <a:ea typeface="Inter SemiBold"/>
                  <a:cs typeface="Inter SemiBold"/>
                  <a:sym typeface="Inter SemiBold"/>
                </a:rPr>
                <a:t>1. Network Architecture</a:t>
              </a:r>
              <a:endParaRPr b="0" i="0" sz="1100">
                <a:solidFill>
                  <a:srgbClr val="58A6FF"/>
                </a:solidFill>
                <a:latin typeface="Inter SemiBold"/>
                <a:ea typeface="Inter SemiBold"/>
                <a:cs typeface="Inter SemiBold"/>
                <a:sym typeface="Inter SemiBold"/>
              </a:endParaRPr>
            </a:p>
          </p:txBody>
        </p:sp>
        <p:sp>
          <p:nvSpPr>
            <p:cNvPr id="886" name="Google Shape;886;p53"/>
            <p:cNvSpPr txBox="1"/>
            <p:nvPr/>
          </p:nvSpPr>
          <p:spPr>
            <a:xfrm>
              <a:off x="152400" y="381000"/>
              <a:ext cx="39339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65">
                  <a:solidFill>
                    <a:srgbClr val="8B949E"/>
                  </a:solidFill>
                  <a:latin typeface="Inter SemiBold"/>
                  <a:ea typeface="Inter SemiBold"/>
                  <a:cs typeface="Inter SemiBold"/>
                  <a:sym typeface="Inter SemiBold"/>
                </a:rPr>
                <a:t>Structure:</a:t>
              </a:r>
              <a:r>
                <a:rPr b="0" i="0" lang="it" sz="808">
                  <a:solidFill>
                    <a:srgbClr val="E6EDF3"/>
                  </a:solidFill>
                  <a:latin typeface="Inter"/>
                  <a:ea typeface="Inter"/>
                  <a:cs typeface="Inter"/>
                  <a:sym typeface="Inter"/>
                </a:rPr>
                <a:t> 3 Decoupled Heads</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0"/>
                </a:spcAft>
                <a:buNone/>
              </a:pPr>
              <a:r>
                <a:rPr b="0" i="0" lang="it" sz="765">
                  <a:solidFill>
                    <a:srgbClr val="8B949E"/>
                  </a:solidFill>
                  <a:latin typeface="Inter SemiBold"/>
                  <a:ea typeface="Inter SemiBold"/>
                  <a:cs typeface="Inter SemiBold"/>
                  <a:sym typeface="Inter SemiBold"/>
                </a:rPr>
                <a:t>Inputs/Outputs:</a:t>
              </a:r>
              <a:br>
                <a:rPr b="0" i="0" lang="it" sz="765">
                  <a:solidFill>
                    <a:srgbClr val="8B949E"/>
                  </a:solidFill>
                  <a:latin typeface="Inter SemiBold"/>
                  <a:ea typeface="Inter SemiBold"/>
                  <a:cs typeface="Inter SemiBold"/>
                  <a:sym typeface="Inter SemiBold"/>
                </a:rPr>
              </a:br>
              <a:r>
                <a:rPr b="0" i="0" lang="it" sz="765">
                  <a:solidFill>
                    <a:srgbClr val="FFA657"/>
                  </a:solidFill>
                  <a:latin typeface="Consolas"/>
                  <a:ea typeface="Consolas"/>
                  <a:cs typeface="Consolas"/>
                  <a:sym typeface="Consolas"/>
                </a:rPr>
                <a:t>(x,y) → ψ (1), p (1), τ (3: τxx, τxy, τyy)</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0"/>
                </a:spcAft>
                <a:buNone/>
              </a:pPr>
              <a:r>
                <a:rPr b="0" i="0" lang="it" sz="765">
                  <a:solidFill>
                    <a:srgbClr val="8B949E"/>
                  </a:solidFill>
                  <a:latin typeface="Inter SemiBold"/>
                  <a:ea typeface="Inter SemiBold"/>
                  <a:cs typeface="Inter SemiBold"/>
                  <a:sym typeface="Inter SemiBold"/>
                </a:rPr>
                <a:t>Layers:</a:t>
              </a:r>
              <a:r>
                <a:rPr b="0" i="0" lang="it" sz="808">
                  <a:solidFill>
                    <a:srgbClr val="E6EDF3"/>
                  </a:solidFill>
                  <a:latin typeface="Inter"/>
                  <a:ea typeface="Inter"/>
                  <a:cs typeface="Inter"/>
                  <a:sym typeface="Inter"/>
                </a:rPr>
                <a:t> 8 hidden layers × 128 neurons</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0"/>
                </a:spcAft>
                <a:buNone/>
              </a:pPr>
              <a:r>
                <a:rPr b="0" i="0" lang="it" sz="765">
                  <a:solidFill>
                    <a:srgbClr val="8B949E"/>
                  </a:solidFill>
                  <a:latin typeface="Inter SemiBold"/>
                  <a:ea typeface="Inter SemiBold"/>
                  <a:cs typeface="Inter SemiBold"/>
                  <a:sym typeface="Inter SemiBold"/>
                </a:rPr>
                <a:t>Activation: </a:t>
              </a:r>
              <a:r>
                <a:rPr b="0" i="0" lang="it" sz="808">
                  <a:solidFill>
                    <a:srgbClr val="7EE787"/>
                  </a:solidFill>
                  <a:latin typeface="Inter SemiBold"/>
                  <a:ea typeface="Inter SemiBold"/>
                  <a:cs typeface="Inter SemiBold"/>
                  <a:sym typeface="Inter SemiBold"/>
                </a:rPr>
                <a:t>SiLU</a:t>
              </a:r>
              <a:r>
                <a:rPr b="0" i="0" lang="it" sz="808">
                  <a:solidFill>
                    <a:srgbClr val="E6EDF3"/>
                  </a:solidFill>
                  <a:latin typeface="Inter"/>
                  <a:ea typeface="Inter"/>
                  <a:cs typeface="Inter"/>
                  <a:sym typeface="Inter"/>
                </a:rPr>
                <a:t> (smooth 2nd derivatives)</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450"/>
                </a:spcAft>
                <a:buNone/>
              </a:pPr>
              <a:r>
                <a:rPr b="0" i="0" lang="it" sz="765">
                  <a:solidFill>
                    <a:srgbClr val="8B949E"/>
                  </a:solidFill>
                  <a:latin typeface="Inter SemiBold"/>
                  <a:ea typeface="Inter SemiBold"/>
                  <a:cs typeface="Inter SemiBold"/>
                  <a:sym typeface="Inter SemiBold"/>
                </a:rPr>
                <a:t>Weights:</a:t>
              </a:r>
              <a:r>
                <a:rPr b="0" i="0" lang="it" sz="808">
                  <a:solidFill>
                    <a:srgbClr val="E6EDF3"/>
                  </a:solidFill>
                  <a:latin typeface="Inter"/>
                  <a:ea typeface="Inter"/>
                  <a:cs typeface="Inter"/>
                  <a:sym typeface="Inter"/>
                </a:rPr>
                <a:t> Xavier Normal (Zero-init p &amp; τ last layer)</a:t>
              </a:r>
              <a:endParaRPr b="0" i="0" sz="765">
                <a:solidFill>
                  <a:srgbClr val="8B949E"/>
                </a:solidFill>
                <a:latin typeface="Inter SemiBold"/>
                <a:ea typeface="Inter SemiBold"/>
                <a:cs typeface="Inter SemiBold"/>
                <a:sym typeface="Inter SemiBold"/>
              </a:endParaRPr>
            </a:p>
          </p:txBody>
        </p:sp>
      </p:grpSp>
      <p:grpSp>
        <p:nvGrpSpPr>
          <p:cNvPr id="887" name="Google Shape;887;p53"/>
          <p:cNvGrpSpPr/>
          <p:nvPr/>
        </p:nvGrpSpPr>
        <p:grpSpPr>
          <a:xfrm>
            <a:off x="4619625" y="809625"/>
            <a:ext cx="4238700" cy="1952700"/>
            <a:chOff x="1428750" y="0"/>
            <a:chExt cx="4238700" cy="1952700"/>
          </a:xfrm>
        </p:grpSpPr>
        <p:sp>
          <p:nvSpPr>
            <p:cNvPr id="888" name="Google Shape;888;p53"/>
            <p:cNvSpPr/>
            <p:nvPr/>
          </p:nvSpPr>
          <p:spPr>
            <a:xfrm>
              <a:off x="1428750" y="0"/>
              <a:ext cx="4238700" cy="1952700"/>
            </a:xfrm>
            <a:prstGeom prst="roundRect">
              <a:avLst>
                <a:gd fmla="val 2925"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9" name="Google Shape;889;p53"/>
            <p:cNvSpPr txBox="1"/>
            <p:nvPr/>
          </p:nvSpPr>
          <p:spPr>
            <a:xfrm>
              <a:off x="1581150" y="114300"/>
              <a:ext cx="3933900" cy="2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1100">
                  <a:solidFill>
                    <a:srgbClr val="58A6FF"/>
                  </a:solidFill>
                  <a:latin typeface="Inter SemiBold"/>
                  <a:ea typeface="Inter SemiBold"/>
                  <a:cs typeface="Inter SemiBold"/>
                  <a:sym typeface="Inter SemiBold"/>
                </a:rPr>
                <a:t>2. Staged Optimization Strategy</a:t>
              </a:r>
              <a:endParaRPr b="0" i="0" sz="1100">
                <a:solidFill>
                  <a:srgbClr val="58A6FF"/>
                </a:solidFill>
                <a:latin typeface="Inter SemiBold"/>
                <a:ea typeface="Inter SemiBold"/>
                <a:cs typeface="Inter SemiBold"/>
                <a:sym typeface="Inter SemiBold"/>
              </a:endParaRPr>
            </a:p>
          </p:txBody>
        </p:sp>
        <p:sp>
          <p:nvSpPr>
            <p:cNvPr id="890" name="Google Shape;890;p53"/>
            <p:cNvSpPr/>
            <p:nvPr/>
          </p:nvSpPr>
          <p:spPr>
            <a:xfrm>
              <a:off x="1581150" y="361950"/>
              <a:ext cx="3933900" cy="685800"/>
            </a:xfrm>
            <a:prstGeom prst="roundRect">
              <a:avLst>
                <a:gd fmla="val 5555"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1" name="Google Shape;891;p53"/>
            <p:cNvSpPr txBox="1"/>
            <p:nvPr/>
          </p:nvSpPr>
          <p:spPr>
            <a:xfrm>
              <a:off x="1657350" y="419100"/>
              <a:ext cx="37815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86">
                  <a:solidFill>
                    <a:srgbClr val="79C0FF"/>
                  </a:solidFill>
                  <a:latin typeface="Inter SemiBold"/>
                  <a:ea typeface="Inter SemiBold"/>
                  <a:cs typeface="Inter SemiBold"/>
                  <a:sym typeface="Inter SemiBold"/>
                </a:rPr>
                <a:t>PHASE 1: Kinematics &amp; Rheology</a:t>
              </a:r>
              <a:endParaRPr b="0" i="0" sz="786">
                <a:solidFill>
                  <a:srgbClr val="79C0FF"/>
                </a:solidFill>
                <a:latin typeface="Inter SemiBold"/>
                <a:ea typeface="Inter SemiBold"/>
                <a:cs typeface="Inter SemiBold"/>
                <a:sym typeface="Inter SemiBold"/>
              </a:endParaRPr>
            </a:p>
            <a:p>
              <a:pPr indent="0" lvl="0" marL="0" rtl="0" algn="l">
                <a:spcBef>
                  <a:spcPts val="225"/>
                </a:spcBef>
                <a:spcAft>
                  <a:spcPts val="0"/>
                </a:spcAft>
                <a:buNone/>
              </a:pPr>
              <a:r>
                <a:rPr b="0" i="0" lang="it" sz="786">
                  <a:solidFill>
                    <a:srgbClr val="C9D1D9"/>
                  </a:solidFill>
                  <a:latin typeface="Inter"/>
                  <a:ea typeface="Inter"/>
                  <a:cs typeface="Inter"/>
                  <a:sym typeface="Inter"/>
                </a:rPr>
                <a:t>• Train ψ &amp; τ; Freeze p (Wmom=0, Wcon=1.0)</a:t>
              </a:r>
              <a:endParaRPr b="0" i="0" sz="786">
                <a:solidFill>
                  <a:srgbClr val="79C0FF"/>
                </a:solidFill>
                <a:latin typeface="Inter SemiBold"/>
                <a:ea typeface="Inter SemiBold"/>
                <a:cs typeface="Inter SemiBold"/>
                <a:sym typeface="Inter SemiBold"/>
              </a:endParaRPr>
            </a:p>
            <a:p>
              <a:pPr indent="0" lvl="0" marL="0" rtl="0" algn="l">
                <a:spcBef>
                  <a:spcPts val="225"/>
                </a:spcBef>
                <a:spcAft>
                  <a:spcPts val="225"/>
                </a:spcAft>
                <a:buNone/>
              </a:pPr>
              <a:r>
                <a:rPr b="0" i="0" lang="it" sz="786">
                  <a:solidFill>
                    <a:srgbClr val="7EE787"/>
                  </a:solidFill>
                  <a:latin typeface="Inter SemiBold"/>
                  <a:ea typeface="Inter SemiBold"/>
                  <a:cs typeface="Inter SemiBold"/>
                  <a:sym typeface="Inter SemiBold"/>
                </a:rPr>
                <a:t>• Fixed Parameters:</a:t>
              </a:r>
              <a:r>
                <a:rPr b="0" i="0" lang="it" sz="786">
                  <a:solidFill>
                    <a:srgbClr val="C9D1D9"/>
                  </a:solidFill>
                  <a:latin typeface="Inter"/>
                  <a:ea typeface="Inter"/>
                  <a:cs typeface="Inter"/>
                  <a:sym typeface="Inter"/>
                </a:rPr>
                <a:t> λ, μp, α, ε (No inverse learning)</a:t>
              </a:r>
              <a:endParaRPr b="0" i="0" sz="786">
                <a:solidFill>
                  <a:srgbClr val="79C0FF"/>
                </a:solidFill>
                <a:latin typeface="Inter SemiBold"/>
                <a:ea typeface="Inter SemiBold"/>
                <a:cs typeface="Inter SemiBold"/>
                <a:sym typeface="Inter SemiBold"/>
              </a:endParaRPr>
            </a:p>
          </p:txBody>
        </p:sp>
        <p:sp>
          <p:nvSpPr>
            <p:cNvPr id="892" name="Google Shape;892;p53"/>
            <p:cNvSpPr/>
            <p:nvPr/>
          </p:nvSpPr>
          <p:spPr>
            <a:xfrm>
              <a:off x="1581150" y="1104900"/>
              <a:ext cx="3933900" cy="743100"/>
            </a:xfrm>
            <a:prstGeom prst="roundRect">
              <a:avLst>
                <a:gd fmla="val 5127"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3" name="Google Shape;893;p53"/>
            <p:cNvSpPr txBox="1"/>
            <p:nvPr/>
          </p:nvSpPr>
          <p:spPr>
            <a:xfrm>
              <a:off x="1657350" y="1162050"/>
              <a:ext cx="37815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27">
                  <a:solidFill>
                    <a:srgbClr val="FFA657"/>
                  </a:solidFill>
                  <a:latin typeface="Inter SemiBold"/>
                  <a:ea typeface="Inter SemiBold"/>
                  <a:cs typeface="Inter SemiBold"/>
                  <a:sym typeface="Inter SemiBold"/>
                </a:rPr>
                <a:t>PHASE 2: Hydrodynamics &amp; Pressure</a:t>
              </a:r>
              <a:endParaRPr b="0" i="0" sz="727">
                <a:solidFill>
                  <a:srgbClr val="FFA657"/>
                </a:solidFill>
                <a:latin typeface="Inter SemiBold"/>
                <a:ea typeface="Inter SemiBold"/>
                <a:cs typeface="Inter SemiBold"/>
                <a:sym typeface="Inter SemiBold"/>
              </a:endParaRPr>
            </a:p>
            <a:p>
              <a:pPr indent="0" lvl="0" marL="0" rtl="0" algn="l">
                <a:spcBef>
                  <a:spcPts val="225"/>
                </a:spcBef>
                <a:spcAft>
                  <a:spcPts val="0"/>
                </a:spcAft>
                <a:buNone/>
              </a:pPr>
              <a:r>
                <a:rPr b="0" i="0" lang="it" sz="727">
                  <a:solidFill>
                    <a:srgbClr val="C9D1D9"/>
                  </a:solidFill>
                  <a:latin typeface="Inter"/>
                  <a:ea typeface="Inter"/>
                  <a:cs typeface="Inter"/>
                  <a:sym typeface="Inter"/>
                </a:rPr>
                <a:t>• Freeze τ (precomputed ∇·τ); Train p &amp; ψ</a:t>
              </a:r>
              <a:endParaRPr b="0" i="0" sz="727">
                <a:solidFill>
                  <a:srgbClr val="FFA657"/>
                </a:solidFill>
                <a:latin typeface="Inter SemiBold"/>
                <a:ea typeface="Inter SemiBold"/>
                <a:cs typeface="Inter SemiBold"/>
                <a:sym typeface="Inter SemiBold"/>
              </a:endParaRPr>
            </a:p>
            <a:p>
              <a:pPr indent="0" lvl="0" marL="0" rtl="0" algn="l">
                <a:spcBef>
                  <a:spcPts val="225"/>
                </a:spcBef>
                <a:spcAft>
                  <a:spcPts val="0"/>
                </a:spcAft>
                <a:buNone/>
              </a:pPr>
              <a:r>
                <a:rPr b="0" i="0" lang="it" sz="727">
                  <a:solidFill>
                    <a:srgbClr val="C9D1D9"/>
                  </a:solidFill>
                  <a:latin typeface="Inter"/>
                  <a:ea typeface="Inter"/>
                  <a:cs typeface="Inter"/>
                  <a:sym typeface="Inter"/>
                </a:rPr>
                <a:t>• </a:t>
              </a:r>
              <a:r>
                <a:rPr b="0" i="0" lang="it" sz="727">
                  <a:solidFill>
                    <a:srgbClr val="7EE787"/>
                  </a:solidFill>
                  <a:latin typeface="Inter"/>
                  <a:ea typeface="Inter"/>
                  <a:cs typeface="Inter"/>
                  <a:sym typeface="Inter"/>
                </a:rPr>
                <a:t>Micro-unfreezing:</a:t>
              </a:r>
              <a:r>
                <a:rPr b="0" i="0" lang="it" sz="727">
                  <a:solidFill>
                    <a:srgbClr val="C9D1D9"/>
                  </a:solidFill>
                  <a:latin typeface="Inter"/>
                  <a:ea typeface="Inter"/>
                  <a:cs typeface="Inter"/>
                  <a:sym typeface="Inter"/>
                </a:rPr>
                <a:t> ψ active at LR/10</a:t>
              </a:r>
              <a:endParaRPr b="0" i="0" sz="727">
                <a:solidFill>
                  <a:srgbClr val="FFA657"/>
                </a:solidFill>
                <a:latin typeface="Inter SemiBold"/>
                <a:ea typeface="Inter SemiBold"/>
                <a:cs typeface="Inter SemiBold"/>
                <a:sym typeface="Inter SemiBold"/>
              </a:endParaRPr>
            </a:p>
            <a:p>
              <a:pPr indent="0" lvl="0" marL="0" rtl="0" algn="l">
                <a:spcBef>
                  <a:spcPts val="225"/>
                </a:spcBef>
                <a:spcAft>
                  <a:spcPts val="225"/>
                </a:spcAft>
                <a:buNone/>
              </a:pPr>
              <a:r>
                <a:rPr b="0" i="0" lang="it" sz="727">
                  <a:solidFill>
                    <a:srgbClr val="7EE787"/>
                  </a:solidFill>
                  <a:latin typeface="Inter SemiBold"/>
                  <a:ea typeface="Inter SemiBold"/>
                  <a:cs typeface="Inter SemiBold"/>
                  <a:sym typeface="Inter SemiBold"/>
                </a:rPr>
                <a:t>• Known solvent viscosity μs</a:t>
              </a:r>
              <a:r>
                <a:rPr b="0" i="0" lang="it" sz="727">
                  <a:solidFill>
                    <a:srgbClr val="C9D1D9"/>
                  </a:solidFill>
                  <a:latin typeface="Inter"/>
                  <a:ea typeface="Inter"/>
                  <a:cs typeface="Inter"/>
                  <a:sym typeface="Inter"/>
                </a:rPr>
                <a:t> (Wmom=1.0, Wcon=0)</a:t>
              </a:r>
              <a:endParaRPr b="0" i="0" sz="727">
                <a:solidFill>
                  <a:srgbClr val="FFA657"/>
                </a:solidFill>
                <a:latin typeface="Inter SemiBold"/>
                <a:ea typeface="Inter SemiBold"/>
                <a:cs typeface="Inter SemiBold"/>
                <a:sym typeface="Inter SemiBold"/>
              </a:endParaRPr>
            </a:p>
          </p:txBody>
        </p:sp>
      </p:grpSp>
      <p:grpSp>
        <p:nvGrpSpPr>
          <p:cNvPr id="894" name="Google Shape;894;p53"/>
          <p:cNvGrpSpPr/>
          <p:nvPr/>
        </p:nvGrpSpPr>
        <p:grpSpPr>
          <a:xfrm>
            <a:off x="285750" y="2905125"/>
            <a:ext cx="4238700" cy="2000100"/>
            <a:chOff x="0" y="0"/>
            <a:chExt cx="4238700" cy="2000100"/>
          </a:xfrm>
        </p:grpSpPr>
        <p:sp>
          <p:nvSpPr>
            <p:cNvPr id="895" name="Google Shape;895;p53"/>
            <p:cNvSpPr/>
            <p:nvPr/>
          </p:nvSpPr>
          <p:spPr>
            <a:xfrm>
              <a:off x="0" y="0"/>
              <a:ext cx="4238700" cy="2000100"/>
            </a:xfrm>
            <a:prstGeom prst="roundRect">
              <a:avLst>
                <a:gd fmla="val 2857"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6" name="Google Shape;896;p53"/>
            <p:cNvSpPr txBox="1"/>
            <p:nvPr/>
          </p:nvSpPr>
          <p:spPr>
            <a:xfrm>
              <a:off x="152400" y="114300"/>
              <a:ext cx="3933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58A6FF"/>
                  </a:solidFill>
                  <a:latin typeface="Inter SemiBold"/>
                  <a:ea typeface="Inter SemiBold"/>
                  <a:cs typeface="Inter SemiBold"/>
                  <a:sym typeface="Inter SemiBold"/>
                </a:rPr>
                <a:t>4. Multi-Stage Precision &amp; Solvers</a:t>
              </a:r>
              <a:endParaRPr b="0" sz="1100">
                <a:solidFill>
                  <a:srgbClr val="58A6FF"/>
                </a:solidFill>
                <a:latin typeface="Inter SemiBold"/>
                <a:ea typeface="Inter SemiBold"/>
                <a:cs typeface="Inter SemiBold"/>
                <a:sym typeface="Inter SemiBold"/>
              </a:endParaRPr>
            </a:p>
          </p:txBody>
        </p:sp>
        <p:sp>
          <p:nvSpPr>
            <p:cNvPr id="897" name="Google Shape;897;p53"/>
            <p:cNvSpPr txBox="1"/>
            <p:nvPr/>
          </p:nvSpPr>
          <p:spPr>
            <a:xfrm>
              <a:off x="152400" y="361950"/>
              <a:ext cx="1905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08">
                  <a:solidFill>
                    <a:srgbClr val="58A6FF"/>
                  </a:solidFill>
                  <a:latin typeface="Inter SemiBold"/>
                  <a:ea typeface="Inter SemiBold"/>
                  <a:cs typeface="Inter SemiBold"/>
                  <a:sym typeface="Inter SemiBold"/>
                </a:rPr>
                <a:t>Stage 1: Adam </a:t>
              </a:r>
              <a:endParaRPr b="0" sz="808">
                <a:solidFill>
                  <a:srgbClr val="58A6FF"/>
                </a:solidFill>
                <a:latin typeface="Inter SemiBold"/>
                <a:ea typeface="Inter SemiBold"/>
                <a:cs typeface="Inter SemiBold"/>
                <a:sym typeface="Inter SemiBold"/>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Epochs:</a:t>
              </a:r>
              <a:r>
                <a:rPr b="0" lang="it" sz="808">
                  <a:solidFill>
                    <a:srgbClr val="E6EDF3"/>
                  </a:solidFill>
                  <a:latin typeface="Inter"/>
                  <a:ea typeface="Inter"/>
                  <a:cs typeface="Inter"/>
                  <a:sym typeface="Inter"/>
                </a:rPr>
                <a:t> 40k (Scratch) / 20k (TL)</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Base LR:</a:t>
              </a:r>
              <a:r>
                <a:rPr b="0" lang="it" sz="808">
                  <a:solidFill>
                    <a:srgbClr val="E6EDF3"/>
                  </a:solidFill>
                  <a:latin typeface="Inter"/>
                  <a:ea typeface="Inter"/>
                  <a:cs typeface="Inter"/>
                  <a:sym typeface="Inter"/>
                </a:rPr>
                <a:t> 2.5 × 10-3</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Scheduler:</a:t>
              </a:r>
              <a:r>
                <a:rPr b="0" lang="it" sz="808">
                  <a:solidFill>
                    <a:srgbClr val="E6EDF3"/>
                  </a:solidFill>
                  <a:latin typeface="Inter"/>
                  <a:ea typeface="Inter"/>
                  <a:cs typeface="Inter"/>
                  <a:sym typeface="Inter"/>
                </a:rPr>
                <a:t> Cosine Annealing</a:t>
              </a:r>
              <a:br>
                <a:rPr b="0" lang="it" sz="808">
                  <a:solidFill>
                    <a:srgbClr val="E6EDF3"/>
                  </a:solidFill>
                  <a:latin typeface="Inter"/>
                  <a:ea typeface="Inter"/>
                  <a:cs typeface="Inter"/>
                  <a:sym typeface="Inter"/>
                </a:rPr>
              </a:br>
              <a:r>
                <a:rPr b="0" lang="it" sz="808">
                  <a:solidFill>
                    <a:srgbClr val="E6EDF3"/>
                  </a:solidFill>
                  <a:latin typeface="Inter"/>
                  <a:ea typeface="Inter"/>
                  <a:cs typeface="Inter"/>
                  <a:sym typeface="Inter"/>
                </a:rPr>
                <a:t>(down to ηmin = 2.5 × 10-6)</a:t>
              </a:r>
              <a:endParaRPr b="0" sz="808">
                <a:solidFill>
                  <a:srgbClr val="E6EDF3"/>
                </a:solidFill>
                <a:latin typeface="Inter"/>
                <a:ea typeface="Inter"/>
                <a:cs typeface="Inter"/>
                <a:sym typeface="Inter"/>
              </a:endParaRPr>
            </a:p>
            <a:p>
              <a:pPr indent="0" lvl="0" marL="0" rtl="0" algn="l">
                <a:spcBef>
                  <a:spcPts val="300"/>
                </a:spcBef>
                <a:spcAft>
                  <a:spcPts val="0"/>
                </a:spcAft>
                <a:buClr>
                  <a:schemeClr val="dk1"/>
                </a:buClr>
                <a:buSzPts val="1100"/>
                <a:buFont typeface="Arial"/>
                <a:buNone/>
              </a:pPr>
              <a:r>
                <a:rPr lang="it" sz="765">
                  <a:solidFill>
                    <a:srgbClr val="8B949E"/>
                  </a:solidFill>
                  <a:latin typeface="Inter SemiBold"/>
                  <a:ea typeface="Inter SemiBold"/>
                  <a:cs typeface="Inter SemiBold"/>
                  <a:sym typeface="Inter SemiBold"/>
                </a:rPr>
                <a:t>Precision:</a:t>
              </a:r>
              <a:r>
                <a:rPr lang="it" sz="808">
                  <a:solidFill>
                    <a:srgbClr val="E6EDF3"/>
                  </a:solidFill>
                  <a:latin typeface="Inter"/>
                  <a:ea typeface="Inter"/>
                  <a:cs typeface="Inter"/>
                  <a:sym typeface="Inter"/>
                </a:rPr>
                <a:t> FP32</a:t>
              </a:r>
              <a:endParaRPr b="0" sz="808">
                <a:solidFill>
                  <a:srgbClr val="E6EDF3"/>
                </a:solidFill>
                <a:latin typeface="Inter"/>
                <a:ea typeface="Inter"/>
                <a:cs typeface="Inter"/>
                <a:sym typeface="Inter"/>
              </a:endParaRPr>
            </a:p>
          </p:txBody>
        </p:sp>
        <p:cxnSp>
          <p:nvCxnSpPr>
            <p:cNvPr id="898" name="Google Shape;898;p53"/>
            <p:cNvCxnSpPr/>
            <p:nvPr/>
          </p:nvCxnSpPr>
          <p:spPr>
            <a:xfrm>
              <a:off x="2143125" y="381000"/>
              <a:ext cx="0" cy="1476300"/>
            </a:xfrm>
            <a:prstGeom prst="straightConnector1">
              <a:avLst/>
            </a:prstGeom>
            <a:solidFill>
              <a:srgbClr val="FFFFFF"/>
            </a:solidFill>
            <a:ln cap="flat" cmpd="sng" w="9525">
              <a:solidFill>
                <a:srgbClr val="30363D"/>
              </a:solidFill>
              <a:prstDash val="solid"/>
              <a:round/>
              <a:headEnd len="sm" w="sm" type="none"/>
              <a:tailEnd len="sm" w="sm" type="none"/>
            </a:ln>
          </p:spPr>
        </p:cxnSp>
        <p:sp>
          <p:nvSpPr>
            <p:cNvPr id="899" name="Google Shape;899;p53"/>
            <p:cNvSpPr txBox="1"/>
            <p:nvPr/>
          </p:nvSpPr>
          <p:spPr>
            <a:xfrm>
              <a:off x="2266950" y="361950"/>
              <a:ext cx="18573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08">
                  <a:solidFill>
                    <a:srgbClr val="7EE787"/>
                  </a:solidFill>
                  <a:latin typeface="Inter SemiBold"/>
                  <a:ea typeface="Inter SemiBold"/>
                  <a:cs typeface="Inter SemiBold"/>
                  <a:sym typeface="Inter SemiBold"/>
                </a:rPr>
                <a:t>Stage 2: L-BFGS</a:t>
              </a:r>
              <a:endParaRPr b="0" sz="808">
                <a:solidFill>
                  <a:srgbClr val="7EE787"/>
                </a:solidFill>
                <a:latin typeface="Inter SemiBold"/>
                <a:ea typeface="Inter SemiBold"/>
                <a:cs typeface="Inter SemiBold"/>
                <a:sym typeface="Inter SemiBold"/>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Max Iter:</a:t>
              </a:r>
              <a:r>
                <a:rPr b="0" lang="it" sz="808">
                  <a:solidFill>
                    <a:srgbClr val="E6EDF3"/>
                  </a:solidFill>
                  <a:latin typeface="Inter"/>
                  <a:ea typeface="Inter"/>
                  <a:cs typeface="Inter"/>
                  <a:sym typeface="Inter"/>
                </a:rPr>
                <a:t> 10k (Scratch) / 5k (TL)</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Line Search:</a:t>
              </a:r>
              <a:r>
                <a:rPr b="0" lang="it" sz="808">
                  <a:solidFill>
                    <a:srgbClr val="E6EDF3"/>
                  </a:solidFill>
                  <a:latin typeface="Inter"/>
                  <a:ea typeface="Inter"/>
                  <a:cs typeface="Inter"/>
                  <a:sym typeface="Inter"/>
                </a:rPr>
                <a:t> </a:t>
              </a:r>
              <a:r>
                <a:rPr b="0" lang="it" sz="765">
                  <a:solidFill>
                    <a:srgbClr val="FFA657"/>
                  </a:solidFill>
                  <a:latin typeface="Consolas"/>
                  <a:ea typeface="Consolas"/>
                  <a:cs typeface="Consolas"/>
                  <a:sym typeface="Consolas"/>
                </a:rPr>
                <a:t>strong_wolfe</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Precision:</a:t>
              </a:r>
              <a:r>
                <a:rPr b="0" lang="it" sz="808">
                  <a:solidFill>
                    <a:srgbClr val="E6EDF3"/>
                  </a:solidFill>
                  <a:latin typeface="Inter"/>
                  <a:ea typeface="Inter"/>
                  <a:cs typeface="Inter"/>
                  <a:sym typeface="Inter"/>
                </a:rPr>
                <a:t> Full FP64 / Double conversion</a:t>
              </a:r>
              <a:endParaRPr b="0" sz="808">
                <a:solidFill>
                  <a:srgbClr val="E6EDF3"/>
                </a:solidFill>
                <a:latin typeface="Inter"/>
                <a:ea typeface="Inter"/>
                <a:cs typeface="Inter"/>
                <a:sym typeface="Inter"/>
              </a:endParaRPr>
            </a:p>
          </p:txBody>
        </p:sp>
      </p:grpSp>
      <p:grpSp>
        <p:nvGrpSpPr>
          <p:cNvPr id="900" name="Google Shape;900;p53"/>
          <p:cNvGrpSpPr/>
          <p:nvPr/>
        </p:nvGrpSpPr>
        <p:grpSpPr>
          <a:xfrm>
            <a:off x="4619625" y="2905125"/>
            <a:ext cx="4238700" cy="2000100"/>
            <a:chOff x="0" y="0"/>
            <a:chExt cx="4238700" cy="2000100"/>
          </a:xfrm>
        </p:grpSpPr>
        <p:sp>
          <p:nvSpPr>
            <p:cNvPr id="901" name="Google Shape;901;p53"/>
            <p:cNvSpPr/>
            <p:nvPr/>
          </p:nvSpPr>
          <p:spPr>
            <a:xfrm>
              <a:off x="0" y="0"/>
              <a:ext cx="4238700" cy="2000100"/>
            </a:xfrm>
            <a:prstGeom prst="roundRect">
              <a:avLst>
                <a:gd fmla="val 2857"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2" name="Google Shape;902;p53"/>
            <p:cNvSpPr txBox="1"/>
            <p:nvPr/>
          </p:nvSpPr>
          <p:spPr>
            <a:xfrm>
              <a:off x="152400" y="114300"/>
              <a:ext cx="3933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58A6FF"/>
                  </a:solidFill>
                  <a:latin typeface="Inter SemiBold"/>
                  <a:ea typeface="Inter SemiBold"/>
                  <a:cs typeface="Inter SemiBold"/>
                  <a:sym typeface="Inter SemiBold"/>
                </a:rPr>
                <a:t>5. Loss Weights &amp; Infrastructure</a:t>
              </a:r>
              <a:endParaRPr b="0" sz="1100">
                <a:solidFill>
                  <a:srgbClr val="58A6FF"/>
                </a:solidFill>
                <a:latin typeface="Inter SemiBold"/>
                <a:ea typeface="Inter SemiBold"/>
                <a:cs typeface="Inter SemiBold"/>
                <a:sym typeface="Inter SemiBold"/>
              </a:endParaRPr>
            </a:p>
          </p:txBody>
        </p:sp>
        <p:sp>
          <p:nvSpPr>
            <p:cNvPr id="903" name="Google Shape;903;p53"/>
            <p:cNvSpPr txBox="1"/>
            <p:nvPr/>
          </p:nvSpPr>
          <p:spPr>
            <a:xfrm>
              <a:off x="152400" y="361950"/>
              <a:ext cx="3933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08">
                  <a:solidFill>
                    <a:srgbClr val="D2A8FF"/>
                  </a:solidFill>
                  <a:latin typeface="Inter SemiBold"/>
                  <a:ea typeface="Inter SemiBold"/>
                  <a:cs typeface="Inter SemiBold"/>
                  <a:sym typeface="Inter SemiBold"/>
                </a:rPr>
                <a:t>Loss Weights Configuration:</a:t>
              </a:r>
              <a:endParaRPr b="0" sz="808">
                <a:solidFill>
                  <a:srgbClr val="E6EDF3"/>
                </a:solidFill>
                <a:latin typeface="Inter"/>
                <a:ea typeface="Inter"/>
                <a:cs typeface="Inter"/>
                <a:sym typeface="Inter"/>
              </a:endParaRPr>
            </a:p>
            <a:p>
              <a:pPr indent="0" lvl="0" marL="0" rtl="0" algn="l">
                <a:spcBef>
                  <a:spcPts val="450"/>
                </a:spcBef>
                <a:spcAft>
                  <a:spcPts val="0"/>
                </a:spcAft>
                <a:buNone/>
              </a:pPr>
              <a:r>
                <a:rPr b="0" lang="it" sz="786">
                  <a:solidFill>
                    <a:srgbClr val="FFA657"/>
                  </a:solidFill>
                  <a:latin typeface="Consolas"/>
                  <a:ea typeface="Consolas"/>
                  <a:cs typeface="Consolas"/>
                  <a:sym typeface="Consolas"/>
                </a:rPr>
                <a:t>Phase 1: Wdata=1.0 | Wbc=5.0 | Wcon=1.0 | Wmom=0.0 | Wroll_stress=1.0</a:t>
              </a:r>
              <a:endParaRPr b="0" sz="786">
                <a:solidFill>
                  <a:srgbClr val="FFA657"/>
                </a:solidFill>
                <a:latin typeface="Consolas"/>
                <a:ea typeface="Consolas"/>
                <a:cs typeface="Consolas"/>
                <a:sym typeface="Consolas"/>
              </a:endParaRPr>
            </a:p>
            <a:p>
              <a:pPr indent="0" lvl="0" marL="0" rtl="0" algn="l">
                <a:spcBef>
                  <a:spcPts val="225"/>
                </a:spcBef>
                <a:spcAft>
                  <a:spcPts val="0"/>
                </a:spcAft>
                <a:buNone/>
              </a:pPr>
              <a:r>
                <a:rPr b="0" lang="it" sz="786">
                  <a:solidFill>
                    <a:srgbClr val="FFA657"/>
                  </a:solidFill>
                  <a:latin typeface="Consolas"/>
                  <a:ea typeface="Consolas"/>
                  <a:cs typeface="Consolas"/>
                  <a:sym typeface="Consolas"/>
                </a:rPr>
                <a:t>Phase 2: Wdata=20.0 | Wbc=5.0 | Wmom=1.0 | Wcon=0.0 </a:t>
              </a:r>
              <a:endParaRPr b="0" sz="786">
                <a:solidFill>
                  <a:srgbClr val="FFA657"/>
                </a:solidFill>
                <a:latin typeface="Consolas"/>
                <a:ea typeface="Consolas"/>
                <a:cs typeface="Consolas"/>
                <a:sym typeface="Consolas"/>
              </a:endParaRPr>
            </a:p>
            <a:p>
              <a:pPr indent="0" lvl="0" marL="0" rtl="0" algn="l">
                <a:spcBef>
                  <a:spcPts val="600"/>
                </a:spcBef>
                <a:spcAft>
                  <a:spcPts val="0"/>
                </a:spcAft>
                <a:buNone/>
              </a:pPr>
              <a:r>
                <a:t/>
              </a:r>
              <a:endParaRPr b="0" sz="808">
                <a:solidFill>
                  <a:srgbClr val="E6EDF3"/>
                </a:solidFill>
                <a:latin typeface="Inter"/>
                <a:ea typeface="Inter"/>
                <a:cs typeface="Inter"/>
                <a:sym typeface="Inter"/>
              </a:endParaRPr>
            </a:p>
            <a:p>
              <a:pPr indent="0" lvl="0" marL="0" rtl="0" algn="l">
                <a:spcBef>
                  <a:spcPts val="600"/>
                </a:spcBef>
                <a:spcAft>
                  <a:spcPts val="0"/>
                </a:spcAft>
                <a:buNone/>
              </a:pPr>
              <a:r>
                <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808">
                  <a:solidFill>
                    <a:srgbClr val="D2A8FF"/>
                  </a:solidFill>
                  <a:latin typeface="Inter SemiBold"/>
                  <a:ea typeface="Inter SemiBold"/>
                  <a:cs typeface="Inter SemiBold"/>
                  <a:sym typeface="Inter SemiBold"/>
                </a:rPr>
                <a:t>Reproducibility:</a:t>
              </a:r>
              <a:r>
                <a:rPr b="0" lang="it" sz="808">
                  <a:solidFill>
                    <a:srgbClr val="E6EDF3"/>
                  </a:solidFill>
                  <a:latin typeface="Inter"/>
                  <a:ea typeface="Inter"/>
                  <a:cs typeface="Inter"/>
                  <a:sym typeface="Inter"/>
                </a:rPr>
                <a:t> Fixed Global Seed = 123</a:t>
              </a:r>
              <a:endParaRPr b="0" sz="808">
                <a:solidFill>
                  <a:srgbClr val="E6EDF3"/>
                </a:solidFill>
                <a:latin typeface="Inter"/>
                <a:ea typeface="Inter"/>
                <a:cs typeface="Inter"/>
                <a:sym typeface="Inter"/>
              </a:endParaRPr>
            </a:p>
          </p:txBody>
        </p:sp>
      </p:grpSp>
      <p:cxnSp>
        <p:nvCxnSpPr>
          <p:cNvPr id="904" name="Google Shape;904;p53"/>
          <p:cNvCxnSpPr/>
          <p:nvPr/>
        </p:nvCxnSpPr>
        <p:spPr>
          <a:xfrm>
            <a:off x="381000" y="6946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905" name="Google Shape;905;p5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9" name="Shape 909"/>
        <p:cNvGrpSpPr/>
        <p:nvPr/>
      </p:nvGrpSpPr>
      <p:grpSpPr>
        <a:xfrm>
          <a:off x="0" y="0"/>
          <a:ext cx="0" cy="0"/>
          <a:chOff x="0" y="0"/>
          <a:chExt cx="0" cy="0"/>
        </a:xfrm>
      </p:grpSpPr>
      <p:sp>
        <p:nvSpPr>
          <p:cNvPr id="910" name="Google Shape;910;p5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11" name="Google Shape;911;p54"/>
          <p:cNvSpPr txBox="1"/>
          <p:nvPr/>
        </p:nvSpPr>
        <p:spPr>
          <a:xfrm>
            <a:off x="285750" y="190500"/>
            <a:ext cx="85725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it" sz="1800">
                <a:solidFill>
                  <a:srgbClr val="F8F9FA"/>
                </a:solidFill>
                <a:latin typeface="Inter"/>
                <a:ea typeface="Inter"/>
                <a:cs typeface="Inter"/>
                <a:sym typeface="Inter"/>
              </a:rPr>
              <a:t>PINN Strategy: Direct vs. Inverse Problem Comparison</a:t>
            </a:r>
            <a:endParaRPr b="1" sz="1800">
              <a:solidFill>
                <a:srgbClr val="F8F9FA"/>
              </a:solidFill>
              <a:latin typeface="Inter"/>
              <a:ea typeface="Inter"/>
              <a:cs typeface="Inter"/>
              <a:sym typeface="Inter"/>
            </a:endParaRPr>
          </a:p>
        </p:txBody>
      </p:sp>
      <p:grpSp>
        <p:nvGrpSpPr>
          <p:cNvPr id="912" name="Google Shape;912;p54"/>
          <p:cNvGrpSpPr/>
          <p:nvPr/>
        </p:nvGrpSpPr>
        <p:grpSpPr>
          <a:xfrm>
            <a:off x="1238250" y="647700"/>
            <a:ext cx="6667500" cy="1095300"/>
            <a:chOff x="0" y="0"/>
            <a:chExt cx="6667500" cy="1095300"/>
          </a:xfrm>
        </p:grpSpPr>
        <p:sp>
          <p:nvSpPr>
            <p:cNvPr id="913" name="Google Shape;913;p54"/>
            <p:cNvSpPr/>
            <p:nvPr/>
          </p:nvSpPr>
          <p:spPr>
            <a:xfrm>
              <a:off x="0" y="0"/>
              <a:ext cx="6667500" cy="1095300"/>
            </a:xfrm>
            <a:prstGeom prst="roundRect">
              <a:avLst>
                <a:gd fmla="val 5217"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4" name="Google Shape;914;p54"/>
            <p:cNvSpPr txBox="1"/>
            <p:nvPr/>
          </p:nvSpPr>
          <p:spPr>
            <a:xfrm>
              <a:off x="152400" y="95250"/>
              <a:ext cx="63627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58A6FF"/>
                  </a:solidFill>
                  <a:latin typeface="Inter SemiBold"/>
                  <a:ea typeface="Inter SemiBold"/>
                  <a:cs typeface="Inter SemiBold"/>
                  <a:sym typeface="Inter SemiBold"/>
                </a:rPr>
                <a:t>1. Network Architecture </a:t>
              </a:r>
              <a:r>
                <a:rPr b="0" lang="it" sz="900">
                  <a:solidFill>
                    <a:srgbClr val="8B949E"/>
                  </a:solidFill>
                  <a:latin typeface="Inter"/>
                  <a:ea typeface="Inter"/>
                  <a:cs typeface="Inter"/>
                  <a:sym typeface="Inter"/>
                </a:rPr>
                <a:t>(Shared Baseline)</a:t>
              </a:r>
              <a:endParaRPr b="0" sz="1100">
                <a:solidFill>
                  <a:srgbClr val="58A6FF"/>
                </a:solidFill>
                <a:latin typeface="Inter SemiBold"/>
                <a:ea typeface="Inter SemiBold"/>
                <a:cs typeface="Inter SemiBold"/>
                <a:sym typeface="Inter SemiBold"/>
              </a:endParaRPr>
            </a:p>
            <a:p>
              <a:pPr indent="0" lvl="0" marL="0" rtl="0" algn="l">
                <a:lnSpc>
                  <a:spcPct val="150000"/>
                </a:lnSpc>
                <a:spcBef>
                  <a:spcPts val="450"/>
                </a:spcBef>
                <a:spcAft>
                  <a:spcPts val="0"/>
                </a:spcAft>
                <a:buNone/>
              </a:pPr>
              <a:r>
                <a:rPr b="0" lang="it" sz="850">
                  <a:solidFill>
                    <a:srgbClr val="8B949E"/>
                  </a:solidFill>
                  <a:latin typeface="Inter SemiBold"/>
                  <a:ea typeface="Inter SemiBold"/>
                  <a:cs typeface="Inter SemiBold"/>
                  <a:sym typeface="Inter SemiBold"/>
                </a:rPr>
                <a:t>Structure:</a:t>
              </a:r>
              <a:r>
                <a:rPr lang="it" sz="850">
                  <a:solidFill>
                    <a:srgbClr val="E6EDF3"/>
                  </a:solidFill>
                  <a:latin typeface="Inter"/>
                  <a:ea typeface="Inter"/>
                  <a:cs typeface="Inter"/>
                  <a:sym typeface="Inter"/>
                </a:rPr>
                <a:t> 3 Decoupled Heads</a:t>
              </a:r>
              <a:r>
                <a:rPr lang="it" sz="850">
                  <a:solidFill>
                    <a:srgbClr val="8B949E"/>
                  </a:solidFill>
                  <a:latin typeface="Inter"/>
                  <a:ea typeface="Inter"/>
                  <a:cs typeface="Inter"/>
                  <a:sym typeface="Inter"/>
                </a:rPr>
                <a:t>  |  </a:t>
              </a:r>
              <a:r>
                <a:rPr b="0" lang="it" sz="850">
                  <a:solidFill>
                    <a:srgbClr val="8B949E"/>
                  </a:solidFill>
                  <a:latin typeface="Inter SemiBold"/>
                  <a:ea typeface="Inter SemiBold"/>
                  <a:cs typeface="Inter SemiBold"/>
                  <a:sym typeface="Inter SemiBold"/>
                </a:rPr>
                <a:t>Layers:</a:t>
              </a:r>
              <a:r>
                <a:rPr lang="it" sz="850">
                  <a:solidFill>
                    <a:srgbClr val="E6EDF3"/>
                  </a:solidFill>
                  <a:latin typeface="Inter"/>
                  <a:ea typeface="Inter"/>
                  <a:cs typeface="Inter"/>
                  <a:sym typeface="Inter"/>
                </a:rPr>
                <a:t> 8 hidden layers × 128 neurons</a:t>
              </a:r>
              <a:r>
                <a:rPr lang="it" sz="850">
                  <a:solidFill>
                    <a:srgbClr val="8B949E"/>
                  </a:solidFill>
                  <a:latin typeface="Inter"/>
                  <a:ea typeface="Inter"/>
                  <a:cs typeface="Inter"/>
                  <a:sym typeface="Inter"/>
                </a:rPr>
                <a:t>  |  </a:t>
              </a:r>
              <a:r>
                <a:rPr b="0" lang="it" sz="850">
                  <a:solidFill>
                    <a:srgbClr val="8B949E"/>
                  </a:solidFill>
                  <a:latin typeface="Inter SemiBold"/>
                  <a:ea typeface="Inter SemiBold"/>
                  <a:cs typeface="Inter SemiBold"/>
                  <a:sym typeface="Inter SemiBold"/>
                </a:rPr>
                <a:t>Activation:</a:t>
              </a:r>
              <a:r>
                <a:rPr lang="it" sz="850">
                  <a:solidFill>
                    <a:srgbClr val="8B949E"/>
                  </a:solidFill>
                  <a:latin typeface="Inter"/>
                  <a:ea typeface="Inter"/>
                  <a:cs typeface="Inter"/>
                  <a:sym typeface="Inter"/>
                </a:rPr>
                <a:t> </a:t>
              </a:r>
              <a:r>
                <a:rPr lang="it" sz="850">
                  <a:solidFill>
                    <a:schemeClr val="lt1"/>
                  </a:solidFill>
                  <a:latin typeface="Inter SemiBold"/>
                  <a:ea typeface="Inter SemiBold"/>
                  <a:cs typeface="Inter SemiBold"/>
                  <a:sym typeface="Inter SemiBold"/>
                </a:rPr>
                <a:t>SiLU</a:t>
              </a:r>
              <a:endParaRPr sz="850">
                <a:solidFill>
                  <a:srgbClr val="8B949E"/>
                </a:solidFill>
                <a:latin typeface="Inter"/>
                <a:ea typeface="Inter"/>
                <a:cs typeface="Inter"/>
                <a:sym typeface="Inter"/>
              </a:endParaRPr>
            </a:p>
            <a:p>
              <a:pPr indent="0" lvl="0" marL="0" rtl="0" algn="l">
                <a:lnSpc>
                  <a:spcPct val="200000"/>
                </a:lnSpc>
                <a:spcBef>
                  <a:spcPts val="300"/>
                </a:spcBef>
                <a:spcAft>
                  <a:spcPts val="0"/>
                </a:spcAft>
                <a:buNone/>
              </a:pPr>
              <a:r>
                <a:rPr b="0" lang="it" sz="850">
                  <a:solidFill>
                    <a:srgbClr val="8B949E"/>
                  </a:solidFill>
                  <a:latin typeface="Inter SemiBold"/>
                  <a:ea typeface="Inter SemiBold"/>
                  <a:cs typeface="Inter SemiBold"/>
                  <a:sym typeface="Inter SemiBold"/>
                </a:rPr>
                <a:t>Inputs / Outputs:</a:t>
              </a:r>
              <a:r>
                <a:rPr lang="it" sz="850">
                  <a:solidFill>
                    <a:srgbClr val="8B949E"/>
                  </a:solidFill>
                  <a:latin typeface="Inter"/>
                  <a:ea typeface="Inter"/>
                  <a:cs typeface="Inter"/>
                  <a:sym typeface="Inter"/>
                </a:rPr>
                <a:t> </a:t>
              </a:r>
              <a:r>
                <a:rPr lang="it" sz="850">
                  <a:solidFill>
                    <a:srgbClr val="FFA657"/>
                  </a:solidFill>
                  <a:latin typeface="Consolas"/>
                  <a:ea typeface="Consolas"/>
                  <a:cs typeface="Consolas"/>
                  <a:sym typeface="Consolas"/>
                </a:rPr>
                <a:t>(x,y) → ψ (1), p (1), τ (3: τxx, τxy, τyy) </a:t>
              </a:r>
              <a:r>
                <a:rPr lang="it" sz="850">
                  <a:solidFill>
                    <a:srgbClr val="8B949E"/>
                  </a:solidFill>
                  <a:latin typeface="Inter"/>
                  <a:ea typeface="Inter"/>
                  <a:cs typeface="Inter"/>
                  <a:sym typeface="Inter"/>
                </a:rPr>
                <a:t>| </a:t>
              </a:r>
              <a:r>
                <a:rPr b="1" lang="it" sz="850">
                  <a:solidFill>
                    <a:srgbClr val="8B949E"/>
                  </a:solidFill>
                  <a:latin typeface="Inter"/>
                  <a:ea typeface="Inter"/>
                  <a:cs typeface="Inter"/>
                  <a:sym typeface="Inter"/>
                </a:rPr>
                <a:t>Epochs:</a:t>
              </a:r>
              <a:r>
                <a:rPr lang="it" sz="850">
                  <a:solidFill>
                    <a:srgbClr val="8B949E"/>
                  </a:solidFill>
                  <a:latin typeface="Inter"/>
                  <a:ea typeface="Inter"/>
                  <a:cs typeface="Inter"/>
                  <a:sym typeface="Inter"/>
                </a:rPr>
                <a:t> </a:t>
              </a:r>
              <a:r>
                <a:rPr lang="it" sz="850">
                  <a:solidFill>
                    <a:srgbClr val="E6EDF3"/>
                  </a:solidFill>
                  <a:latin typeface="Inter"/>
                  <a:ea typeface="Inter"/>
                  <a:cs typeface="Inter"/>
                  <a:sym typeface="Inter"/>
                </a:rPr>
                <a:t>Adam 40k (20kTL)+ L-BFGS 10k (5kTL)</a:t>
              </a:r>
              <a:endParaRPr sz="850">
                <a:solidFill>
                  <a:srgbClr val="E6EDF3"/>
                </a:solidFill>
                <a:latin typeface="Inter"/>
                <a:ea typeface="Inter"/>
                <a:cs typeface="Inter"/>
                <a:sym typeface="Inter"/>
              </a:endParaRPr>
            </a:p>
            <a:p>
              <a:pPr indent="0" lvl="0" marL="0" rtl="0" algn="l">
                <a:lnSpc>
                  <a:spcPct val="150000"/>
                </a:lnSpc>
                <a:spcBef>
                  <a:spcPts val="0"/>
                </a:spcBef>
                <a:spcAft>
                  <a:spcPts val="300"/>
                </a:spcAft>
                <a:buClr>
                  <a:schemeClr val="dk1"/>
                </a:buClr>
                <a:buSzPts val="1100"/>
                <a:buFont typeface="Arial"/>
                <a:buNone/>
              </a:pPr>
              <a:r>
                <a:rPr lang="it" sz="865">
                  <a:solidFill>
                    <a:srgbClr val="8B949E"/>
                  </a:solidFill>
                  <a:latin typeface="Inter SemiBold"/>
                  <a:ea typeface="Inter SemiBold"/>
                  <a:cs typeface="Inter SemiBold"/>
                  <a:sym typeface="Inter SemiBold"/>
                </a:rPr>
                <a:t>Base LR:</a:t>
              </a:r>
              <a:r>
                <a:rPr lang="it" sz="808">
                  <a:solidFill>
                    <a:srgbClr val="E6EDF3"/>
                  </a:solidFill>
                  <a:latin typeface="Inter"/>
                  <a:ea typeface="Inter"/>
                  <a:cs typeface="Inter"/>
                  <a:sym typeface="Inter"/>
                </a:rPr>
                <a:t> 2.5 × 10-3 </a:t>
              </a:r>
              <a:r>
                <a:rPr lang="it" sz="850">
                  <a:solidFill>
                    <a:srgbClr val="8B949E"/>
                  </a:solidFill>
                  <a:latin typeface="Inter"/>
                  <a:ea typeface="Inter"/>
                  <a:cs typeface="Inter"/>
                  <a:sym typeface="Inter"/>
                </a:rPr>
                <a:t>| </a:t>
              </a:r>
              <a:r>
                <a:rPr lang="it" sz="865">
                  <a:solidFill>
                    <a:srgbClr val="8B949E"/>
                  </a:solidFill>
                  <a:latin typeface="Inter SemiBold"/>
                  <a:ea typeface="Inter SemiBold"/>
                  <a:cs typeface="Inter SemiBold"/>
                  <a:sym typeface="Inter SemiBold"/>
                </a:rPr>
                <a:t>Scheduler:</a:t>
              </a:r>
              <a:r>
                <a:rPr lang="it" sz="808">
                  <a:solidFill>
                    <a:srgbClr val="E6EDF3"/>
                  </a:solidFill>
                  <a:latin typeface="Inter"/>
                  <a:ea typeface="Inter"/>
                  <a:cs typeface="Inter"/>
                  <a:sym typeface="Inter"/>
                </a:rPr>
                <a:t> Cosine Annealing (down to ηmin = 2.5 × 10-6)</a:t>
              </a:r>
              <a:endParaRPr sz="850">
                <a:solidFill>
                  <a:srgbClr val="8B949E"/>
                </a:solidFill>
                <a:latin typeface="Inter SemiBold"/>
                <a:ea typeface="Inter SemiBold"/>
                <a:cs typeface="Inter SemiBold"/>
                <a:sym typeface="Inter SemiBold"/>
              </a:endParaRPr>
            </a:p>
          </p:txBody>
        </p:sp>
      </p:grpSp>
      <p:grpSp>
        <p:nvGrpSpPr>
          <p:cNvPr id="915" name="Google Shape;915;p54"/>
          <p:cNvGrpSpPr/>
          <p:nvPr/>
        </p:nvGrpSpPr>
        <p:grpSpPr>
          <a:xfrm>
            <a:off x="285750" y="1905000"/>
            <a:ext cx="4143300" cy="3000300"/>
            <a:chOff x="0" y="0"/>
            <a:chExt cx="4143300" cy="3000300"/>
          </a:xfrm>
        </p:grpSpPr>
        <p:sp>
          <p:nvSpPr>
            <p:cNvPr id="916" name="Google Shape;916;p54"/>
            <p:cNvSpPr/>
            <p:nvPr/>
          </p:nvSpPr>
          <p:spPr>
            <a:xfrm>
              <a:off x="0" y="0"/>
              <a:ext cx="4143300" cy="3000300"/>
            </a:xfrm>
            <a:prstGeom prst="roundRect">
              <a:avLst>
                <a:gd fmla="val 1904"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7" name="Google Shape;917;p54"/>
            <p:cNvSpPr txBox="1"/>
            <p:nvPr/>
          </p:nvSpPr>
          <p:spPr>
            <a:xfrm>
              <a:off x="152400" y="133350"/>
              <a:ext cx="3838500" cy="30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it" sz="1200">
                  <a:solidFill>
                    <a:srgbClr val="79C0FF"/>
                  </a:solidFill>
                  <a:latin typeface="Inter"/>
                  <a:ea typeface="Inter"/>
                  <a:cs typeface="Inter"/>
                  <a:sym typeface="Inter"/>
                </a:rPr>
                <a:t>Direct Problem (Forward)</a:t>
              </a:r>
              <a:endParaRPr b="1" sz="1200">
                <a:solidFill>
                  <a:srgbClr val="79C0FF"/>
                </a:solidFill>
                <a:latin typeface="Inter"/>
                <a:ea typeface="Inter"/>
                <a:cs typeface="Inter"/>
                <a:sym typeface="Inter"/>
              </a:endParaRPr>
            </a:p>
          </p:txBody>
        </p:sp>
        <p:grpSp>
          <p:nvGrpSpPr>
            <p:cNvPr id="918" name="Google Shape;918;p54"/>
            <p:cNvGrpSpPr/>
            <p:nvPr/>
          </p:nvGrpSpPr>
          <p:grpSpPr>
            <a:xfrm>
              <a:off x="152400" y="476250"/>
              <a:ext cx="3838500" cy="1047900"/>
              <a:chOff x="0" y="0"/>
              <a:chExt cx="3838500" cy="1047900"/>
            </a:xfrm>
          </p:grpSpPr>
          <p:sp>
            <p:nvSpPr>
              <p:cNvPr id="919" name="Google Shape;919;p54"/>
              <p:cNvSpPr/>
              <p:nvPr/>
            </p:nvSpPr>
            <p:spPr>
              <a:xfrm>
                <a:off x="0" y="0"/>
                <a:ext cx="3838500" cy="1047900"/>
              </a:xfrm>
              <a:prstGeom prst="roundRect">
                <a:avLst>
                  <a:gd fmla="val 3636"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0" name="Google Shape;920;p54"/>
              <p:cNvSpPr txBox="1"/>
              <p:nvPr/>
            </p:nvSpPr>
            <p:spPr>
              <a:xfrm>
                <a:off x="114300" y="95250"/>
                <a:ext cx="36099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50">
                    <a:solidFill>
                      <a:srgbClr val="79C0FF"/>
                    </a:solidFill>
                    <a:latin typeface="Inter SemiBold"/>
                    <a:ea typeface="Inter SemiBold"/>
                    <a:cs typeface="Inter SemiBold"/>
                    <a:sym typeface="Inter SemiBold"/>
                  </a:rPr>
                  <a:t>PHASE 1: Kinematics &amp; Rheology</a:t>
                </a:r>
                <a:endParaRPr b="0" sz="850">
                  <a:solidFill>
                    <a:srgbClr val="79C0FF"/>
                  </a:solidFill>
                  <a:latin typeface="Inter SemiBold"/>
                  <a:ea typeface="Inter SemiBold"/>
                  <a:cs typeface="Inter SemiBold"/>
                  <a:sym typeface="Inter SemiBold"/>
                </a:endParaRPr>
              </a:p>
              <a:p>
                <a:pPr indent="0" lvl="0" marL="0" rtl="0" algn="l">
                  <a:spcBef>
                    <a:spcPts val="300"/>
                  </a:spcBef>
                  <a:spcAft>
                    <a:spcPts val="0"/>
                  </a:spcAft>
                  <a:buNone/>
                </a:pPr>
                <a:r>
                  <a:rPr b="0" lang="it" sz="850">
                    <a:solidFill>
                      <a:srgbClr val="C9D1D9"/>
                    </a:solidFill>
                    <a:latin typeface="Inter"/>
                    <a:ea typeface="Inter"/>
                    <a:cs typeface="Inter"/>
                    <a:sym typeface="Inter"/>
                  </a:rPr>
                  <a:t>• Train ψ &amp; τ; Freeze p (Wmom=0, Wcon=1.0)</a:t>
                </a:r>
                <a:endParaRPr b="0" sz="850">
                  <a:solidFill>
                    <a:srgbClr val="C9D1D9"/>
                  </a:solidFill>
                  <a:latin typeface="Inter"/>
                  <a:ea typeface="Inter"/>
                  <a:cs typeface="Inter"/>
                  <a:sym typeface="Inter"/>
                </a:endParaRPr>
              </a:p>
              <a:p>
                <a:pPr indent="0" lvl="0" marL="0" rtl="0" algn="l">
                  <a:spcBef>
                    <a:spcPts val="300"/>
                  </a:spcBef>
                  <a:spcAft>
                    <a:spcPts val="0"/>
                  </a:spcAft>
                  <a:buNone/>
                </a:pPr>
                <a:r>
                  <a:rPr b="0" lang="it" sz="850">
                    <a:solidFill>
                      <a:srgbClr val="7EE787"/>
                    </a:solidFill>
                    <a:latin typeface="Inter SemiBold"/>
                    <a:ea typeface="Inter SemiBold"/>
                    <a:cs typeface="Inter SemiBold"/>
                    <a:sym typeface="Inter SemiBold"/>
                  </a:rPr>
                  <a:t>• Fixed Parameters:</a:t>
                </a:r>
                <a:r>
                  <a:rPr b="0" lang="it" sz="850">
                    <a:solidFill>
                      <a:srgbClr val="C9D1D9"/>
                    </a:solidFill>
                    <a:latin typeface="Inter"/>
                    <a:ea typeface="Inter"/>
                    <a:cs typeface="Inter"/>
                    <a:sym typeface="Inter"/>
                  </a:rPr>
                  <a:t> λ, μp, α, ε (No inverse learning)</a:t>
                </a:r>
                <a:endParaRPr b="0" sz="850">
                  <a:solidFill>
                    <a:srgbClr val="C9D1D9"/>
                  </a:solidFill>
                  <a:latin typeface="Inter"/>
                  <a:ea typeface="Inter"/>
                  <a:cs typeface="Inter"/>
                  <a:sym typeface="Inter"/>
                </a:endParaRPr>
              </a:p>
            </p:txBody>
          </p:sp>
        </p:grpSp>
        <p:grpSp>
          <p:nvGrpSpPr>
            <p:cNvPr id="921" name="Google Shape;921;p54"/>
            <p:cNvGrpSpPr/>
            <p:nvPr/>
          </p:nvGrpSpPr>
          <p:grpSpPr>
            <a:xfrm>
              <a:off x="152400" y="1638300"/>
              <a:ext cx="3838500" cy="1190700"/>
              <a:chOff x="0" y="0"/>
              <a:chExt cx="3838500" cy="1190700"/>
            </a:xfrm>
          </p:grpSpPr>
          <p:sp>
            <p:nvSpPr>
              <p:cNvPr id="922" name="Google Shape;922;p54"/>
              <p:cNvSpPr/>
              <p:nvPr/>
            </p:nvSpPr>
            <p:spPr>
              <a:xfrm>
                <a:off x="0" y="0"/>
                <a:ext cx="3838500" cy="1190700"/>
              </a:xfrm>
              <a:prstGeom prst="roundRect">
                <a:avLst>
                  <a:gd fmla="val 3200"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3" name="Google Shape;923;p54"/>
              <p:cNvSpPr txBox="1"/>
              <p:nvPr/>
            </p:nvSpPr>
            <p:spPr>
              <a:xfrm>
                <a:off x="114300" y="95250"/>
                <a:ext cx="36099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50">
                    <a:solidFill>
                      <a:srgbClr val="FFA657"/>
                    </a:solidFill>
                    <a:latin typeface="Inter SemiBold"/>
                    <a:ea typeface="Inter SemiBold"/>
                    <a:cs typeface="Inter SemiBold"/>
                    <a:sym typeface="Inter SemiBold"/>
                  </a:rPr>
                  <a:t>PHASE 2: Hydrodynamics &amp; Pressure</a:t>
                </a:r>
                <a:endParaRPr b="0" sz="850">
                  <a:solidFill>
                    <a:srgbClr val="FFA657"/>
                  </a:solidFill>
                  <a:latin typeface="Inter SemiBold"/>
                  <a:ea typeface="Inter SemiBold"/>
                  <a:cs typeface="Inter SemiBold"/>
                  <a:sym typeface="Inter SemiBold"/>
                </a:endParaRPr>
              </a:p>
              <a:p>
                <a:pPr indent="0" lvl="0" marL="0" rtl="0" algn="l">
                  <a:spcBef>
                    <a:spcPts val="300"/>
                  </a:spcBef>
                  <a:spcAft>
                    <a:spcPts val="0"/>
                  </a:spcAft>
                  <a:buNone/>
                </a:pPr>
                <a:r>
                  <a:rPr b="0" lang="it" sz="850">
                    <a:solidFill>
                      <a:srgbClr val="C9D1D9"/>
                    </a:solidFill>
                    <a:latin typeface="Inter"/>
                    <a:ea typeface="Inter"/>
                    <a:cs typeface="Inter"/>
                    <a:sym typeface="Inter"/>
                  </a:rPr>
                  <a:t>• Freeze τ (precomputed ∇·τ); Train p &amp; ψ</a:t>
                </a:r>
                <a:endParaRPr b="0" sz="850">
                  <a:solidFill>
                    <a:srgbClr val="C9D1D9"/>
                  </a:solidFill>
                  <a:latin typeface="Inter"/>
                  <a:ea typeface="Inter"/>
                  <a:cs typeface="Inter"/>
                  <a:sym typeface="Inter"/>
                </a:endParaRPr>
              </a:p>
              <a:p>
                <a:pPr indent="0" lvl="0" marL="0" rtl="0" algn="l">
                  <a:spcBef>
                    <a:spcPts val="300"/>
                  </a:spcBef>
                  <a:spcAft>
                    <a:spcPts val="0"/>
                  </a:spcAft>
                  <a:buNone/>
                </a:pPr>
                <a:r>
                  <a:rPr b="0" lang="it" sz="850">
                    <a:solidFill>
                      <a:srgbClr val="C9D1D9"/>
                    </a:solidFill>
                    <a:latin typeface="Inter"/>
                    <a:ea typeface="Inter"/>
                    <a:cs typeface="Inter"/>
                    <a:sym typeface="Inter"/>
                  </a:rPr>
                  <a:t>• </a:t>
                </a:r>
                <a:r>
                  <a:rPr b="0" lang="it" sz="850">
                    <a:solidFill>
                      <a:srgbClr val="7EE787"/>
                    </a:solidFill>
                    <a:latin typeface="Inter"/>
                    <a:ea typeface="Inter"/>
                    <a:cs typeface="Inter"/>
                    <a:sym typeface="Inter"/>
                  </a:rPr>
                  <a:t>Micro-unfreezing:</a:t>
                </a:r>
                <a:r>
                  <a:rPr b="0" lang="it" sz="850">
                    <a:solidFill>
                      <a:srgbClr val="C9D1D9"/>
                    </a:solidFill>
                    <a:latin typeface="Inter"/>
                    <a:ea typeface="Inter"/>
                    <a:cs typeface="Inter"/>
                    <a:sym typeface="Inter"/>
                  </a:rPr>
                  <a:t> ψ active at LR/10</a:t>
                </a:r>
                <a:endParaRPr b="0" sz="850">
                  <a:solidFill>
                    <a:srgbClr val="C9D1D9"/>
                  </a:solidFill>
                  <a:latin typeface="Inter"/>
                  <a:ea typeface="Inter"/>
                  <a:cs typeface="Inter"/>
                  <a:sym typeface="Inter"/>
                </a:endParaRPr>
              </a:p>
              <a:p>
                <a:pPr indent="0" lvl="0" marL="0" rtl="0" algn="l">
                  <a:spcBef>
                    <a:spcPts val="300"/>
                  </a:spcBef>
                  <a:spcAft>
                    <a:spcPts val="0"/>
                  </a:spcAft>
                  <a:buNone/>
                </a:pPr>
                <a:r>
                  <a:rPr b="0" lang="it" sz="850">
                    <a:solidFill>
                      <a:srgbClr val="7EE787"/>
                    </a:solidFill>
                    <a:latin typeface="Inter SemiBold"/>
                    <a:ea typeface="Inter SemiBold"/>
                    <a:cs typeface="Inter SemiBold"/>
                    <a:sym typeface="Inter SemiBold"/>
                  </a:rPr>
                  <a:t>• Known solvent viscosity μs</a:t>
                </a:r>
                <a:r>
                  <a:rPr b="0" lang="it" sz="850">
                    <a:solidFill>
                      <a:srgbClr val="C9D1D9"/>
                    </a:solidFill>
                    <a:latin typeface="Inter"/>
                    <a:ea typeface="Inter"/>
                    <a:cs typeface="Inter"/>
                    <a:sym typeface="Inter"/>
                  </a:rPr>
                  <a:t> (Wmom=1.0, Wcon=0)</a:t>
                </a:r>
                <a:endParaRPr b="0" sz="850">
                  <a:solidFill>
                    <a:srgbClr val="C9D1D9"/>
                  </a:solidFill>
                  <a:latin typeface="Inter"/>
                  <a:ea typeface="Inter"/>
                  <a:cs typeface="Inter"/>
                  <a:sym typeface="Inter"/>
                </a:endParaRPr>
              </a:p>
            </p:txBody>
          </p:sp>
        </p:grpSp>
      </p:grpSp>
      <p:grpSp>
        <p:nvGrpSpPr>
          <p:cNvPr id="924" name="Google Shape;924;p54"/>
          <p:cNvGrpSpPr/>
          <p:nvPr/>
        </p:nvGrpSpPr>
        <p:grpSpPr>
          <a:xfrm>
            <a:off x="4714875" y="1905000"/>
            <a:ext cx="4143300" cy="3000300"/>
            <a:chOff x="0" y="0"/>
            <a:chExt cx="4143300" cy="3000300"/>
          </a:xfrm>
        </p:grpSpPr>
        <p:sp>
          <p:nvSpPr>
            <p:cNvPr id="925" name="Google Shape;925;p54"/>
            <p:cNvSpPr/>
            <p:nvPr/>
          </p:nvSpPr>
          <p:spPr>
            <a:xfrm>
              <a:off x="0" y="0"/>
              <a:ext cx="4143300" cy="3000300"/>
            </a:xfrm>
            <a:prstGeom prst="roundRect">
              <a:avLst>
                <a:gd fmla="val 1904"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6" name="Google Shape;926;p54"/>
            <p:cNvSpPr txBox="1"/>
            <p:nvPr/>
          </p:nvSpPr>
          <p:spPr>
            <a:xfrm>
              <a:off x="152400" y="133350"/>
              <a:ext cx="3838500" cy="30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it" sz="1200">
                  <a:solidFill>
                    <a:srgbClr val="FFA657"/>
                  </a:solidFill>
                  <a:latin typeface="Inter"/>
                  <a:ea typeface="Inter"/>
                  <a:cs typeface="Inter"/>
                  <a:sym typeface="Inter"/>
                </a:rPr>
                <a:t>Inverse Problem (Parameter Learning)</a:t>
              </a:r>
              <a:endParaRPr b="1" sz="1200">
                <a:solidFill>
                  <a:srgbClr val="FFA657"/>
                </a:solidFill>
                <a:latin typeface="Inter"/>
                <a:ea typeface="Inter"/>
                <a:cs typeface="Inter"/>
                <a:sym typeface="Inter"/>
              </a:endParaRPr>
            </a:p>
          </p:txBody>
        </p:sp>
        <p:grpSp>
          <p:nvGrpSpPr>
            <p:cNvPr id="927" name="Google Shape;927;p54"/>
            <p:cNvGrpSpPr/>
            <p:nvPr/>
          </p:nvGrpSpPr>
          <p:grpSpPr>
            <a:xfrm>
              <a:off x="152400" y="476250"/>
              <a:ext cx="3838500" cy="1047900"/>
              <a:chOff x="0" y="0"/>
              <a:chExt cx="3838500" cy="1047900"/>
            </a:xfrm>
          </p:grpSpPr>
          <p:sp>
            <p:nvSpPr>
              <p:cNvPr id="928" name="Google Shape;928;p54"/>
              <p:cNvSpPr/>
              <p:nvPr/>
            </p:nvSpPr>
            <p:spPr>
              <a:xfrm>
                <a:off x="0" y="0"/>
                <a:ext cx="3838500" cy="1047900"/>
              </a:xfrm>
              <a:prstGeom prst="roundRect">
                <a:avLst>
                  <a:gd fmla="val 3636"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9" name="Google Shape;929;p54"/>
              <p:cNvSpPr txBox="1"/>
              <p:nvPr/>
            </p:nvSpPr>
            <p:spPr>
              <a:xfrm>
                <a:off x="114300" y="95250"/>
                <a:ext cx="36099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50">
                    <a:solidFill>
                      <a:srgbClr val="79C0FF"/>
                    </a:solidFill>
                    <a:latin typeface="Inter SemiBold"/>
                    <a:ea typeface="Inter SemiBold"/>
                    <a:cs typeface="Inter SemiBold"/>
                    <a:sym typeface="Inter SemiBold"/>
                  </a:rPr>
                  <a:t>PHASE 1: Kinematics &amp; Rheology</a:t>
                </a:r>
                <a:endParaRPr b="0" sz="850">
                  <a:solidFill>
                    <a:srgbClr val="79C0FF"/>
                  </a:solidFill>
                  <a:latin typeface="Inter SemiBold"/>
                  <a:ea typeface="Inter SemiBold"/>
                  <a:cs typeface="Inter SemiBold"/>
                  <a:sym typeface="Inter SemiBold"/>
                </a:endParaRPr>
              </a:p>
              <a:p>
                <a:pPr indent="0" lvl="0" marL="0" rtl="0" algn="l">
                  <a:spcBef>
                    <a:spcPts val="300"/>
                  </a:spcBef>
                  <a:spcAft>
                    <a:spcPts val="0"/>
                  </a:spcAft>
                  <a:buNone/>
                </a:pPr>
                <a:r>
                  <a:rPr b="0" lang="it" sz="850">
                    <a:solidFill>
                      <a:srgbClr val="C9D1D9"/>
                    </a:solidFill>
                    <a:latin typeface="Inter"/>
                    <a:ea typeface="Inter"/>
                    <a:cs typeface="Inter"/>
                    <a:sym typeface="Inter"/>
                  </a:rPr>
                  <a:t>• Train ψ &amp; τ; Freeze p (Wmom=0, Wcon=1.0)</a:t>
                </a:r>
                <a:endParaRPr b="0" sz="850">
                  <a:solidFill>
                    <a:srgbClr val="C9D1D9"/>
                  </a:solidFill>
                  <a:latin typeface="Inter"/>
                  <a:ea typeface="Inter"/>
                  <a:cs typeface="Inter"/>
                  <a:sym typeface="Inter"/>
                </a:endParaRPr>
              </a:p>
              <a:p>
                <a:pPr indent="0" lvl="0" marL="0" rtl="0" algn="l">
                  <a:spcBef>
                    <a:spcPts val="300"/>
                  </a:spcBef>
                  <a:spcAft>
                    <a:spcPts val="0"/>
                  </a:spcAft>
                  <a:buNone/>
                </a:pPr>
                <a:r>
                  <a:rPr b="0" lang="it" sz="850">
                    <a:solidFill>
                      <a:srgbClr val="EF4444"/>
                    </a:solidFill>
                    <a:latin typeface="Inter SemiBold"/>
                    <a:ea typeface="Inter SemiBold"/>
                    <a:cs typeface="Inter SemiBold"/>
                    <a:sym typeface="Inter SemiBold"/>
                  </a:rPr>
                  <a:t>• Active Parameters:</a:t>
                </a:r>
                <a:r>
                  <a:rPr b="0" lang="it" sz="850">
                    <a:solidFill>
                      <a:srgbClr val="C9D1D9"/>
                    </a:solidFill>
                    <a:latin typeface="Inter"/>
                    <a:ea typeface="Inter"/>
                    <a:cs typeface="Inter"/>
                    <a:sym typeface="Inter"/>
                  </a:rPr>
                  <a:t> λ, μp, α, ε (Inferred online)</a:t>
                </a:r>
                <a:endParaRPr b="0" sz="850">
                  <a:solidFill>
                    <a:srgbClr val="C9D1D9"/>
                  </a:solidFill>
                  <a:latin typeface="Inter"/>
                  <a:ea typeface="Inter"/>
                  <a:cs typeface="Inter"/>
                  <a:sym typeface="Inter"/>
                </a:endParaRPr>
              </a:p>
            </p:txBody>
          </p:sp>
        </p:grpSp>
        <p:grpSp>
          <p:nvGrpSpPr>
            <p:cNvPr id="930" name="Google Shape;930;p54"/>
            <p:cNvGrpSpPr/>
            <p:nvPr/>
          </p:nvGrpSpPr>
          <p:grpSpPr>
            <a:xfrm>
              <a:off x="147638" y="1633538"/>
              <a:ext cx="3848100" cy="1200300"/>
              <a:chOff x="-4762" y="-4762"/>
              <a:chExt cx="3848100" cy="1200300"/>
            </a:xfrm>
          </p:grpSpPr>
          <p:pic>
            <p:nvPicPr>
              <p:cNvPr id="931" name="Google Shape;931;p54"/>
              <p:cNvPicPr preferRelativeResize="0"/>
              <p:nvPr/>
            </p:nvPicPr>
            <p:blipFill rotWithShape="1">
              <a:blip r:embed="rId4">
                <a:alphaModFix/>
              </a:blip>
              <a:srcRect b="0" l="0" r="0" t="0"/>
              <a:stretch/>
            </p:blipFill>
            <p:spPr>
              <a:xfrm>
                <a:off x="-4762" y="-4762"/>
                <a:ext cx="3848100" cy="1200300"/>
              </a:xfrm>
              <a:prstGeom prst="rect">
                <a:avLst/>
              </a:prstGeom>
              <a:noFill/>
              <a:ln>
                <a:noFill/>
              </a:ln>
            </p:spPr>
          </p:pic>
          <p:sp>
            <p:nvSpPr>
              <p:cNvPr id="932" name="Google Shape;932;p54"/>
              <p:cNvSpPr txBox="1"/>
              <p:nvPr/>
            </p:nvSpPr>
            <p:spPr>
              <a:xfrm>
                <a:off x="756200" y="330050"/>
                <a:ext cx="2326200" cy="530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2300">
                    <a:solidFill>
                      <a:srgbClr val="EF4444"/>
                    </a:solidFill>
                    <a:latin typeface="Inter"/>
                    <a:ea typeface="Inter"/>
                    <a:cs typeface="Inter"/>
                    <a:sym typeface="Inter"/>
                  </a:rPr>
                  <a:t>NO PHASE 2</a:t>
                </a:r>
                <a:endParaRPr b="1" sz="2300">
                  <a:solidFill>
                    <a:srgbClr val="EF4444"/>
                  </a:solidFill>
                  <a:latin typeface="Inter"/>
                  <a:ea typeface="Inter"/>
                  <a:cs typeface="Inter"/>
                  <a:sym typeface="Inter"/>
                </a:endParaRPr>
              </a:p>
              <a:p>
                <a:pPr indent="0" lvl="0" marL="0" rtl="0" algn="l">
                  <a:spcBef>
                    <a:spcPts val="450"/>
                  </a:spcBef>
                  <a:spcAft>
                    <a:spcPts val="0"/>
                  </a:spcAft>
                  <a:buNone/>
                </a:pPr>
                <a:r>
                  <a:t/>
                </a:r>
                <a:endParaRPr b="0" sz="800">
                  <a:solidFill>
                    <a:srgbClr val="8B949E"/>
                  </a:solidFill>
                  <a:latin typeface="Inter"/>
                  <a:ea typeface="Inter"/>
                  <a:cs typeface="Inter"/>
                  <a:sym typeface="Inter"/>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6" name="Shape 936"/>
        <p:cNvGrpSpPr/>
        <p:nvPr/>
      </p:nvGrpSpPr>
      <p:grpSpPr>
        <a:xfrm>
          <a:off x="0" y="0"/>
          <a:ext cx="0" cy="0"/>
          <a:chOff x="0" y="0"/>
          <a:chExt cx="0" cy="0"/>
        </a:xfrm>
      </p:grpSpPr>
      <p:sp>
        <p:nvSpPr>
          <p:cNvPr id="937" name="Google Shape;937;p55"/>
          <p:cNvSpPr txBox="1"/>
          <p:nvPr/>
        </p:nvSpPr>
        <p:spPr>
          <a:xfrm>
            <a:off x="285750" y="190500"/>
            <a:ext cx="85725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F8F9FA"/>
                </a:solidFill>
                <a:latin typeface="Inter"/>
                <a:ea typeface="Inter"/>
                <a:cs typeface="Inter"/>
                <a:sym typeface="Inter"/>
              </a:rPr>
              <a:t>Four-Roll Mill — Hydrodynamic Pressure (</a:t>
            </a:r>
            <a:r>
              <a:rPr b="1" lang="it" sz="2000">
                <a:solidFill>
                  <a:srgbClr val="79C0FF"/>
                </a:solidFill>
                <a:latin typeface="Consolas"/>
                <a:ea typeface="Consolas"/>
                <a:cs typeface="Consolas"/>
                <a:sym typeface="Consolas"/>
              </a:rPr>
              <a:t>p</a:t>
            </a:r>
            <a:r>
              <a:rPr b="1" lang="it" sz="2000">
                <a:solidFill>
                  <a:srgbClr val="F8F9FA"/>
                </a:solidFill>
                <a:latin typeface="Inter"/>
                <a:ea typeface="Inter"/>
                <a:cs typeface="Inter"/>
                <a:sym typeface="Inter"/>
              </a:rPr>
              <a:t>)</a:t>
            </a:r>
            <a:endParaRPr b="1" sz="2000">
              <a:solidFill>
                <a:srgbClr val="F8F9FA"/>
              </a:solidFill>
              <a:latin typeface="Inter"/>
              <a:ea typeface="Inter"/>
              <a:cs typeface="Inter"/>
              <a:sym typeface="Inter"/>
            </a:endParaRPr>
          </a:p>
          <a:p>
            <a:pPr indent="0" lvl="0" marL="0" rtl="0" algn="l">
              <a:spcBef>
                <a:spcPts val="300"/>
              </a:spcBef>
              <a:spcAft>
                <a:spcPts val="0"/>
              </a:spcAft>
              <a:buNone/>
            </a:pPr>
            <a:r>
              <a:t/>
            </a:r>
            <a:endParaRPr b="0" sz="1000">
              <a:solidFill>
                <a:srgbClr val="8B949E"/>
              </a:solidFill>
              <a:latin typeface="Inter"/>
              <a:ea typeface="Inter"/>
              <a:cs typeface="Inter"/>
              <a:sym typeface="Inter"/>
            </a:endParaRPr>
          </a:p>
        </p:txBody>
      </p:sp>
      <p:sp>
        <p:nvSpPr>
          <p:cNvPr id="938" name="Google Shape;938;p55"/>
          <p:cNvSpPr/>
          <p:nvPr/>
        </p:nvSpPr>
        <p:spPr>
          <a:xfrm>
            <a:off x="285750" y="762000"/>
            <a:ext cx="8572500" cy="4143300"/>
          </a:xfrm>
          <a:prstGeom prst="roundRect">
            <a:avLst>
              <a:gd fmla="val 1839"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39" name="Google Shape;939;p55"/>
          <p:cNvPicPr preferRelativeResize="0"/>
          <p:nvPr/>
        </p:nvPicPr>
        <p:blipFill rotWithShape="1">
          <a:blip r:embed="rId4">
            <a:alphaModFix/>
          </a:blip>
          <a:srcRect b="0" l="60" r="70" t="0"/>
          <a:stretch/>
        </p:blipFill>
        <p:spPr>
          <a:xfrm>
            <a:off x="400050" y="1866900"/>
            <a:ext cx="8343900" cy="1933500"/>
          </a:xfrm>
          <a:prstGeom prst="roundRect">
            <a:avLst>
              <a:gd fmla="val 1970" name="adj"/>
            </a:avLst>
          </a:prstGeom>
          <a:noFill/>
          <a:ln>
            <a:noFill/>
          </a:ln>
        </p:spPr>
      </p:pic>
      <p:cxnSp>
        <p:nvCxnSpPr>
          <p:cNvPr id="940" name="Google Shape;940;p55"/>
          <p:cNvCxnSpPr/>
          <p:nvPr/>
        </p:nvCxnSpPr>
        <p:spPr>
          <a:xfrm>
            <a:off x="381000" y="627239"/>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941" name="Google Shape;941;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942" name="Google Shape;942;p55"/>
          <p:cNvGrpSpPr/>
          <p:nvPr/>
        </p:nvGrpSpPr>
        <p:grpSpPr>
          <a:xfrm>
            <a:off x="400050" y="895350"/>
            <a:ext cx="8343900" cy="247800"/>
            <a:chOff x="0" y="0"/>
            <a:chExt cx="8343900" cy="247800"/>
          </a:xfrm>
        </p:grpSpPr>
        <p:sp>
          <p:nvSpPr>
            <p:cNvPr id="943" name="Google Shape;943;p55"/>
            <p:cNvSpPr/>
            <p:nvPr/>
          </p:nvSpPr>
          <p:spPr>
            <a:xfrm>
              <a:off x="0" y="0"/>
              <a:ext cx="26193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4" name="Google Shape;944;p55"/>
            <p:cNvSpPr txBox="1"/>
            <p:nvPr/>
          </p:nvSpPr>
          <p:spPr>
            <a:xfrm>
              <a:off x="0" y="0"/>
              <a:ext cx="2619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93C5FD"/>
                  </a:solidFill>
                  <a:latin typeface="Inter SemiBold"/>
                  <a:ea typeface="Inter SemiBold"/>
                  <a:cs typeface="Inter SemiBold"/>
                  <a:sym typeface="Inter SemiBold"/>
                </a:rPr>
                <a:t>SETUP: </a:t>
              </a:r>
              <a:r>
                <a:rPr lang="it" sz="850">
                  <a:solidFill>
                    <a:srgbClr val="93C5FD"/>
                  </a:solidFill>
                  <a:latin typeface="Inter SemiBold"/>
                  <a:ea typeface="Inter SemiBold"/>
                  <a:cs typeface="Inter SemiBold"/>
                  <a:sym typeface="Inter SemiBold"/>
                </a:rPr>
                <a:t>Direct Problem</a:t>
              </a:r>
              <a:endParaRPr b="0" sz="850">
                <a:solidFill>
                  <a:srgbClr val="93C5FD"/>
                </a:solidFill>
                <a:latin typeface="Inter SemiBold"/>
                <a:ea typeface="Inter SemiBold"/>
                <a:cs typeface="Inter SemiBold"/>
                <a:sym typeface="Inter SemiBold"/>
              </a:endParaRPr>
            </a:p>
          </p:txBody>
        </p:sp>
        <p:grpSp>
          <p:nvGrpSpPr>
            <p:cNvPr id="945" name="Google Shape;945;p55"/>
            <p:cNvGrpSpPr/>
            <p:nvPr/>
          </p:nvGrpSpPr>
          <p:grpSpPr>
            <a:xfrm>
              <a:off x="2733675" y="0"/>
              <a:ext cx="2714700" cy="247800"/>
              <a:chOff x="0" y="0"/>
              <a:chExt cx="2714700" cy="247800"/>
            </a:xfrm>
          </p:grpSpPr>
          <p:sp>
            <p:nvSpPr>
              <p:cNvPr id="946" name="Google Shape;946;p55"/>
              <p:cNvSpPr/>
              <p:nvPr/>
            </p:nvSpPr>
            <p:spPr>
              <a:xfrm>
                <a:off x="0" y="0"/>
                <a:ext cx="27147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7" name="Google Shape;947;p55"/>
              <p:cNvSpPr txBox="1"/>
              <p:nvPr/>
            </p:nvSpPr>
            <p:spPr>
              <a:xfrm>
                <a:off x="0" y="0"/>
                <a:ext cx="2714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34D399"/>
                    </a:solidFill>
                    <a:latin typeface="Inter SemiBold"/>
                    <a:ea typeface="Inter SemiBold"/>
                    <a:cs typeface="Inter SemiBold"/>
                    <a:sym typeface="Inter SemiBold"/>
                  </a:rPr>
                  <a:t>MESH: M5k</a:t>
                </a:r>
                <a:endParaRPr b="0" sz="850">
                  <a:solidFill>
                    <a:srgbClr val="34D399"/>
                  </a:solidFill>
                  <a:latin typeface="Inter SemiBold"/>
                  <a:ea typeface="Inter SemiBold"/>
                  <a:cs typeface="Inter SemiBold"/>
                  <a:sym typeface="Inter SemiBold"/>
                </a:endParaRPr>
              </a:p>
            </p:txBody>
          </p:sp>
        </p:grpSp>
        <p:grpSp>
          <p:nvGrpSpPr>
            <p:cNvPr id="948" name="Google Shape;948;p55"/>
            <p:cNvGrpSpPr/>
            <p:nvPr/>
          </p:nvGrpSpPr>
          <p:grpSpPr>
            <a:xfrm>
              <a:off x="5524500" y="0"/>
              <a:ext cx="2819400" cy="247800"/>
              <a:chOff x="0" y="0"/>
              <a:chExt cx="2819400" cy="247800"/>
            </a:xfrm>
          </p:grpSpPr>
          <p:sp>
            <p:nvSpPr>
              <p:cNvPr id="949" name="Google Shape;949;p55"/>
              <p:cNvSpPr/>
              <p:nvPr/>
            </p:nvSpPr>
            <p:spPr>
              <a:xfrm>
                <a:off x="0" y="0"/>
                <a:ext cx="28194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0" name="Google Shape;950;p55"/>
              <p:cNvSpPr txBox="1"/>
              <p:nvPr/>
            </p:nvSpPr>
            <p:spPr>
              <a:xfrm>
                <a:off x="0" y="0"/>
                <a:ext cx="2819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FBBF24"/>
                    </a:solidFill>
                    <a:latin typeface="Inter SemiBold"/>
                    <a:ea typeface="Inter SemiBold"/>
                    <a:cs typeface="Inter SemiBold"/>
                    <a:sym typeface="Inter SemiBold"/>
                  </a:rPr>
                  <a:t>PARAMS: λ =0.05 s, ηp​ = 0</a:t>
                </a:r>
                <a:r>
                  <a:rPr lang="it" sz="850">
                    <a:solidFill>
                      <a:srgbClr val="FBBF24"/>
                    </a:solidFill>
                    <a:latin typeface="Inter SemiBold"/>
                    <a:ea typeface="Inter SemiBold"/>
                    <a:cs typeface="Inter SemiBold"/>
                    <a:sym typeface="Inter SemiBold"/>
                  </a:rPr>
                  <a:t>.9 Pa s</a:t>
                </a:r>
                <a:endParaRPr b="0" sz="850">
                  <a:solidFill>
                    <a:srgbClr val="FBBF24"/>
                  </a:solidFill>
                  <a:latin typeface="Inter SemiBold"/>
                  <a:ea typeface="Inter SemiBold"/>
                  <a:cs typeface="Inter SemiBold"/>
                  <a:sym typeface="Inter SemiBold"/>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4" name="Shape 954"/>
        <p:cNvGrpSpPr/>
        <p:nvPr/>
      </p:nvGrpSpPr>
      <p:grpSpPr>
        <a:xfrm>
          <a:off x="0" y="0"/>
          <a:ext cx="0" cy="0"/>
          <a:chOff x="0" y="0"/>
          <a:chExt cx="0" cy="0"/>
        </a:xfrm>
      </p:grpSpPr>
      <p:sp>
        <p:nvSpPr>
          <p:cNvPr id="955" name="Google Shape;955;p56"/>
          <p:cNvSpPr txBox="1"/>
          <p:nvPr/>
        </p:nvSpPr>
        <p:spPr>
          <a:xfrm>
            <a:off x="285750" y="190500"/>
            <a:ext cx="8572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F8F9FA"/>
                </a:solidFill>
                <a:latin typeface="Inter"/>
                <a:ea typeface="Inter"/>
                <a:cs typeface="Inter"/>
                <a:sym typeface="Inter"/>
              </a:rPr>
              <a:t>Four-Roll Mill — Flow Kinematics (</a:t>
            </a:r>
            <a:r>
              <a:rPr b="1" lang="it" sz="2000">
                <a:solidFill>
                  <a:srgbClr val="79C0FF"/>
                </a:solidFill>
                <a:latin typeface="Consolas"/>
                <a:ea typeface="Consolas"/>
                <a:cs typeface="Consolas"/>
                <a:sym typeface="Consolas"/>
              </a:rPr>
              <a:t>u,v</a:t>
            </a:r>
            <a:r>
              <a:rPr b="1" lang="it" sz="2000">
                <a:solidFill>
                  <a:srgbClr val="F8F9FA"/>
                </a:solidFill>
                <a:latin typeface="Inter"/>
                <a:ea typeface="Inter"/>
                <a:cs typeface="Inter"/>
                <a:sym typeface="Inter"/>
              </a:rPr>
              <a:t>)</a:t>
            </a:r>
            <a:endParaRPr b="1" sz="2000">
              <a:solidFill>
                <a:srgbClr val="F8F9FA"/>
              </a:solidFill>
              <a:latin typeface="Inter"/>
              <a:ea typeface="Inter"/>
              <a:cs typeface="Inter"/>
              <a:sym typeface="Inter"/>
            </a:endParaRPr>
          </a:p>
          <a:p>
            <a:pPr indent="0" lvl="0" marL="0" rtl="0" algn="l">
              <a:spcBef>
                <a:spcPts val="300"/>
              </a:spcBef>
              <a:spcAft>
                <a:spcPts val="0"/>
              </a:spcAft>
              <a:buNone/>
            </a:pPr>
            <a:r>
              <a:t/>
            </a:r>
            <a:endParaRPr b="0" sz="1000">
              <a:solidFill>
                <a:srgbClr val="8B949E"/>
              </a:solidFill>
              <a:latin typeface="Inter"/>
              <a:ea typeface="Inter"/>
              <a:cs typeface="Inter"/>
              <a:sym typeface="Inter"/>
            </a:endParaRPr>
          </a:p>
        </p:txBody>
      </p:sp>
      <p:sp>
        <p:nvSpPr>
          <p:cNvPr id="956" name="Google Shape;956;p56"/>
          <p:cNvSpPr/>
          <p:nvPr/>
        </p:nvSpPr>
        <p:spPr>
          <a:xfrm>
            <a:off x="285750" y="762000"/>
            <a:ext cx="8572500" cy="4143300"/>
          </a:xfrm>
          <a:prstGeom prst="roundRect">
            <a:avLst>
              <a:gd fmla="val 1839"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57" name="Google Shape;957;p56"/>
          <p:cNvPicPr preferRelativeResize="0"/>
          <p:nvPr/>
        </p:nvPicPr>
        <p:blipFill rotWithShape="1">
          <a:blip r:embed="rId4">
            <a:alphaModFix/>
          </a:blip>
          <a:srcRect b="30" l="0" r="0" t="20"/>
          <a:stretch/>
        </p:blipFill>
        <p:spPr>
          <a:xfrm>
            <a:off x="400050" y="866775"/>
            <a:ext cx="8343900" cy="3933900"/>
          </a:xfrm>
          <a:prstGeom prst="rect">
            <a:avLst/>
          </a:prstGeom>
          <a:noFill/>
          <a:ln>
            <a:noFill/>
          </a:ln>
        </p:spPr>
      </p:pic>
      <p:cxnSp>
        <p:nvCxnSpPr>
          <p:cNvPr id="958" name="Google Shape;958;p56"/>
          <p:cNvCxnSpPr/>
          <p:nvPr/>
        </p:nvCxnSpPr>
        <p:spPr>
          <a:xfrm>
            <a:off x="381000" y="6376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959" name="Google Shape;959;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3" name="Shape 963"/>
        <p:cNvGrpSpPr/>
        <p:nvPr/>
      </p:nvGrpSpPr>
      <p:grpSpPr>
        <a:xfrm>
          <a:off x="0" y="0"/>
          <a:ext cx="0" cy="0"/>
          <a:chOff x="0" y="0"/>
          <a:chExt cx="0" cy="0"/>
        </a:xfrm>
      </p:grpSpPr>
      <p:sp>
        <p:nvSpPr>
          <p:cNvPr id="964" name="Google Shape;964;p57"/>
          <p:cNvSpPr txBox="1"/>
          <p:nvPr/>
        </p:nvSpPr>
        <p:spPr>
          <a:xfrm>
            <a:off x="285750" y="190500"/>
            <a:ext cx="85725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it" sz="2000">
                <a:solidFill>
                  <a:srgbClr val="F8F9FA"/>
                </a:solidFill>
                <a:latin typeface="Inter"/>
                <a:ea typeface="Inter"/>
                <a:cs typeface="Inter"/>
                <a:sym typeface="Inter"/>
              </a:rPr>
              <a:t>Four-Roll Mill — Viscoelastic Extra-Stress (</a:t>
            </a:r>
            <a:r>
              <a:rPr b="1" i="0" lang="it" sz="2000">
                <a:solidFill>
                  <a:srgbClr val="79C0FF"/>
                </a:solidFill>
                <a:latin typeface="Consolas"/>
                <a:ea typeface="Consolas"/>
                <a:cs typeface="Consolas"/>
                <a:sym typeface="Consolas"/>
              </a:rPr>
              <a:t>τ</a:t>
            </a:r>
            <a:r>
              <a:rPr b="1" i="0" lang="it" sz="2000">
                <a:solidFill>
                  <a:srgbClr val="F8F9FA"/>
                </a:solidFill>
                <a:latin typeface="Inter"/>
                <a:ea typeface="Inter"/>
                <a:cs typeface="Inter"/>
                <a:sym typeface="Inter"/>
              </a:rPr>
              <a:t>)</a:t>
            </a:r>
            <a:endParaRPr b="1" i="0" sz="2000">
              <a:solidFill>
                <a:srgbClr val="F8F9FA"/>
              </a:solidFill>
              <a:latin typeface="Inter"/>
              <a:ea typeface="Inter"/>
              <a:cs typeface="Inter"/>
              <a:sym typeface="Inter"/>
            </a:endParaRPr>
          </a:p>
          <a:p>
            <a:pPr indent="0" lvl="0" marL="0" rtl="0" algn="l">
              <a:spcBef>
                <a:spcPts val="300"/>
              </a:spcBef>
              <a:spcAft>
                <a:spcPts val="0"/>
              </a:spcAft>
              <a:buNone/>
            </a:pPr>
            <a:r>
              <a:t/>
            </a:r>
            <a:endParaRPr b="0" i="0" sz="1000">
              <a:solidFill>
                <a:srgbClr val="8B949E"/>
              </a:solidFill>
              <a:latin typeface="Inter"/>
              <a:ea typeface="Inter"/>
              <a:cs typeface="Inter"/>
              <a:sym typeface="Inter"/>
            </a:endParaRPr>
          </a:p>
        </p:txBody>
      </p:sp>
      <p:sp>
        <p:nvSpPr>
          <p:cNvPr id="965" name="Google Shape;965;p57"/>
          <p:cNvSpPr/>
          <p:nvPr/>
        </p:nvSpPr>
        <p:spPr>
          <a:xfrm>
            <a:off x="285750" y="762000"/>
            <a:ext cx="8572500" cy="4143300"/>
          </a:xfrm>
          <a:prstGeom prst="roundRect">
            <a:avLst>
              <a:gd fmla="val 1839"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66" name="Google Shape;966;p57"/>
          <p:cNvPicPr preferRelativeResize="0"/>
          <p:nvPr/>
        </p:nvPicPr>
        <p:blipFill rotWithShape="1">
          <a:blip r:embed="rId4">
            <a:alphaModFix/>
          </a:blip>
          <a:srcRect b="5096" l="1150" r="-1150" t="0"/>
          <a:stretch/>
        </p:blipFill>
        <p:spPr>
          <a:xfrm>
            <a:off x="1322575" y="762000"/>
            <a:ext cx="6132300" cy="4143300"/>
          </a:xfrm>
          <a:prstGeom prst="rect">
            <a:avLst/>
          </a:prstGeom>
          <a:noFill/>
          <a:ln>
            <a:noFill/>
          </a:ln>
        </p:spPr>
      </p:pic>
      <p:cxnSp>
        <p:nvCxnSpPr>
          <p:cNvPr id="967" name="Google Shape;967;p57"/>
          <p:cNvCxnSpPr/>
          <p:nvPr/>
        </p:nvCxnSpPr>
        <p:spPr>
          <a:xfrm>
            <a:off x="381000" y="60637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968" name="Google Shape;96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0F17"/>
        </a:solidFill>
      </p:bgPr>
    </p:bg>
    <p:spTree>
      <p:nvGrpSpPr>
        <p:cNvPr id="972" name="Shape 972"/>
        <p:cNvGrpSpPr/>
        <p:nvPr/>
      </p:nvGrpSpPr>
      <p:grpSpPr>
        <a:xfrm>
          <a:off x="0" y="0"/>
          <a:ext cx="0" cy="0"/>
          <a:chOff x="0" y="0"/>
          <a:chExt cx="0" cy="0"/>
        </a:xfrm>
      </p:grpSpPr>
      <p:sp>
        <p:nvSpPr>
          <p:cNvPr id="973" name="Google Shape;973;p58"/>
          <p:cNvSpPr txBox="1"/>
          <p:nvPr/>
        </p:nvSpPr>
        <p:spPr>
          <a:xfrm>
            <a:off x="285750" y="238125"/>
            <a:ext cx="8572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F8F9FA"/>
                </a:solidFill>
                <a:latin typeface="Inter"/>
                <a:ea typeface="Inter"/>
                <a:cs typeface="Inter"/>
                <a:sym typeface="Inter"/>
              </a:rPr>
              <a:t>PINN Training Setup &amp; Parameters </a:t>
            </a:r>
            <a:r>
              <a:rPr b="0" lang="it" sz="1400">
                <a:solidFill>
                  <a:srgbClr val="79C0FF"/>
                </a:solidFill>
                <a:latin typeface="Inter SemiBold"/>
                <a:ea typeface="Inter SemiBold"/>
                <a:cs typeface="Inter SemiBold"/>
                <a:sym typeface="Inter SemiBold"/>
              </a:rPr>
              <a:t>[</a:t>
            </a:r>
            <a:r>
              <a:rPr lang="it">
                <a:solidFill>
                  <a:srgbClr val="79C0FF"/>
                </a:solidFill>
                <a:latin typeface="Inter SemiBold"/>
                <a:ea typeface="Inter SemiBold"/>
                <a:cs typeface="Inter SemiBold"/>
                <a:sym typeface="Inter SemiBold"/>
              </a:rPr>
              <a:t>Inverse </a:t>
            </a:r>
            <a:r>
              <a:rPr b="0" lang="it" sz="1400">
                <a:solidFill>
                  <a:srgbClr val="79C0FF"/>
                </a:solidFill>
                <a:latin typeface="Inter SemiBold"/>
                <a:ea typeface="Inter SemiBold"/>
                <a:cs typeface="Inter SemiBold"/>
                <a:sym typeface="Inter SemiBold"/>
              </a:rPr>
              <a:t>Problem]</a:t>
            </a:r>
            <a:endParaRPr b="1" sz="2000">
              <a:solidFill>
                <a:srgbClr val="F8F9FA"/>
              </a:solidFill>
              <a:latin typeface="Inter"/>
              <a:ea typeface="Inter"/>
              <a:cs typeface="Inter"/>
              <a:sym typeface="Inter"/>
            </a:endParaRPr>
          </a:p>
        </p:txBody>
      </p:sp>
      <p:grpSp>
        <p:nvGrpSpPr>
          <p:cNvPr id="974" name="Google Shape;974;p58"/>
          <p:cNvGrpSpPr/>
          <p:nvPr/>
        </p:nvGrpSpPr>
        <p:grpSpPr>
          <a:xfrm>
            <a:off x="285750" y="809625"/>
            <a:ext cx="4238700" cy="1952700"/>
            <a:chOff x="0" y="0"/>
            <a:chExt cx="4238700" cy="1952700"/>
          </a:xfrm>
        </p:grpSpPr>
        <p:sp>
          <p:nvSpPr>
            <p:cNvPr id="975" name="Google Shape;975;p58"/>
            <p:cNvSpPr/>
            <p:nvPr/>
          </p:nvSpPr>
          <p:spPr>
            <a:xfrm>
              <a:off x="0" y="0"/>
              <a:ext cx="4238700" cy="1952700"/>
            </a:xfrm>
            <a:prstGeom prst="roundRect">
              <a:avLst>
                <a:gd fmla="val 2925"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6" name="Google Shape;976;p58"/>
            <p:cNvSpPr txBox="1"/>
            <p:nvPr/>
          </p:nvSpPr>
          <p:spPr>
            <a:xfrm>
              <a:off x="152400" y="114300"/>
              <a:ext cx="3933900" cy="2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1100">
                  <a:solidFill>
                    <a:srgbClr val="58A6FF"/>
                  </a:solidFill>
                  <a:latin typeface="Inter SemiBold"/>
                  <a:ea typeface="Inter SemiBold"/>
                  <a:cs typeface="Inter SemiBold"/>
                  <a:sym typeface="Inter SemiBold"/>
                </a:rPr>
                <a:t>1. Network Architecture</a:t>
              </a:r>
              <a:endParaRPr b="0" i="0" sz="1100">
                <a:solidFill>
                  <a:srgbClr val="58A6FF"/>
                </a:solidFill>
                <a:latin typeface="Inter SemiBold"/>
                <a:ea typeface="Inter SemiBold"/>
                <a:cs typeface="Inter SemiBold"/>
                <a:sym typeface="Inter SemiBold"/>
              </a:endParaRPr>
            </a:p>
          </p:txBody>
        </p:sp>
        <p:sp>
          <p:nvSpPr>
            <p:cNvPr id="977" name="Google Shape;977;p58"/>
            <p:cNvSpPr txBox="1"/>
            <p:nvPr/>
          </p:nvSpPr>
          <p:spPr>
            <a:xfrm>
              <a:off x="152400" y="381000"/>
              <a:ext cx="39339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65">
                  <a:solidFill>
                    <a:srgbClr val="8B949E"/>
                  </a:solidFill>
                  <a:latin typeface="Inter SemiBold"/>
                  <a:ea typeface="Inter SemiBold"/>
                  <a:cs typeface="Inter SemiBold"/>
                  <a:sym typeface="Inter SemiBold"/>
                </a:rPr>
                <a:t>Structure:</a:t>
              </a:r>
              <a:r>
                <a:rPr b="0" i="0" lang="it" sz="808">
                  <a:solidFill>
                    <a:srgbClr val="E6EDF3"/>
                  </a:solidFill>
                  <a:latin typeface="Inter"/>
                  <a:ea typeface="Inter"/>
                  <a:cs typeface="Inter"/>
                  <a:sym typeface="Inter"/>
                </a:rPr>
                <a:t> 3 Decoupled Heads</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0"/>
                </a:spcAft>
                <a:buNone/>
              </a:pPr>
              <a:r>
                <a:rPr b="0" i="0" lang="it" sz="765">
                  <a:solidFill>
                    <a:srgbClr val="8B949E"/>
                  </a:solidFill>
                  <a:latin typeface="Inter SemiBold"/>
                  <a:ea typeface="Inter SemiBold"/>
                  <a:cs typeface="Inter SemiBold"/>
                  <a:sym typeface="Inter SemiBold"/>
                </a:rPr>
                <a:t>Inputs/Outputs:</a:t>
              </a:r>
              <a:br>
                <a:rPr b="0" i="0" lang="it" sz="765">
                  <a:solidFill>
                    <a:srgbClr val="8B949E"/>
                  </a:solidFill>
                  <a:latin typeface="Inter SemiBold"/>
                  <a:ea typeface="Inter SemiBold"/>
                  <a:cs typeface="Inter SemiBold"/>
                  <a:sym typeface="Inter SemiBold"/>
                </a:rPr>
              </a:br>
              <a:r>
                <a:rPr b="0" i="0" lang="it" sz="765">
                  <a:solidFill>
                    <a:srgbClr val="FFA657"/>
                  </a:solidFill>
                  <a:latin typeface="Consolas"/>
                  <a:ea typeface="Consolas"/>
                  <a:cs typeface="Consolas"/>
                  <a:sym typeface="Consolas"/>
                </a:rPr>
                <a:t>(x,y) → ψ (1), p (1), τ (3: τxx, τxy, τyy)</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0"/>
                </a:spcAft>
                <a:buNone/>
              </a:pPr>
              <a:r>
                <a:rPr b="0" i="0" lang="it" sz="765">
                  <a:solidFill>
                    <a:srgbClr val="8B949E"/>
                  </a:solidFill>
                  <a:latin typeface="Inter SemiBold"/>
                  <a:ea typeface="Inter SemiBold"/>
                  <a:cs typeface="Inter SemiBold"/>
                  <a:sym typeface="Inter SemiBold"/>
                </a:rPr>
                <a:t>Layers:</a:t>
              </a:r>
              <a:r>
                <a:rPr b="0" i="0" lang="it" sz="808">
                  <a:solidFill>
                    <a:srgbClr val="E6EDF3"/>
                  </a:solidFill>
                  <a:latin typeface="Inter"/>
                  <a:ea typeface="Inter"/>
                  <a:cs typeface="Inter"/>
                  <a:sym typeface="Inter"/>
                </a:rPr>
                <a:t> 8 hidden layers × 128 neurons</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0"/>
                </a:spcAft>
                <a:buNone/>
              </a:pPr>
              <a:r>
                <a:rPr b="0" i="0" lang="it" sz="765">
                  <a:solidFill>
                    <a:srgbClr val="8B949E"/>
                  </a:solidFill>
                  <a:latin typeface="Inter SemiBold"/>
                  <a:ea typeface="Inter SemiBold"/>
                  <a:cs typeface="Inter SemiBold"/>
                  <a:sym typeface="Inter SemiBold"/>
                </a:rPr>
                <a:t>Activation: </a:t>
              </a:r>
              <a:r>
                <a:rPr b="0" i="0" lang="it" sz="808">
                  <a:solidFill>
                    <a:srgbClr val="7EE787"/>
                  </a:solidFill>
                  <a:latin typeface="Inter SemiBold"/>
                  <a:ea typeface="Inter SemiBold"/>
                  <a:cs typeface="Inter SemiBold"/>
                  <a:sym typeface="Inter SemiBold"/>
                </a:rPr>
                <a:t>SiLU</a:t>
              </a:r>
              <a:r>
                <a:rPr b="0" i="0" lang="it" sz="808">
                  <a:solidFill>
                    <a:srgbClr val="E6EDF3"/>
                  </a:solidFill>
                  <a:latin typeface="Inter"/>
                  <a:ea typeface="Inter"/>
                  <a:cs typeface="Inter"/>
                  <a:sym typeface="Inter"/>
                </a:rPr>
                <a:t> (smooth 2nd derivatives)</a:t>
              </a:r>
              <a:endParaRPr b="0" i="0" sz="765">
                <a:solidFill>
                  <a:srgbClr val="8B949E"/>
                </a:solidFill>
                <a:latin typeface="Inter SemiBold"/>
                <a:ea typeface="Inter SemiBold"/>
                <a:cs typeface="Inter SemiBold"/>
                <a:sym typeface="Inter SemiBold"/>
              </a:endParaRPr>
            </a:p>
            <a:p>
              <a:pPr indent="0" lvl="0" marL="0" rtl="0" algn="l">
                <a:spcBef>
                  <a:spcPts val="450"/>
                </a:spcBef>
                <a:spcAft>
                  <a:spcPts val="450"/>
                </a:spcAft>
                <a:buNone/>
              </a:pPr>
              <a:r>
                <a:rPr b="0" i="0" lang="it" sz="765">
                  <a:solidFill>
                    <a:srgbClr val="8B949E"/>
                  </a:solidFill>
                  <a:latin typeface="Inter SemiBold"/>
                  <a:ea typeface="Inter SemiBold"/>
                  <a:cs typeface="Inter SemiBold"/>
                  <a:sym typeface="Inter SemiBold"/>
                </a:rPr>
                <a:t>Weights:</a:t>
              </a:r>
              <a:r>
                <a:rPr b="0" i="0" lang="it" sz="808">
                  <a:solidFill>
                    <a:srgbClr val="E6EDF3"/>
                  </a:solidFill>
                  <a:latin typeface="Inter"/>
                  <a:ea typeface="Inter"/>
                  <a:cs typeface="Inter"/>
                  <a:sym typeface="Inter"/>
                </a:rPr>
                <a:t> Xavier Normal (Zero-init p &amp; τ last layer)</a:t>
              </a:r>
              <a:endParaRPr b="0" i="0" sz="765">
                <a:solidFill>
                  <a:srgbClr val="8B949E"/>
                </a:solidFill>
                <a:latin typeface="Inter SemiBold"/>
                <a:ea typeface="Inter SemiBold"/>
                <a:cs typeface="Inter SemiBold"/>
                <a:sym typeface="Inter SemiBold"/>
              </a:endParaRPr>
            </a:p>
          </p:txBody>
        </p:sp>
      </p:grpSp>
      <p:grpSp>
        <p:nvGrpSpPr>
          <p:cNvPr id="978" name="Google Shape;978;p58"/>
          <p:cNvGrpSpPr/>
          <p:nvPr/>
        </p:nvGrpSpPr>
        <p:grpSpPr>
          <a:xfrm>
            <a:off x="285750" y="2905125"/>
            <a:ext cx="4238700" cy="2000100"/>
            <a:chOff x="0" y="0"/>
            <a:chExt cx="4238700" cy="2000100"/>
          </a:xfrm>
        </p:grpSpPr>
        <p:sp>
          <p:nvSpPr>
            <p:cNvPr id="979" name="Google Shape;979;p58"/>
            <p:cNvSpPr/>
            <p:nvPr/>
          </p:nvSpPr>
          <p:spPr>
            <a:xfrm>
              <a:off x="0" y="0"/>
              <a:ext cx="4238700" cy="2000100"/>
            </a:xfrm>
            <a:prstGeom prst="roundRect">
              <a:avLst>
                <a:gd fmla="val 2857"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0" name="Google Shape;980;p58"/>
            <p:cNvSpPr txBox="1"/>
            <p:nvPr/>
          </p:nvSpPr>
          <p:spPr>
            <a:xfrm>
              <a:off x="152400" y="114300"/>
              <a:ext cx="3933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58A6FF"/>
                  </a:solidFill>
                  <a:latin typeface="Inter SemiBold"/>
                  <a:ea typeface="Inter SemiBold"/>
                  <a:cs typeface="Inter SemiBold"/>
                  <a:sym typeface="Inter SemiBold"/>
                </a:rPr>
                <a:t>4. Multi-Stage Precision &amp; Solvers</a:t>
              </a:r>
              <a:endParaRPr b="0" sz="1100">
                <a:solidFill>
                  <a:srgbClr val="58A6FF"/>
                </a:solidFill>
                <a:latin typeface="Inter SemiBold"/>
                <a:ea typeface="Inter SemiBold"/>
                <a:cs typeface="Inter SemiBold"/>
                <a:sym typeface="Inter SemiBold"/>
              </a:endParaRPr>
            </a:p>
          </p:txBody>
        </p:sp>
        <p:sp>
          <p:nvSpPr>
            <p:cNvPr id="981" name="Google Shape;981;p58"/>
            <p:cNvSpPr txBox="1"/>
            <p:nvPr/>
          </p:nvSpPr>
          <p:spPr>
            <a:xfrm>
              <a:off x="152400" y="361950"/>
              <a:ext cx="1905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08">
                  <a:solidFill>
                    <a:srgbClr val="58A6FF"/>
                  </a:solidFill>
                  <a:latin typeface="Inter SemiBold"/>
                  <a:ea typeface="Inter SemiBold"/>
                  <a:cs typeface="Inter SemiBold"/>
                  <a:sym typeface="Inter SemiBold"/>
                </a:rPr>
                <a:t>Stage 1: Adam </a:t>
              </a:r>
              <a:endParaRPr b="0" sz="808">
                <a:solidFill>
                  <a:srgbClr val="58A6FF"/>
                </a:solidFill>
                <a:latin typeface="Inter SemiBold"/>
                <a:ea typeface="Inter SemiBold"/>
                <a:cs typeface="Inter SemiBold"/>
                <a:sym typeface="Inter SemiBold"/>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Epochs:</a:t>
              </a:r>
              <a:r>
                <a:rPr b="0" lang="it" sz="808">
                  <a:solidFill>
                    <a:srgbClr val="E6EDF3"/>
                  </a:solidFill>
                  <a:latin typeface="Inter"/>
                  <a:ea typeface="Inter"/>
                  <a:cs typeface="Inter"/>
                  <a:sym typeface="Inter"/>
                </a:rPr>
                <a:t> 40k (Scratch) / 20k (TL)</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Base LR:</a:t>
              </a:r>
              <a:r>
                <a:rPr b="0" lang="it" sz="808">
                  <a:solidFill>
                    <a:srgbClr val="E6EDF3"/>
                  </a:solidFill>
                  <a:latin typeface="Inter"/>
                  <a:ea typeface="Inter"/>
                  <a:cs typeface="Inter"/>
                  <a:sym typeface="Inter"/>
                </a:rPr>
                <a:t> 2.5 × 10-3</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Scheduler:</a:t>
              </a:r>
              <a:r>
                <a:rPr b="0" lang="it" sz="808">
                  <a:solidFill>
                    <a:srgbClr val="E6EDF3"/>
                  </a:solidFill>
                  <a:latin typeface="Inter"/>
                  <a:ea typeface="Inter"/>
                  <a:cs typeface="Inter"/>
                  <a:sym typeface="Inter"/>
                </a:rPr>
                <a:t> Cosine Annealing</a:t>
              </a:r>
              <a:br>
                <a:rPr b="0" lang="it" sz="808">
                  <a:solidFill>
                    <a:srgbClr val="E6EDF3"/>
                  </a:solidFill>
                  <a:latin typeface="Inter"/>
                  <a:ea typeface="Inter"/>
                  <a:cs typeface="Inter"/>
                  <a:sym typeface="Inter"/>
                </a:rPr>
              </a:br>
              <a:r>
                <a:rPr b="0" lang="it" sz="808">
                  <a:solidFill>
                    <a:srgbClr val="E6EDF3"/>
                  </a:solidFill>
                  <a:latin typeface="Inter"/>
                  <a:ea typeface="Inter"/>
                  <a:cs typeface="Inter"/>
                  <a:sym typeface="Inter"/>
                </a:rPr>
                <a:t>(down to ηmin = 2.5 × 10-6)</a:t>
              </a:r>
              <a:endParaRPr b="0" sz="808">
                <a:solidFill>
                  <a:srgbClr val="E6EDF3"/>
                </a:solidFill>
                <a:latin typeface="Inter"/>
                <a:ea typeface="Inter"/>
                <a:cs typeface="Inter"/>
                <a:sym typeface="Inter"/>
              </a:endParaRPr>
            </a:p>
            <a:p>
              <a:pPr indent="0" lvl="0" marL="0" rtl="0" algn="l">
                <a:spcBef>
                  <a:spcPts val="300"/>
                </a:spcBef>
                <a:spcAft>
                  <a:spcPts val="0"/>
                </a:spcAft>
                <a:buClr>
                  <a:schemeClr val="dk1"/>
                </a:buClr>
                <a:buSzPts val="1100"/>
                <a:buFont typeface="Arial"/>
                <a:buNone/>
              </a:pPr>
              <a:r>
                <a:rPr lang="it" sz="765">
                  <a:solidFill>
                    <a:srgbClr val="8B949E"/>
                  </a:solidFill>
                  <a:latin typeface="Inter SemiBold"/>
                  <a:ea typeface="Inter SemiBold"/>
                  <a:cs typeface="Inter SemiBold"/>
                  <a:sym typeface="Inter SemiBold"/>
                </a:rPr>
                <a:t>Precision:</a:t>
              </a:r>
              <a:r>
                <a:rPr lang="it" sz="808">
                  <a:solidFill>
                    <a:srgbClr val="E6EDF3"/>
                  </a:solidFill>
                  <a:latin typeface="Inter"/>
                  <a:ea typeface="Inter"/>
                  <a:cs typeface="Inter"/>
                  <a:sym typeface="Inter"/>
                </a:rPr>
                <a:t> FP32</a:t>
              </a:r>
              <a:endParaRPr b="0" sz="808">
                <a:solidFill>
                  <a:srgbClr val="E6EDF3"/>
                </a:solidFill>
                <a:latin typeface="Inter"/>
                <a:ea typeface="Inter"/>
                <a:cs typeface="Inter"/>
                <a:sym typeface="Inter"/>
              </a:endParaRPr>
            </a:p>
          </p:txBody>
        </p:sp>
        <p:cxnSp>
          <p:nvCxnSpPr>
            <p:cNvPr id="982" name="Google Shape;982;p58"/>
            <p:cNvCxnSpPr/>
            <p:nvPr/>
          </p:nvCxnSpPr>
          <p:spPr>
            <a:xfrm>
              <a:off x="2143125" y="381000"/>
              <a:ext cx="0" cy="1476300"/>
            </a:xfrm>
            <a:prstGeom prst="straightConnector1">
              <a:avLst/>
            </a:prstGeom>
            <a:solidFill>
              <a:srgbClr val="FFFFFF"/>
            </a:solidFill>
            <a:ln cap="flat" cmpd="sng" w="9525">
              <a:solidFill>
                <a:srgbClr val="30363D"/>
              </a:solidFill>
              <a:prstDash val="solid"/>
              <a:round/>
              <a:headEnd len="sm" w="sm" type="none"/>
              <a:tailEnd len="sm" w="sm" type="none"/>
            </a:ln>
          </p:spPr>
        </p:cxnSp>
        <p:sp>
          <p:nvSpPr>
            <p:cNvPr id="983" name="Google Shape;983;p58"/>
            <p:cNvSpPr txBox="1"/>
            <p:nvPr/>
          </p:nvSpPr>
          <p:spPr>
            <a:xfrm>
              <a:off x="2266950" y="361950"/>
              <a:ext cx="18573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08">
                  <a:solidFill>
                    <a:srgbClr val="7EE787"/>
                  </a:solidFill>
                  <a:latin typeface="Inter SemiBold"/>
                  <a:ea typeface="Inter SemiBold"/>
                  <a:cs typeface="Inter SemiBold"/>
                  <a:sym typeface="Inter SemiBold"/>
                </a:rPr>
                <a:t>Stage 2: L-BFGS</a:t>
              </a:r>
              <a:endParaRPr b="0" sz="808">
                <a:solidFill>
                  <a:srgbClr val="7EE787"/>
                </a:solidFill>
                <a:latin typeface="Inter SemiBold"/>
                <a:ea typeface="Inter SemiBold"/>
                <a:cs typeface="Inter SemiBold"/>
                <a:sym typeface="Inter SemiBold"/>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Max Iter:</a:t>
              </a:r>
              <a:r>
                <a:rPr b="0" lang="it" sz="808">
                  <a:solidFill>
                    <a:srgbClr val="E6EDF3"/>
                  </a:solidFill>
                  <a:latin typeface="Inter"/>
                  <a:ea typeface="Inter"/>
                  <a:cs typeface="Inter"/>
                  <a:sym typeface="Inter"/>
                </a:rPr>
                <a:t> 10k (Scratch) / 5k (TL)</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Line Search:</a:t>
              </a:r>
              <a:r>
                <a:rPr b="0" lang="it" sz="808">
                  <a:solidFill>
                    <a:srgbClr val="E6EDF3"/>
                  </a:solidFill>
                  <a:latin typeface="Inter"/>
                  <a:ea typeface="Inter"/>
                  <a:cs typeface="Inter"/>
                  <a:sym typeface="Inter"/>
                </a:rPr>
                <a:t> </a:t>
              </a:r>
              <a:r>
                <a:rPr b="0" lang="it" sz="765">
                  <a:solidFill>
                    <a:srgbClr val="FFA657"/>
                  </a:solidFill>
                  <a:latin typeface="Consolas"/>
                  <a:ea typeface="Consolas"/>
                  <a:cs typeface="Consolas"/>
                  <a:sym typeface="Consolas"/>
                </a:rPr>
                <a:t>strong_wolfe</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765">
                  <a:solidFill>
                    <a:srgbClr val="8B949E"/>
                  </a:solidFill>
                  <a:latin typeface="Inter SemiBold"/>
                  <a:ea typeface="Inter SemiBold"/>
                  <a:cs typeface="Inter SemiBold"/>
                  <a:sym typeface="Inter SemiBold"/>
                </a:rPr>
                <a:t>Precision:</a:t>
              </a:r>
              <a:r>
                <a:rPr b="0" lang="it" sz="808">
                  <a:solidFill>
                    <a:srgbClr val="E6EDF3"/>
                  </a:solidFill>
                  <a:latin typeface="Inter"/>
                  <a:ea typeface="Inter"/>
                  <a:cs typeface="Inter"/>
                  <a:sym typeface="Inter"/>
                </a:rPr>
                <a:t> Full FP64 / Double conversion</a:t>
              </a:r>
              <a:endParaRPr b="0" sz="808">
                <a:solidFill>
                  <a:srgbClr val="E6EDF3"/>
                </a:solidFill>
                <a:latin typeface="Inter"/>
                <a:ea typeface="Inter"/>
                <a:cs typeface="Inter"/>
                <a:sym typeface="Inter"/>
              </a:endParaRPr>
            </a:p>
          </p:txBody>
        </p:sp>
      </p:grpSp>
      <p:grpSp>
        <p:nvGrpSpPr>
          <p:cNvPr id="984" name="Google Shape;984;p58"/>
          <p:cNvGrpSpPr/>
          <p:nvPr/>
        </p:nvGrpSpPr>
        <p:grpSpPr>
          <a:xfrm>
            <a:off x="4619625" y="2905125"/>
            <a:ext cx="4238700" cy="2000100"/>
            <a:chOff x="0" y="0"/>
            <a:chExt cx="4238700" cy="2000100"/>
          </a:xfrm>
        </p:grpSpPr>
        <p:sp>
          <p:nvSpPr>
            <p:cNvPr id="985" name="Google Shape;985;p58"/>
            <p:cNvSpPr/>
            <p:nvPr/>
          </p:nvSpPr>
          <p:spPr>
            <a:xfrm>
              <a:off x="0" y="0"/>
              <a:ext cx="4238700" cy="2000100"/>
            </a:xfrm>
            <a:prstGeom prst="roundRect">
              <a:avLst>
                <a:gd fmla="val 2857"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6" name="Google Shape;986;p58"/>
            <p:cNvSpPr txBox="1"/>
            <p:nvPr/>
          </p:nvSpPr>
          <p:spPr>
            <a:xfrm>
              <a:off x="152400" y="114300"/>
              <a:ext cx="3933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58A6FF"/>
                  </a:solidFill>
                  <a:latin typeface="Inter SemiBold"/>
                  <a:ea typeface="Inter SemiBold"/>
                  <a:cs typeface="Inter SemiBold"/>
                  <a:sym typeface="Inter SemiBold"/>
                </a:rPr>
                <a:t>5. Loss Weights &amp; Infrastructure</a:t>
              </a:r>
              <a:endParaRPr b="0" sz="1100">
                <a:solidFill>
                  <a:srgbClr val="58A6FF"/>
                </a:solidFill>
                <a:latin typeface="Inter SemiBold"/>
                <a:ea typeface="Inter SemiBold"/>
                <a:cs typeface="Inter SemiBold"/>
                <a:sym typeface="Inter SemiBold"/>
              </a:endParaRPr>
            </a:p>
          </p:txBody>
        </p:sp>
        <p:sp>
          <p:nvSpPr>
            <p:cNvPr id="987" name="Google Shape;987;p58"/>
            <p:cNvSpPr txBox="1"/>
            <p:nvPr/>
          </p:nvSpPr>
          <p:spPr>
            <a:xfrm>
              <a:off x="152400" y="361950"/>
              <a:ext cx="3933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808">
                  <a:solidFill>
                    <a:srgbClr val="D2A8FF"/>
                  </a:solidFill>
                  <a:latin typeface="Inter SemiBold"/>
                  <a:ea typeface="Inter SemiBold"/>
                  <a:cs typeface="Inter SemiBold"/>
                  <a:sym typeface="Inter SemiBold"/>
                </a:rPr>
                <a:t>Loss Weights Configuration:</a:t>
              </a:r>
              <a:endParaRPr b="0" sz="808">
                <a:solidFill>
                  <a:srgbClr val="E6EDF3"/>
                </a:solidFill>
                <a:latin typeface="Inter"/>
                <a:ea typeface="Inter"/>
                <a:cs typeface="Inter"/>
                <a:sym typeface="Inter"/>
              </a:endParaRPr>
            </a:p>
            <a:p>
              <a:pPr indent="0" lvl="0" marL="0" rtl="0" algn="l">
                <a:spcBef>
                  <a:spcPts val="450"/>
                </a:spcBef>
                <a:spcAft>
                  <a:spcPts val="0"/>
                </a:spcAft>
                <a:buNone/>
              </a:pPr>
              <a:r>
                <a:rPr b="0" lang="it" sz="786">
                  <a:solidFill>
                    <a:srgbClr val="FFA657"/>
                  </a:solidFill>
                  <a:latin typeface="Consolas"/>
                  <a:ea typeface="Consolas"/>
                  <a:cs typeface="Consolas"/>
                  <a:sym typeface="Consolas"/>
                </a:rPr>
                <a:t>Phase 1: Wdata=1.0 | Wbc=5.0 | Wcon=1.0 | Wmom=0.0 | Wroll_stress=1.0</a:t>
              </a:r>
              <a:endParaRPr b="0" sz="786">
                <a:solidFill>
                  <a:srgbClr val="FFA657"/>
                </a:solidFill>
                <a:latin typeface="Consolas"/>
                <a:ea typeface="Consolas"/>
                <a:cs typeface="Consolas"/>
                <a:sym typeface="Consolas"/>
              </a:endParaRPr>
            </a:p>
            <a:p>
              <a:pPr indent="0" lvl="0" marL="0" rtl="0" algn="l">
                <a:spcBef>
                  <a:spcPts val="225"/>
                </a:spcBef>
                <a:spcAft>
                  <a:spcPts val="0"/>
                </a:spcAft>
                <a:buNone/>
              </a:pPr>
              <a:r>
                <a:rPr b="0" lang="it" sz="786">
                  <a:solidFill>
                    <a:srgbClr val="FFA657"/>
                  </a:solidFill>
                  <a:latin typeface="Consolas"/>
                  <a:ea typeface="Consolas"/>
                  <a:cs typeface="Consolas"/>
                  <a:sym typeface="Consolas"/>
                </a:rPr>
                <a:t>Phase 2: Wdata=20.0 | Wbc=5.0 | Wmom=1.0 | Wcon=0.0</a:t>
              </a:r>
              <a:endParaRPr b="0" sz="786">
                <a:solidFill>
                  <a:srgbClr val="FFA657"/>
                </a:solidFill>
                <a:latin typeface="Consolas"/>
                <a:ea typeface="Consolas"/>
                <a:cs typeface="Consolas"/>
                <a:sym typeface="Consolas"/>
              </a:endParaRPr>
            </a:p>
            <a:p>
              <a:pPr indent="0" lvl="0" marL="0" rtl="0" algn="l">
                <a:spcBef>
                  <a:spcPts val="600"/>
                </a:spcBef>
                <a:spcAft>
                  <a:spcPts val="0"/>
                </a:spcAft>
                <a:buNone/>
              </a:pPr>
              <a:r>
                <a:t/>
              </a:r>
              <a:endParaRPr b="0" sz="808">
                <a:solidFill>
                  <a:srgbClr val="E6EDF3"/>
                </a:solidFill>
                <a:latin typeface="Inter"/>
                <a:ea typeface="Inter"/>
                <a:cs typeface="Inter"/>
                <a:sym typeface="Inter"/>
              </a:endParaRPr>
            </a:p>
            <a:p>
              <a:pPr indent="0" lvl="0" marL="0" rtl="0" algn="l">
                <a:spcBef>
                  <a:spcPts val="600"/>
                </a:spcBef>
                <a:spcAft>
                  <a:spcPts val="0"/>
                </a:spcAft>
                <a:buNone/>
              </a:pPr>
              <a:r>
                <a:t/>
              </a:r>
              <a:endParaRPr b="0" sz="808">
                <a:solidFill>
                  <a:srgbClr val="E6EDF3"/>
                </a:solidFill>
                <a:latin typeface="Inter"/>
                <a:ea typeface="Inter"/>
                <a:cs typeface="Inter"/>
                <a:sym typeface="Inter"/>
              </a:endParaRPr>
            </a:p>
            <a:p>
              <a:pPr indent="0" lvl="0" marL="0" rtl="0" algn="l">
                <a:spcBef>
                  <a:spcPts val="300"/>
                </a:spcBef>
                <a:spcAft>
                  <a:spcPts val="0"/>
                </a:spcAft>
                <a:buNone/>
              </a:pPr>
              <a:r>
                <a:rPr b="0" lang="it" sz="808">
                  <a:solidFill>
                    <a:srgbClr val="D2A8FF"/>
                  </a:solidFill>
                  <a:latin typeface="Inter SemiBold"/>
                  <a:ea typeface="Inter SemiBold"/>
                  <a:cs typeface="Inter SemiBold"/>
                  <a:sym typeface="Inter SemiBold"/>
                </a:rPr>
                <a:t>Reproducibility:</a:t>
              </a:r>
              <a:r>
                <a:rPr b="0" lang="it" sz="808">
                  <a:solidFill>
                    <a:srgbClr val="E6EDF3"/>
                  </a:solidFill>
                  <a:latin typeface="Inter"/>
                  <a:ea typeface="Inter"/>
                  <a:cs typeface="Inter"/>
                  <a:sym typeface="Inter"/>
                </a:rPr>
                <a:t> Fixed Global Seed = 123</a:t>
              </a:r>
              <a:endParaRPr b="0" sz="808">
                <a:solidFill>
                  <a:srgbClr val="E6EDF3"/>
                </a:solidFill>
                <a:latin typeface="Inter"/>
                <a:ea typeface="Inter"/>
                <a:cs typeface="Inter"/>
                <a:sym typeface="Inter"/>
              </a:endParaRPr>
            </a:p>
          </p:txBody>
        </p:sp>
      </p:grpSp>
      <p:cxnSp>
        <p:nvCxnSpPr>
          <p:cNvPr id="988" name="Google Shape;988;p58"/>
          <p:cNvCxnSpPr/>
          <p:nvPr/>
        </p:nvCxnSpPr>
        <p:spPr>
          <a:xfrm>
            <a:off x="381000" y="6946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989" name="Google Shape;989;p5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990" name="Google Shape;990;p58"/>
          <p:cNvGrpSpPr/>
          <p:nvPr/>
        </p:nvGrpSpPr>
        <p:grpSpPr>
          <a:xfrm>
            <a:off x="4619625" y="809625"/>
            <a:ext cx="4238700" cy="1952700"/>
            <a:chOff x="1428750" y="0"/>
            <a:chExt cx="4238700" cy="1952700"/>
          </a:xfrm>
        </p:grpSpPr>
        <p:sp>
          <p:nvSpPr>
            <p:cNvPr id="991" name="Google Shape;991;p58"/>
            <p:cNvSpPr/>
            <p:nvPr/>
          </p:nvSpPr>
          <p:spPr>
            <a:xfrm>
              <a:off x="1428750" y="0"/>
              <a:ext cx="4238700" cy="1952700"/>
            </a:xfrm>
            <a:prstGeom prst="roundRect">
              <a:avLst>
                <a:gd fmla="val 2925"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2" name="Google Shape;992;p58"/>
            <p:cNvSpPr txBox="1"/>
            <p:nvPr/>
          </p:nvSpPr>
          <p:spPr>
            <a:xfrm>
              <a:off x="1581150" y="114300"/>
              <a:ext cx="3933900" cy="2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1100">
                  <a:solidFill>
                    <a:srgbClr val="58A6FF"/>
                  </a:solidFill>
                  <a:latin typeface="Inter SemiBold"/>
                  <a:ea typeface="Inter SemiBold"/>
                  <a:cs typeface="Inter SemiBold"/>
                  <a:sym typeface="Inter SemiBold"/>
                </a:rPr>
                <a:t>2. Staged Optimization Strategy</a:t>
              </a:r>
              <a:endParaRPr b="0" i="0" sz="1100">
                <a:solidFill>
                  <a:srgbClr val="58A6FF"/>
                </a:solidFill>
                <a:latin typeface="Inter SemiBold"/>
                <a:ea typeface="Inter SemiBold"/>
                <a:cs typeface="Inter SemiBold"/>
                <a:sym typeface="Inter SemiBold"/>
              </a:endParaRPr>
            </a:p>
          </p:txBody>
        </p:sp>
        <p:sp>
          <p:nvSpPr>
            <p:cNvPr id="993" name="Google Shape;993;p58"/>
            <p:cNvSpPr/>
            <p:nvPr/>
          </p:nvSpPr>
          <p:spPr>
            <a:xfrm>
              <a:off x="1581150" y="361950"/>
              <a:ext cx="3933900" cy="685800"/>
            </a:xfrm>
            <a:prstGeom prst="roundRect">
              <a:avLst>
                <a:gd fmla="val 5555"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4" name="Google Shape;994;p58"/>
            <p:cNvSpPr txBox="1"/>
            <p:nvPr/>
          </p:nvSpPr>
          <p:spPr>
            <a:xfrm>
              <a:off x="1657350" y="419100"/>
              <a:ext cx="37815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86">
                  <a:solidFill>
                    <a:srgbClr val="79C0FF"/>
                  </a:solidFill>
                  <a:latin typeface="Inter SemiBold"/>
                  <a:ea typeface="Inter SemiBold"/>
                  <a:cs typeface="Inter SemiBold"/>
                  <a:sym typeface="Inter SemiBold"/>
                </a:rPr>
                <a:t>PHASE 1: Kinematics &amp; Rheology</a:t>
              </a:r>
              <a:endParaRPr b="0" i="0" sz="786">
                <a:solidFill>
                  <a:srgbClr val="79C0FF"/>
                </a:solidFill>
                <a:latin typeface="Inter SemiBold"/>
                <a:ea typeface="Inter SemiBold"/>
                <a:cs typeface="Inter SemiBold"/>
                <a:sym typeface="Inter SemiBold"/>
              </a:endParaRPr>
            </a:p>
            <a:p>
              <a:pPr indent="0" lvl="0" marL="0" rtl="0" algn="l">
                <a:spcBef>
                  <a:spcPts val="225"/>
                </a:spcBef>
                <a:spcAft>
                  <a:spcPts val="0"/>
                </a:spcAft>
                <a:buNone/>
              </a:pPr>
              <a:r>
                <a:rPr b="0" i="0" lang="it" sz="786">
                  <a:solidFill>
                    <a:srgbClr val="C9D1D9"/>
                  </a:solidFill>
                  <a:latin typeface="Inter"/>
                  <a:ea typeface="Inter"/>
                  <a:cs typeface="Inter"/>
                  <a:sym typeface="Inter"/>
                </a:rPr>
                <a:t>• Train ψ &amp; τ; Freeze p (Wmom=0, Wcon=1.0)</a:t>
              </a:r>
              <a:endParaRPr b="0" i="0" sz="786">
                <a:solidFill>
                  <a:srgbClr val="79C0FF"/>
                </a:solidFill>
                <a:latin typeface="Inter SemiBold"/>
                <a:ea typeface="Inter SemiBold"/>
                <a:cs typeface="Inter SemiBold"/>
                <a:sym typeface="Inter SemiBold"/>
              </a:endParaRPr>
            </a:p>
            <a:p>
              <a:pPr indent="0" lvl="0" marL="0" rtl="0" algn="l">
                <a:spcBef>
                  <a:spcPts val="225"/>
                </a:spcBef>
                <a:spcAft>
                  <a:spcPts val="225"/>
                </a:spcAft>
                <a:buNone/>
              </a:pPr>
              <a:r>
                <a:rPr b="0" i="0" lang="it" sz="786">
                  <a:solidFill>
                    <a:srgbClr val="7EE787"/>
                  </a:solidFill>
                  <a:latin typeface="Inter SemiBold"/>
                  <a:ea typeface="Inter SemiBold"/>
                  <a:cs typeface="Inter SemiBold"/>
                  <a:sym typeface="Inter SemiBold"/>
                </a:rPr>
                <a:t>• </a:t>
              </a:r>
              <a:r>
                <a:rPr lang="it" sz="786">
                  <a:solidFill>
                    <a:srgbClr val="EF4444"/>
                  </a:solidFill>
                  <a:latin typeface="Inter SemiBold"/>
                  <a:ea typeface="Inter SemiBold"/>
                  <a:cs typeface="Inter SemiBold"/>
                  <a:sym typeface="Inter SemiBold"/>
                </a:rPr>
                <a:t>Active</a:t>
              </a:r>
              <a:r>
                <a:rPr b="0" i="0" lang="it" sz="786">
                  <a:solidFill>
                    <a:srgbClr val="7EE787"/>
                  </a:solidFill>
                  <a:latin typeface="Inter SemiBold"/>
                  <a:ea typeface="Inter SemiBold"/>
                  <a:cs typeface="Inter SemiBold"/>
                  <a:sym typeface="Inter SemiBold"/>
                </a:rPr>
                <a:t> Parameters:</a:t>
              </a:r>
              <a:r>
                <a:rPr b="0" i="0" lang="it" sz="786">
                  <a:solidFill>
                    <a:srgbClr val="C9D1D9"/>
                  </a:solidFill>
                  <a:latin typeface="Inter"/>
                  <a:ea typeface="Inter"/>
                  <a:cs typeface="Inter"/>
                  <a:sym typeface="Inter"/>
                </a:rPr>
                <a:t> λ, μp, α, ε</a:t>
              </a:r>
              <a:endParaRPr b="0" i="0" sz="786">
                <a:solidFill>
                  <a:srgbClr val="79C0FF"/>
                </a:solidFill>
                <a:latin typeface="Inter SemiBold"/>
                <a:ea typeface="Inter SemiBold"/>
                <a:cs typeface="Inter SemiBold"/>
                <a:sym typeface="Inter SemiBold"/>
              </a:endParaRPr>
            </a:p>
          </p:txBody>
        </p:sp>
        <p:sp>
          <p:nvSpPr>
            <p:cNvPr id="995" name="Google Shape;995;p58"/>
            <p:cNvSpPr txBox="1"/>
            <p:nvPr/>
          </p:nvSpPr>
          <p:spPr>
            <a:xfrm>
              <a:off x="1657350" y="1162050"/>
              <a:ext cx="37815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27">
                  <a:solidFill>
                    <a:srgbClr val="FFA657"/>
                  </a:solidFill>
                  <a:latin typeface="Inter SemiBold"/>
                  <a:ea typeface="Inter SemiBold"/>
                  <a:cs typeface="Inter SemiBold"/>
                  <a:sym typeface="Inter SemiBold"/>
                </a:rPr>
                <a:t>PHASE 2: Hydrodynamics &amp; Pressure</a:t>
              </a:r>
              <a:endParaRPr b="0" i="0" sz="727">
                <a:solidFill>
                  <a:srgbClr val="FFA657"/>
                </a:solidFill>
                <a:latin typeface="Inter SemiBold"/>
                <a:ea typeface="Inter SemiBold"/>
                <a:cs typeface="Inter SemiBold"/>
                <a:sym typeface="Inter SemiBold"/>
              </a:endParaRPr>
            </a:p>
            <a:p>
              <a:pPr indent="0" lvl="0" marL="0" rtl="0" algn="l">
                <a:spcBef>
                  <a:spcPts val="225"/>
                </a:spcBef>
                <a:spcAft>
                  <a:spcPts val="0"/>
                </a:spcAft>
                <a:buNone/>
              </a:pPr>
              <a:r>
                <a:rPr b="0" i="0" lang="it" sz="727">
                  <a:solidFill>
                    <a:srgbClr val="C9D1D9"/>
                  </a:solidFill>
                  <a:latin typeface="Inter"/>
                  <a:ea typeface="Inter"/>
                  <a:cs typeface="Inter"/>
                  <a:sym typeface="Inter"/>
                </a:rPr>
                <a:t>• Freeze τ (precomputed ∇·τ); Train p &amp; ψ</a:t>
              </a:r>
              <a:endParaRPr b="0" i="0" sz="727">
                <a:solidFill>
                  <a:srgbClr val="FFA657"/>
                </a:solidFill>
                <a:latin typeface="Inter SemiBold"/>
                <a:ea typeface="Inter SemiBold"/>
                <a:cs typeface="Inter SemiBold"/>
                <a:sym typeface="Inter SemiBold"/>
              </a:endParaRPr>
            </a:p>
            <a:p>
              <a:pPr indent="0" lvl="0" marL="0" rtl="0" algn="l">
                <a:spcBef>
                  <a:spcPts val="225"/>
                </a:spcBef>
                <a:spcAft>
                  <a:spcPts val="0"/>
                </a:spcAft>
                <a:buNone/>
              </a:pPr>
              <a:r>
                <a:rPr b="0" i="0" lang="it" sz="727">
                  <a:solidFill>
                    <a:srgbClr val="C9D1D9"/>
                  </a:solidFill>
                  <a:latin typeface="Inter"/>
                  <a:ea typeface="Inter"/>
                  <a:cs typeface="Inter"/>
                  <a:sym typeface="Inter"/>
                </a:rPr>
                <a:t>• </a:t>
              </a:r>
              <a:r>
                <a:rPr b="0" i="0" lang="it" sz="727">
                  <a:solidFill>
                    <a:srgbClr val="7EE787"/>
                  </a:solidFill>
                  <a:latin typeface="Inter"/>
                  <a:ea typeface="Inter"/>
                  <a:cs typeface="Inter"/>
                  <a:sym typeface="Inter"/>
                </a:rPr>
                <a:t>Micro-unfreezing:</a:t>
              </a:r>
              <a:r>
                <a:rPr b="0" i="0" lang="it" sz="727">
                  <a:solidFill>
                    <a:srgbClr val="C9D1D9"/>
                  </a:solidFill>
                  <a:latin typeface="Inter"/>
                  <a:ea typeface="Inter"/>
                  <a:cs typeface="Inter"/>
                  <a:sym typeface="Inter"/>
                </a:rPr>
                <a:t> ψ active at LR/10</a:t>
              </a:r>
              <a:endParaRPr b="0" i="0" sz="727">
                <a:solidFill>
                  <a:srgbClr val="FFA657"/>
                </a:solidFill>
                <a:latin typeface="Inter SemiBold"/>
                <a:ea typeface="Inter SemiBold"/>
                <a:cs typeface="Inter SemiBold"/>
                <a:sym typeface="Inter SemiBold"/>
              </a:endParaRPr>
            </a:p>
            <a:p>
              <a:pPr indent="0" lvl="0" marL="0" rtl="0" algn="l">
                <a:spcBef>
                  <a:spcPts val="225"/>
                </a:spcBef>
                <a:spcAft>
                  <a:spcPts val="225"/>
                </a:spcAft>
                <a:buNone/>
              </a:pPr>
              <a:r>
                <a:rPr b="0" i="0" lang="it" sz="727">
                  <a:solidFill>
                    <a:srgbClr val="7EE787"/>
                  </a:solidFill>
                  <a:latin typeface="Inter SemiBold"/>
                  <a:ea typeface="Inter SemiBold"/>
                  <a:cs typeface="Inter SemiBold"/>
                  <a:sym typeface="Inter SemiBold"/>
                </a:rPr>
                <a:t>• Known solvent viscosity μs</a:t>
              </a:r>
              <a:r>
                <a:rPr b="0" i="0" lang="it" sz="727">
                  <a:solidFill>
                    <a:srgbClr val="C9D1D9"/>
                  </a:solidFill>
                  <a:latin typeface="Inter"/>
                  <a:ea typeface="Inter"/>
                  <a:cs typeface="Inter"/>
                  <a:sym typeface="Inter"/>
                </a:rPr>
                <a:t> (Wmom=1.0, Wcon=0)</a:t>
              </a:r>
              <a:endParaRPr b="0" i="0" sz="727">
                <a:solidFill>
                  <a:srgbClr val="FFA657"/>
                </a:solidFill>
                <a:latin typeface="Inter SemiBold"/>
                <a:ea typeface="Inter SemiBold"/>
                <a:cs typeface="Inter SemiBold"/>
                <a:sym typeface="Inter SemiBold"/>
              </a:endParaRPr>
            </a:p>
          </p:txBody>
        </p:sp>
        <p:sp>
          <p:nvSpPr>
            <p:cNvPr id="996" name="Google Shape;996;p58"/>
            <p:cNvSpPr/>
            <p:nvPr/>
          </p:nvSpPr>
          <p:spPr>
            <a:xfrm>
              <a:off x="1581150" y="1104900"/>
              <a:ext cx="3933900" cy="743100"/>
            </a:xfrm>
            <a:prstGeom prst="roundRect">
              <a:avLst>
                <a:gd fmla="val 5127" name="adj"/>
              </a:avLst>
            </a:prstGeom>
            <a:solidFill>
              <a:srgbClr val="21262D"/>
            </a:solidFill>
            <a:ln cap="flat" cmpd="sng" w="9525">
              <a:solidFill>
                <a:srgbClr val="363B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97" name="Google Shape;997;p58"/>
          <p:cNvSpPr txBox="1"/>
          <p:nvPr/>
        </p:nvSpPr>
        <p:spPr>
          <a:xfrm>
            <a:off x="4875625" y="1942950"/>
            <a:ext cx="3781500" cy="628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225"/>
              </a:spcAft>
              <a:buNone/>
            </a:pPr>
            <a:r>
              <a:rPr lang="it" sz="727">
                <a:solidFill>
                  <a:srgbClr val="EF4444"/>
                </a:solidFill>
                <a:latin typeface="Inter SemiBold"/>
                <a:ea typeface="Inter SemiBold"/>
                <a:cs typeface="Inter SemiBold"/>
                <a:sym typeface="Inter SemiBold"/>
              </a:rPr>
              <a:t>NO </a:t>
            </a:r>
            <a:r>
              <a:rPr b="0" i="0" lang="it" sz="727">
                <a:solidFill>
                  <a:srgbClr val="EF4444"/>
                </a:solidFill>
                <a:latin typeface="Inter SemiBold"/>
                <a:ea typeface="Inter SemiBold"/>
                <a:cs typeface="Inter SemiBold"/>
                <a:sym typeface="Inter SemiBold"/>
              </a:rPr>
              <a:t>PHASE 2</a:t>
            </a:r>
            <a:endParaRPr b="0" i="0" sz="727">
              <a:solidFill>
                <a:srgbClr val="EF4444"/>
              </a:solidFill>
              <a:latin typeface="Inter SemiBold"/>
              <a:ea typeface="Inter SemiBold"/>
              <a:cs typeface="Inter SemiBold"/>
              <a:sym typeface="Inter SemiBo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001" name="Shape 1001"/>
        <p:cNvGrpSpPr/>
        <p:nvPr/>
      </p:nvGrpSpPr>
      <p:grpSpPr>
        <a:xfrm>
          <a:off x="0" y="0"/>
          <a:ext cx="0" cy="0"/>
          <a:chOff x="0" y="0"/>
          <a:chExt cx="0" cy="0"/>
        </a:xfrm>
      </p:grpSpPr>
      <p:sp>
        <p:nvSpPr>
          <p:cNvPr id="1002" name="Google Shape;1002;p59"/>
          <p:cNvSpPr txBox="1"/>
          <p:nvPr>
            <p:ph type="title"/>
          </p:nvPr>
        </p:nvSpPr>
        <p:spPr>
          <a:xfrm>
            <a:off x="285750" y="171450"/>
            <a:ext cx="8572500" cy="5526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it" sz="2000">
                <a:solidFill>
                  <a:srgbClr val="F8F9FA"/>
                </a:solidFill>
                <a:latin typeface="Inter"/>
                <a:ea typeface="Inter"/>
                <a:cs typeface="Inter"/>
                <a:sym typeface="Inter"/>
              </a:rPr>
              <a:t>Four-Roll Mill — Inverse Problem Results</a:t>
            </a:r>
            <a:endParaRPr b="1" sz="2000">
              <a:solidFill>
                <a:srgbClr val="F8F9FA"/>
              </a:solidFill>
              <a:latin typeface="Inter"/>
              <a:ea typeface="Inter"/>
              <a:cs typeface="Inter"/>
              <a:sym typeface="Inter"/>
            </a:endParaRPr>
          </a:p>
          <a:p>
            <a:pPr indent="0" lvl="0" marL="0" rtl="0" algn="l">
              <a:spcBef>
                <a:spcPts val="225"/>
              </a:spcBef>
              <a:spcAft>
                <a:spcPts val="0"/>
              </a:spcAft>
              <a:buNone/>
            </a:pPr>
            <a:r>
              <a:t/>
            </a:r>
            <a:endParaRPr b="0" sz="1000">
              <a:solidFill>
                <a:srgbClr val="8B949E"/>
              </a:solidFill>
              <a:latin typeface="Inter"/>
              <a:ea typeface="Inter"/>
              <a:cs typeface="Inter"/>
              <a:sym typeface="Inter"/>
            </a:endParaRPr>
          </a:p>
        </p:txBody>
      </p:sp>
      <p:sp>
        <p:nvSpPr>
          <p:cNvPr id="1003" name="Google Shape;1003;p59"/>
          <p:cNvSpPr/>
          <p:nvPr/>
        </p:nvSpPr>
        <p:spPr>
          <a:xfrm>
            <a:off x="285750" y="781050"/>
            <a:ext cx="8572500" cy="4172100"/>
          </a:xfrm>
          <a:prstGeom prst="roundRect">
            <a:avLst>
              <a:gd fmla="val 1826"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04" name="Google Shape;1004;p59"/>
          <p:cNvGrpSpPr/>
          <p:nvPr/>
        </p:nvGrpSpPr>
        <p:grpSpPr>
          <a:xfrm>
            <a:off x="400050" y="895350"/>
            <a:ext cx="8343900" cy="247800"/>
            <a:chOff x="0" y="0"/>
            <a:chExt cx="8343900" cy="247800"/>
          </a:xfrm>
        </p:grpSpPr>
        <p:sp>
          <p:nvSpPr>
            <p:cNvPr id="1005" name="Google Shape;1005;p59"/>
            <p:cNvSpPr/>
            <p:nvPr/>
          </p:nvSpPr>
          <p:spPr>
            <a:xfrm>
              <a:off x="0" y="0"/>
              <a:ext cx="26193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6" name="Google Shape;1006;p59"/>
            <p:cNvSpPr txBox="1"/>
            <p:nvPr/>
          </p:nvSpPr>
          <p:spPr>
            <a:xfrm>
              <a:off x="0" y="0"/>
              <a:ext cx="2619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93C5FD"/>
                  </a:solidFill>
                  <a:latin typeface="Inter SemiBold"/>
                  <a:ea typeface="Inter SemiBold"/>
                  <a:cs typeface="Inter SemiBold"/>
                  <a:sym typeface="Inter SemiBold"/>
                </a:rPr>
                <a:t>SETUP: Inverse Parameter Estimation</a:t>
              </a:r>
              <a:endParaRPr b="0" sz="850">
                <a:solidFill>
                  <a:srgbClr val="93C5FD"/>
                </a:solidFill>
                <a:latin typeface="Inter SemiBold"/>
                <a:ea typeface="Inter SemiBold"/>
                <a:cs typeface="Inter SemiBold"/>
                <a:sym typeface="Inter SemiBold"/>
              </a:endParaRPr>
            </a:p>
          </p:txBody>
        </p:sp>
        <p:grpSp>
          <p:nvGrpSpPr>
            <p:cNvPr id="1007" name="Google Shape;1007;p59"/>
            <p:cNvGrpSpPr/>
            <p:nvPr/>
          </p:nvGrpSpPr>
          <p:grpSpPr>
            <a:xfrm>
              <a:off x="2733675" y="0"/>
              <a:ext cx="2714700" cy="247800"/>
              <a:chOff x="0" y="0"/>
              <a:chExt cx="2714700" cy="247800"/>
            </a:xfrm>
          </p:grpSpPr>
          <p:sp>
            <p:nvSpPr>
              <p:cNvPr id="1008" name="Google Shape;1008;p59"/>
              <p:cNvSpPr/>
              <p:nvPr/>
            </p:nvSpPr>
            <p:spPr>
              <a:xfrm>
                <a:off x="0" y="0"/>
                <a:ext cx="27147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9" name="Google Shape;1009;p59"/>
              <p:cNvSpPr txBox="1"/>
              <p:nvPr/>
            </p:nvSpPr>
            <p:spPr>
              <a:xfrm>
                <a:off x="0" y="0"/>
                <a:ext cx="2714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34D399"/>
                    </a:solidFill>
                    <a:latin typeface="Inter SemiBold"/>
                    <a:ea typeface="Inter SemiBold"/>
                    <a:cs typeface="Inter SemiBold"/>
                    <a:sym typeface="Inter SemiBold"/>
                  </a:rPr>
                  <a:t>MESH: M125k (Highest Resolution)</a:t>
                </a:r>
                <a:endParaRPr b="0" sz="850">
                  <a:solidFill>
                    <a:srgbClr val="34D399"/>
                  </a:solidFill>
                  <a:latin typeface="Inter SemiBold"/>
                  <a:ea typeface="Inter SemiBold"/>
                  <a:cs typeface="Inter SemiBold"/>
                  <a:sym typeface="Inter SemiBold"/>
                </a:endParaRPr>
              </a:p>
            </p:txBody>
          </p:sp>
        </p:grpSp>
        <p:grpSp>
          <p:nvGrpSpPr>
            <p:cNvPr id="1010" name="Google Shape;1010;p59"/>
            <p:cNvGrpSpPr/>
            <p:nvPr/>
          </p:nvGrpSpPr>
          <p:grpSpPr>
            <a:xfrm>
              <a:off x="5524500" y="0"/>
              <a:ext cx="2819400" cy="247800"/>
              <a:chOff x="0" y="0"/>
              <a:chExt cx="2819400" cy="247800"/>
            </a:xfrm>
          </p:grpSpPr>
          <p:sp>
            <p:nvSpPr>
              <p:cNvPr id="1011" name="Google Shape;1011;p59"/>
              <p:cNvSpPr/>
              <p:nvPr/>
            </p:nvSpPr>
            <p:spPr>
              <a:xfrm>
                <a:off x="0" y="0"/>
                <a:ext cx="28194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2" name="Google Shape;1012;p59"/>
              <p:cNvSpPr txBox="1"/>
              <p:nvPr/>
            </p:nvSpPr>
            <p:spPr>
              <a:xfrm>
                <a:off x="0" y="0"/>
                <a:ext cx="2819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FBBF24"/>
                    </a:solidFill>
                    <a:latin typeface="Inter SemiBold"/>
                    <a:ea typeface="Inter SemiBold"/>
                    <a:cs typeface="Inter SemiBold"/>
                    <a:sym typeface="Inter SemiBold"/>
                  </a:rPr>
                  <a:t>PARAMS: λ =0.05 s, ηp​ = 0</a:t>
                </a:r>
                <a:r>
                  <a:rPr lang="it" sz="850">
                    <a:solidFill>
                      <a:srgbClr val="FBBF24"/>
                    </a:solidFill>
                    <a:latin typeface="Inter SemiBold"/>
                    <a:ea typeface="Inter SemiBold"/>
                    <a:cs typeface="Inter SemiBold"/>
                    <a:sym typeface="Inter SemiBold"/>
                  </a:rPr>
                  <a:t>.9 Pa s</a:t>
                </a:r>
                <a:endParaRPr b="0" sz="850">
                  <a:solidFill>
                    <a:srgbClr val="FBBF24"/>
                  </a:solidFill>
                  <a:latin typeface="Inter SemiBold"/>
                  <a:ea typeface="Inter SemiBold"/>
                  <a:cs typeface="Inter SemiBold"/>
                  <a:sym typeface="Inter SemiBold"/>
                </a:endParaRPr>
              </a:p>
            </p:txBody>
          </p:sp>
        </p:grpSp>
      </p:grpSp>
      <p:pic>
        <p:nvPicPr>
          <p:cNvPr id="1013" name="Google Shape;1013;p59"/>
          <p:cNvPicPr preferRelativeResize="0"/>
          <p:nvPr/>
        </p:nvPicPr>
        <p:blipFill rotWithShape="1">
          <a:blip r:embed="rId4">
            <a:alphaModFix/>
          </a:blip>
          <a:srcRect b="0" l="3909" r="3900" t="0"/>
          <a:stretch/>
        </p:blipFill>
        <p:spPr>
          <a:xfrm>
            <a:off x="400050" y="1219200"/>
            <a:ext cx="8343900" cy="3619500"/>
          </a:xfrm>
          <a:prstGeom prst="rect">
            <a:avLst/>
          </a:prstGeom>
          <a:noFill/>
          <a:ln>
            <a:noFill/>
          </a:ln>
        </p:spPr>
      </p:pic>
      <p:sp>
        <p:nvSpPr>
          <p:cNvPr id="1014" name="Google Shape;1014;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8" name="Shape 1018"/>
        <p:cNvGrpSpPr/>
        <p:nvPr/>
      </p:nvGrpSpPr>
      <p:grpSpPr>
        <a:xfrm>
          <a:off x="0" y="0"/>
          <a:ext cx="0" cy="0"/>
          <a:chOff x="0" y="0"/>
          <a:chExt cx="0" cy="0"/>
        </a:xfrm>
      </p:grpSpPr>
      <p:sp>
        <p:nvSpPr>
          <p:cNvPr id="1019" name="Google Shape;1019;p60"/>
          <p:cNvSpPr txBox="1"/>
          <p:nvPr>
            <p:ph type="title"/>
          </p:nvPr>
        </p:nvSpPr>
        <p:spPr>
          <a:xfrm>
            <a:off x="381000" y="266700"/>
            <a:ext cx="83820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i="0" lang="it" sz="2000">
                <a:solidFill>
                  <a:srgbClr val="F8FAFC"/>
                </a:solidFill>
                <a:latin typeface="Inter ExtraBold"/>
                <a:ea typeface="Inter ExtraBold"/>
                <a:cs typeface="Inter ExtraBold"/>
                <a:sym typeface="Inter ExtraBold"/>
              </a:rPr>
              <a:t>Inverse Problem: Key Parameter Discovery Benchmarks</a:t>
            </a:r>
            <a:endParaRPr b="0" i="0" sz="2000">
              <a:solidFill>
                <a:srgbClr val="F8FAFC"/>
              </a:solidFill>
              <a:latin typeface="Inter ExtraBold"/>
              <a:ea typeface="Inter ExtraBold"/>
              <a:cs typeface="Inter ExtraBold"/>
              <a:sym typeface="Inter ExtraBold"/>
            </a:endParaRPr>
          </a:p>
        </p:txBody>
      </p:sp>
      <p:sp>
        <p:nvSpPr>
          <p:cNvPr id="1020" name="Google Shape;102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21" name="Google Shape;1021;p60"/>
          <p:cNvSpPr/>
          <p:nvPr/>
        </p:nvSpPr>
        <p:spPr>
          <a:xfrm>
            <a:off x="381000" y="762000"/>
            <a:ext cx="8382000" cy="4048200"/>
          </a:xfrm>
          <a:prstGeom prst="roundRect">
            <a:avLst>
              <a:gd fmla="val 2823"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2" name="Google Shape;1022;p60"/>
          <p:cNvSpPr/>
          <p:nvPr/>
        </p:nvSpPr>
        <p:spPr>
          <a:xfrm>
            <a:off x="381000" y="762000"/>
            <a:ext cx="83820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23" name="Google Shape;1023;p60"/>
          <p:cNvPicPr preferRelativeResize="0"/>
          <p:nvPr/>
        </p:nvPicPr>
        <p:blipFill rotWithShape="1">
          <a:blip r:embed="rId4">
            <a:alphaModFix/>
          </a:blip>
          <a:srcRect b="4195" l="0" r="0" t="4204"/>
          <a:stretch/>
        </p:blipFill>
        <p:spPr>
          <a:xfrm>
            <a:off x="523875" y="904875"/>
            <a:ext cx="8096400" cy="37623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7" name="Shape 1027"/>
        <p:cNvGrpSpPr/>
        <p:nvPr/>
      </p:nvGrpSpPr>
      <p:grpSpPr>
        <a:xfrm>
          <a:off x="0" y="0"/>
          <a:ext cx="0" cy="0"/>
          <a:chOff x="0" y="0"/>
          <a:chExt cx="0" cy="0"/>
        </a:xfrm>
      </p:grpSpPr>
      <p:sp>
        <p:nvSpPr>
          <p:cNvPr id="1028" name="Google Shape;1028;p61"/>
          <p:cNvSpPr txBox="1"/>
          <p:nvPr/>
        </p:nvSpPr>
        <p:spPr>
          <a:xfrm>
            <a:off x="285750" y="171450"/>
            <a:ext cx="85725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F8FAFC"/>
                </a:solidFill>
                <a:latin typeface="Inter"/>
                <a:ea typeface="Inter"/>
                <a:cs typeface="Inter"/>
                <a:sym typeface="Inter"/>
              </a:rPr>
              <a:t>Grid Convergence Study — Accuracy vs. Mesh Resolution</a:t>
            </a:r>
            <a:endParaRPr b="1" sz="2000">
              <a:solidFill>
                <a:srgbClr val="F8FAFC"/>
              </a:solidFill>
              <a:latin typeface="Inter"/>
              <a:ea typeface="Inter"/>
              <a:cs typeface="Inter"/>
              <a:sym typeface="Inter"/>
            </a:endParaRPr>
          </a:p>
          <a:p>
            <a:pPr indent="0" lvl="0" marL="0" rtl="0" algn="l">
              <a:spcBef>
                <a:spcPts val="300"/>
              </a:spcBef>
              <a:spcAft>
                <a:spcPts val="0"/>
              </a:spcAft>
              <a:buNone/>
            </a:pPr>
            <a:r>
              <a:t/>
            </a:r>
            <a:endParaRPr b="0" sz="1000">
              <a:solidFill>
                <a:srgbClr val="8B949E"/>
              </a:solidFill>
              <a:latin typeface="Inter"/>
              <a:ea typeface="Inter"/>
              <a:cs typeface="Inter"/>
              <a:sym typeface="Inter"/>
            </a:endParaRPr>
          </a:p>
        </p:txBody>
      </p:sp>
      <p:sp>
        <p:nvSpPr>
          <p:cNvPr id="1029" name="Google Shape;1029;p61"/>
          <p:cNvSpPr/>
          <p:nvPr/>
        </p:nvSpPr>
        <p:spPr>
          <a:xfrm>
            <a:off x="285750" y="1043125"/>
            <a:ext cx="8572500" cy="3559800"/>
          </a:xfrm>
          <a:prstGeom prst="roundRect">
            <a:avLst>
              <a:gd fmla="val 1839" name="adj"/>
            </a:avLst>
          </a:prstGeom>
          <a:solidFill>
            <a:srgbClr val="161B22"/>
          </a:solidFill>
          <a:ln cap="flat" cmpd="sng" w="9525">
            <a:solidFill>
              <a:srgbClr val="30363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30" name="Google Shape;1030;p61"/>
          <p:cNvPicPr preferRelativeResize="0"/>
          <p:nvPr/>
        </p:nvPicPr>
        <p:blipFill rotWithShape="1">
          <a:blip r:embed="rId4">
            <a:alphaModFix/>
          </a:blip>
          <a:srcRect b="0" l="0" r="0" t="0"/>
          <a:stretch/>
        </p:blipFill>
        <p:spPr>
          <a:xfrm>
            <a:off x="359850" y="1196275"/>
            <a:ext cx="8424300" cy="3253500"/>
          </a:xfrm>
          <a:prstGeom prst="rect">
            <a:avLst/>
          </a:prstGeom>
          <a:noFill/>
          <a:ln>
            <a:noFill/>
          </a:ln>
        </p:spPr>
      </p:pic>
      <p:cxnSp>
        <p:nvCxnSpPr>
          <p:cNvPr id="1031" name="Google Shape;1031;p61"/>
          <p:cNvCxnSpPr/>
          <p:nvPr/>
        </p:nvCxnSpPr>
        <p:spPr>
          <a:xfrm>
            <a:off x="381000" y="606375"/>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032" name="Google Shape;1032;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1033" name="Google Shape;1033;p61"/>
          <p:cNvGrpSpPr/>
          <p:nvPr/>
        </p:nvGrpSpPr>
        <p:grpSpPr>
          <a:xfrm>
            <a:off x="400050" y="700850"/>
            <a:ext cx="8343900" cy="247800"/>
            <a:chOff x="0" y="0"/>
            <a:chExt cx="8343900" cy="247800"/>
          </a:xfrm>
        </p:grpSpPr>
        <p:sp>
          <p:nvSpPr>
            <p:cNvPr id="1034" name="Google Shape;1034;p61"/>
            <p:cNvSpPr/>
            <p:nvPr/>
          </p:nvSpPr>
          <p:spPr>
            <a:xfrm>
              <a:off x="0" y="0"/>
              <a:ext cx="26193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5" name="Google Shape;1035;p61"/>
            <p:cNvSpPr txBox="1"/>
            <p:nvPr/>
          </p:nvSpPr>
          <p:spPr>
            <a:xfrm>
              <a:off x="0" y="0"/>
              <a:ext cx="26193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93C5FD"/>
                  </a:solidFill>
                  <a:latin typeface="Inter SemiBold"/>
                  <a:ea typeface="Inter SemiBold"/>
                  <a:cs typeface="Inter SemiBold"/>
                  <a:sym typeface="Inter SemiBold"/>
                </a:rPr>
                <a:t>SETUP: </a:t>
              </a:r>
              <a:r>
                <a:rPr lang="it" sz="850">
                  <a:solidFill>
                    <a:srgbClr val="93C5FD"/>
                  </a:solidFill>
                  <a:latin typeface="Inter SemiBold"/>
                  <a:ea typeface="Inter SemiBold"/>
                  <a:cs typeface="Inter SemiBold"/>
                  <a:sym typeface="Inter SemiBold"/>
                </a:rPr>
                <a:t>Mesh Robustness</a:t>
              </a:r>
              <a:endParaRPr b="0" sz="850">
                <a:solidFill>
                  <a:srgbClr val="93C5FD"/>
                </a:solidFill>
                <a:latin typeface="Inter SemiBold"/>
                <a:ea typeface="Inter SemiBold"/>
                <a:cs typeface="Inter SemiBold"/>
                <a:sym typeface="Inter SemiBold"/>
              </a:endParaRPr>
            </a:p>
          </p:txBody>
        </p:sp>
        <p:grpSp>
          <p:nvGrpSpPr>
            <p:cNvPr id="1036" name="Google Shape;1036;p61"/>
            <p:cNvGrpSpPr/>
            <p:nvPr/>
          </p:nvGrpSpPr>
          <p:grpSpPr>
            <a:xfrm>
              <a:off x="2733675" y="0"/>
              <a:ext cx="2714700" cy="247800"/>
              <a:chOff x="0" y="0"/>
              <a:chExt cx="2714700" cy="247800"/>
            </a:xfrm>
          </p:grpSpPr>
          <p:sp>
            <p:nvSpPr>
              <p:cNvPr id="1037" name="Google Shape;1037;p61"/>
              <p:cNvSpPr/>
              <p:nvPr/>
            </p:nvSpPr>
            <p:spPr>
              <a:xfrm>
                <a:off x="0" y="0"/>
                <a:ext cx="27147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8" name="Google Shape;1038;p61"/>
              <p:cNvSpPr txBox="1"/>
              <p:nvPr/>
            </p:nvSpPr>
            <p:spPr>
              <a:xfrm>
                <a:off x="0" y="0"/>
                <a:ext cx="27147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34D399"/>
                    </a:solidFill>
                    <a:latin typeface="Inter SemiBold"/>
                    <a:ea typeface="Inter SemiBold"/>
                    <a:cs typeface="Inter SemiBold"/>
                    <a:sym typeface="Inter SemiBold"/>
                  </a:rPr>
                  <a:t>MESH: </a:t>
                </a:r>
                <a:r>
                  <a:rPr lang="it" sz="850">
                    <a:solidFill>
                      <a:srgbClr val="34D399"/>
                    </a:solidFill>
                    <a:latin typeface="Inter SemiBold"/>
                    <a:ea typeface="Inter SemiBold"/>
                    <a:cs typeface="Inter SemiBold"/>
                    <a:sym typeface="Inter SemiBold"/>
                  </a:rPr>
                  <a:t>All</a:t>
                </a:r>
                <a:endParaRPr b="0" sz="850">
                  <a:solidFill>
                    <a:srgbClr val="34D399"/>
                  </a:solidFill>
                  <a:latin typeface="Inter SemiBold"/>
                  <a:ea typeface="Inter SemiBold"/>
                  <a:cs typeface="Inter SemiBold"/>
                  <a:sym typeface="Inter SemiBold"/>
                </a:endParaRPr>
              </a:p>
            </p:txBody>
          </p:sp>
        </p:grpSp>
        <p:grpSp>
          <p:nvGrpSpPr>
            <p:cNvPr id="1039" name="Google Shape;1039;p61"/>
            <p:cNvGrpSpPr/>
            <p:nvPr/>
          </p:nvGrpSpPr>
          <p:grpSpPr>
            <a:xfrm>
              <a:off x="5524500" y="0"/>
              <a:ext cx="2819400" cy="247800"/>
              <a:chOff x="0" y="0"/>
              <a:chExt cx="2819400" cy="247800"/>
            </a:xfrm>
          </p:grpSpPr>
          <p:sp>
            <p:nvSpPr>
              <p:cNvPr id="1040" name="Google Shape;1040;p61"/>
              <p:cNvSpPr/>
              <p:nvPr/>
            </p:nvSpPr>
            <p:spPr>
              <a:xfrm>
                <a:off x="0" y="0"/>
                <a:ext cx="2819400" cy="247800"/>
              </a:xfrm>
              <a:prstGeom prst="roundRect">
                <a:avLst>
                  <a:gd fmla="val 1538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1" name="Google Shape;1041;p61"/>
              <p:cNvSpPr txBox="1"/>
              <p:nvPr/>
            </p:nvSpPr>
            <p:spPr>
              <a:xfrm>
                <a:off x="0" y="0"/>
                <a:ext cx="28194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t" sz="850">
                    <a:solidFill>
                      <a:srgbClr val="FBBF24"/>
                    </a:solidFill>
                    <a:latin typeface="Inter SemiBold"/>
                    <a:ea typeface="Inter SemiBold"/>
                    <a:cs typeface="Inter SemiBold"/>
                    <a:sym typeface="Inter SemiBold"/>
                  </a:rPr>
                  <a:t>PARAMS: λ =</a:t>
                </a:r>
                <a:r>
                  <a:rPr lang="it" sz="850">
                    <a:solidFill>
                      <a:srgbClr val="FBBF24"/>
                    </a:solidFill>
                    <a:latin typeface="Inter SemiBold"/>
                    <a:ea typeface="Inter SemiBold"/>
                    <a:cs typeface="Inter SemiBold"/>
                    <a:sym typeface="Inter SemiBold"/>
                  </a:rPr>
                  <a:t>0.1</a:t>
                </a:r>
                <a:r>
                  <a:rPr b="0" lang="it" sz="850">
                    <a:solidFill>
                      <a:srgbClr val="FBBF24"/>
                    </a:solidFill>
                    <a:latin typeface="Inter SemiBold"/>
                    <a:ea typeface="Inter SemiBold"/>
                    <a:cs typeface="Inter SemiBold"/>
                    <a:sym typeface="Inter SemiBold"/>
                  </a:rPr>
                  <a:t> s, ηp​ = 0</a:t>
                </a:r>
                <a:r>
                  <a:rPr lang="it" sz="850">
                    <a:solidFill>
                      <a:srgbClr val="FBBF24"/>
                    </a:solidFill>
                    <a:latin typeface="Inter SemiBold"/>
                    <a:ea typeface="Inter SemiBold"/>
                    <a:cs typeface="Inter SemiBold"/>
                    <a:sym typeface="Inter SemiBold"/>
                  </a:rPr>
                  <a:t>.5 Pa s</a:t>
                </a:r>
                <a:endParaRPr b="0" sz="850">
                  <a:solidFill>
                    <a:srgbClr val="FBBF24"/>
                  </a:solidFill>
                  <a:latin typeface="Inter SemiBold"/>
                  <a:ea typeface="Inter SemiBold"/>
                  <a:cs typeface="Inter SemiBold"/>
                  <a:sym typeface="Inter SemiBold"/>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5" name="Shape 1045"/>
        <p:cNvGrpSpPr/>
        <p:nvPr/>
      </p:nvGrpSpPr>
      <p:grpSpPr>
        <a:xfrm>
          <a:off x="0" y="0"/>
          <a:ext cx="0" cy="0"/>
          <a:chOff x="0" y="0"/>
          <a:chExt cx="0" cy="0"/>
        </a:xfrm>
      </p:grpSpPr>
      <p:sp>
        <p:nvSpPr>
          <p:cNvPr id="1046" name="Google Shape;1046;p62"/>
          <p:cNvSpPr txBox="1"/>
          <p:nvPr>
            <p:ph type="title"/>
          </p:nvPr>
        </p:nvSpPr>
        <p:spPr>
          <a:xfrm>
            <a:off x="381000" y="342900"/>
            <a:ext cx="8382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i="0" lang="it" sz="2200">
                <a:solidFill>
                  <a:srgbClr val="F8FAFC"/>
                </a:solidFill>
                <a:latin typeface="Inter ExtraBold"/>
                <a:ea typeface="Inter ExtraBold"/>
                <a:cs typeface="Inter ExtraBold"/>
                <a:sym typeface="Inter ExtraBold"/>
              </a:rPr>
              <a:t>Validation and Advantages of Transfer Learning</a:t>
            </a:r>
            <a:endParaRPr b="0" i="0" sz="2200">
              <a:solidFill>
                <a:srgbClr val="F8FAFC"/>
              </a:solidFill>
              <a:latin typeface="Inter ExtraBold"/>
              <a:ea typeface="Inter ExtraBold"/>
              <a:cs typeface="Inter ExtraBold"/>
              <a:sym typeface="Inter ExtraBold"/>
            </a:endParaRPr>
          </a:p>
        </p:txBody>
      </p:sp>
      <p:grpSp>
        <p:nvGrpSpPr>
          <p:cNvPr id="1047" name="Google Shape;1047;p62"/>
          <p:cNvGrpSpPr/>
          <p:nvPr/>
        </p:nvGrpSpPr>
        <p:grpSpPr>
          <a:xfrm>
            <a:off x="381000" y="1000125"/>
            <a:ext cx="2667000" cy="3762300"/>
            <a:chOff x="0" y="0"/>
            <a:chExt cx="2667000" cy="3762300"/>
          </a:xfrm>
        </p:grpSpPr>
        <p:sp>
          <p:nvSpPr>
            <p:cNvPr id="1048" name="Google Shape;1048;p62"/>
            <p:cNvSpPr/>
            <p:nvPr/>
          </p:nvSpPr>
          <p:spPr>
            <a:xfrm>
              <a:off x="0" y="0"/>
              <a:ext cx="2667000" cy="3762300"/>
            </a:xfrm>
            <a:prstGeom prst="roundRect">
              <a:avLst>
                <a:gd fmla="val 4285"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9" name="Google Shape;1049;p62"/>
            <p:cNvSpPr/>
            <p:nvPr/>
          </p:nvSpPr>
          <p:spPr>
            <a:xfrm>
              <a:off x="0" y="0"/>
              <a:ext cx="2667000" cy="57300"/>
            </a:xfrm>
            <a:prstGeom prst="roundRect">
              <a:avLst>
                <a:gd fmla="val 49999"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0" name="Google Shape;1050;p62"/>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1000">
                  <a:solidFill>
                    <a:srgbClr val="F59E0B"/>
                  </a:solidFill>
                  <a:latin typeface="Inter"/>
                  <a:ea typeface="Inter"/>
                  <a:cs typeface="Inter"/>
                  <a:sym typeface="Inter"/>
                </a:rPr>
                <a:t>01. MOTIVATION</a:t>
              </a:r>
              <a:endParaRPr b="1" i="0" sz="1000">
                <a:solidFill>
                  <a:srgbClr val="F59E0B"/>
                </a:solidFill>
                <a:latin typeface="Inter"/>
                <a:ea typeface="Inter"/>
                <a:cs typeface="Inter"/>
                <a:sym typeface="Inter"/>
              </a:endParaRPr>
            </a:p>
            <a:p>
              <a:pPr indent="0" lvl="0" marL="0" rtl="0" algn="l">
                <a:spcBef>
                  <a:spcPts val="1050"/>
                </a:spcBef>
                <a:spcAft>
                  <a:spcPts val="0"/>
                </a:spcAft>
                <a:buNone/>
              </a:pPr>
              <a:r>
                <a:rPr b="1" i="0" lang="it" sz="1400">
                  <a:solidFill>
                    <a:srgbClr val="F8FAFC"/>
                  </a:solidFill>
                  <a:latin typeface="Inter"/>
                  <a:ea typeface="Inter"/>
                  <a:cs typeface="Inter"/>
                  <a:sym typeface="Inter"/>
                </a:rPr>
                <a:t>Why Transfer Learning?</a:t>
              </a:r>
              <a:endParaRPr b="1" i="0" sz="1000">
                <a:solidFill>
                  <a:srgbClr val="F59E0B"/>
                </a:solidFill>
                <a:latin typeface="Inter"/>
                <a:ea typeface="Inter"/>
                <a:cs typeface="Inter"/>
                <a:sym typeface="Inter"/>
              </a:endParaRPr>
            </a:p>
            <a:p>
              <a:pPr indent="0" lvl="0" marL="0" rtl="0" algn="l">
                <a:spcBef>
                  <a:spcPts val="900"/>
                </a:spcBef>
                <a:spcAft>
                  <a:spcPts val="0"/>
                </a:spcAft>
                <a:buNone/>
              </a:pPr>
              <a:r>
                <a:rPr b="0" i="0" lang="it" sz="1050">
                  <a:solidFill>
                    <a:srgbClr val="94A3B8"/>
                  </a:solidFill>
                  <a:latin typeface="Inter"/>
                  <a:ea typeface="Inter"/>
                  <a:cs typeface="Inter"/>
                  <a:sym typeface="Inter"/>
                </a:rPr>
                <a:t>Training a viscoelastic PINN </a:t>
              </a:r>
              <a:r>
                <a:rPr b="0" i="1" lang="it" sz="1050">
                  <a:solidFill>
                    <a:srgbClr val="F8FAFC"/>
                  </a:solidFill>
                  <a:latin typeface="Inter"/>
                  <a:ea typeface="Inter"/>
                  <a:cs typeface="Inter"/>
                  <a:sym typeface="Inter"/>
                </a:rPr>
                <a:t>from scratch</a:t>
              </a:r>
              <a:r>
                <a:rPr b="0" i="0" lang="it" sz="1050">
                  <a:solidFill>
                    <a:srgbClr val="94A3B8"/>
                  </a:solidFill>
                  <a:latin typeface="Inter"/>
                  <a:ea typeface="Inter"/>
                  <a:cs typeface="Inter"/>
                  <a:sym typeface="Inter"/>
                </a:rPr>
                <a:t> for each new set of physical parameters or operating conditions is:</a:t>
              </a:r>
              <a:endParaRPr b="1" i="0" sz="1000">
                <a:solidFill>
                  <a:srgbClr val="F59E0B"/>
                </a:solidFill>
                <a:latin typeface="Inter"/>
                <a:ea typeface="Inter"/>
                <a:cs typeface="Inter"/>
                <a:sym typeface="Inter"/>
              </a:endParaRPr>
            </a:p>
            <a:p>
              <a:pPr indent="-292100" lvl="0" marL="457200" rtl="0" algn="l">
                <a:spcBef>
                  <a:spcPts val="750"/>
                </a:spcBef>
                <a:spcAft>
                  <a:spcPts val="0"/>
                </a:spcAft>
                <a:buClr>
                  <a:srgbClr val="F59E0B"/>
                </a:buClr>
                <a:buSzPts val="1000"/>
                <a:buFont typeface="Inter"/>
                <a:buChar char="●"/>
              </a:pPr>
              <a:r>
                <a:rPr b="1" i="0" lang="it" sz="1050">
                  <a:solidFill>
                    <a:srgbClr val="E2E8F0"/>
                  </a:solidFill>
                  <a:latin typeface="Inter"/>
                  <a:ea typeface="Inter"/>
                  <a:cs typeface="Inter"/>
                  <a:sym typeface="Inter"/>
                </a:rPr>
                <a:t>Computationally expensive</a:t>
              </a:r>
              <a:r>
                <a:rPr b="0" i="0" lang="it" sz="1050">
                  <a:solidFill>
                    <a:srgbClr val="94A3B8"/>
                  </a:solidFill>
                  <a:latin typeface="Inter"/>
                  <a:ea typeface="Inter"/>
                  <a:cs typeface="Inter"/>
                  <a:sym typeface="Inter"/>
                </a:rPr>
                <a:t> in terms of time and resources.</a:t>
              </a:r>
              <a:endParaRPr b="1" i="0" sz="1000">
                <a:solidFill>
                  <a:srgbClr val="F59E0B"/>
                </a:solidFill>
                <a:latin typeface="Inter"/>
                <a:ea typeface="Inter"/>
                <a:cs typeface="Inter"/>
                <a:sym typeface="Inter"/>
              </a:endParaRPr>
            </a:p>
            <a:p>
              <a:pPr indent="-292100" lvl="0" marL="457200" rtl="0" algn="l">
                <a:spcBef>
                  <a:spcPts val="600"/>
                </a:spcBef>
                <a:spcAft>
                  <a:spcPts val="0"/>
                </a:spcAft>
                <a:buClr>
                  <a:srgbClr val="F59E0B"/>
                </a:buClr>
                <a:buSzPts val="1000"/>
                <a:buFont typeface="Inter"/>
                <a:buChar char="●"/>
              </a:pPr>
              <a:r>
                <a:rPr b="1" i="0" lang="it" sz="1050">
                  <a:solidFill>
                    <a:srgbClr val="E2E8F0"/>
                  </a:solidFill>
                  <a:latin typeface="Inter"/>
                  <a:ea typeface="Inter"/>
                  <a:cs typeface="Inter"/>
                  <a:sym typeface="Inter"/>
                </a:rPr>
                <a:t>Subject to convergence</a:t>
              </a:r>
              <a:r>
                <a:rPr b="0" i="0" lang="it" sz="1050">
                  <a:solidFill>
                    <a:srgbClr val="94A3B8"/>
                  </a:solidFill>
                  <a:latin typeface="Inter"/>
                  <a:ea typeface="Inter"/>
                  <a:cs typeface="Inter"/>
                  <a:sym typeface="Inter"/>
                </a:rPr>
                <a:t> towards unfavorable local minima.</a:t>
              </a:r>
              <a:endParaRPr b="1" i="0" sz="1000">
                <a:solidFill>
                  <a:srgbClr val="F59E0B"/>
                </a:solidFill>
                <a:latin typeface="Inter"/>
                <a:ea typeface="Inter"/>
                <a:cs typeface="Inter"/>
                <a:sym typeface="Inter"/>
              </a:endParaRPr>
            </a:p>
          </p:txBody>
        </p:sp>
      </p:grpSp>
      <p:grpSp>
        <p:nvGrpSpPr>
          <p:cNvPr id="1051" name="Google Shape;1051;p62"/>
          <p:cNvGrpSpPr/>
          <p:nvPr/>
        </p:nvGrpSpPr>
        <p:grpSpPr>
          <a:xfrm>
            <a:off x="3238500" y="1000125"/>
            <a:ext cx="2667000" cy="3762300"/>
            <a:chOff x="0" y="0"/>
            <a:chExt cx="2667000" cy="3762300"/>
          </a:xfrm>
        </p:grpSpPr>
        <p:sp>
          <p:nvSpPr>
            <p:cNvPr id="1052" name="Google Shape;1052;p62"/>
            <p:cNvSpPr/>
            <p:nvPr/>
          </p:nvSpPr>
          <p:spPr>
            <a:xfrm>
              <a:off x="0" y="0"/>
              <a:ext cx="2667000" cy="3762300"/>
            </a:xfrm>
            <a:prstGeom prst="roundRect">
              <a:avLst>
                <a:gd fmla="val 4285"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3" name="Google Shape;1053;p62"/>
            <p:cNvSpPr/>
            <p:nvPr/>
          </p:nvSpPr>
          <p:spPr>
            <a:xfrm>
              <a:off x="0" y="0"/>
              <a:ext cx="2667000" cy="57300"/>
            </a:xfrm>
            <a:prstGeom prst="roundRect">
              <a:avLst>
                <a:gd fmla="val 49999" name="adj"/>
              </a:avLst>
            </a:prstGeom>
            <a:solidFill>
              <a:srgbClr val="818C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4" name="Google Shape;1054;p62"/>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1000">
                  <a:solidFill>
                    <a:srgbClr val="818CF8"/>
                  </a:solidFill>
                  <a:latin typeface="Inter"/>
                  <a:ea typeface="Inter"/>
                  <a:cs typeface="Inter"/>
                  <a:sym typeface="Inter"/>
                </a:rPr>
                <a:t>02. STRATEGY</a:t>
              </a:r>
              <a:endParaRPr b="1" i="0" sz="1000">
                <a:solidFill>
                  <a:srgbClr val="818CF8"/>
                </a:solidFill>
                <a:latin typeface="Inter"/>
                <a:ea typeface="Inter"/>
                <a:cs typeface="Inter"/>
                <a:sym typeface="Inter"/>
              </a:endParaRPr>
            </a:p>
            <a:p>
              <a:pPr indent="0" lvl="0" marL="0" rtl="0" algn="l">
                <a:spcBef>
                  <a:spcPts val="1050"/>
                </a:spcBef>
                <a:spcAft>
                  <a:spcPts val="0"/>
                </a:spcAft>
                <a:buNone/>
              </a:pPr>
              <a:r>
                <a:rPr b="1" i="0" lang="it" sz="1400">
                  <a:solidFill>
                    <a:srgbClr val="F8FAFC"/>
                  </a:solidFill>
                  <a:latin typeface="Inter"/>
                  <a:ea typeface="Inter"/>
                  <a:cs typeface="Inter"/>
                  <a:sym typeface="Inter"/>
                </a:rPr>
                <a:t>Implemented Workflow</a:t>
              </a:r>
              <a:endParaRPr b="1" i="0" sz="1000">
                <a:solidFill>
                  <a:srgbClr val="818CF8"/>
                </a:solidFill>
                <a:latin typeface="Inter"/>
                <a:ea typeface="Inter"/>
                <a:cs typeface="Inter"/>
                <a:sym typeface="Inter"/>
              </a:endParaRPr>
            </a:p>
            <a:p>
              <a:pPr indent="0" lvl="0" marL="0" rtl="0" algn="l">
                <a:spcBef>
                  <a:spcPts val="900"/>
                </a:spcBef>
                <a:spcAft>
                  <a:spcPts val="0"/>
                </a:spcAft>
                <a:buNone/>
              </a:pPr>
              <a:r>
                <a:rPr b="1" i="0" lang="it" sz="1000">
                  <a:solidFill>
                    <a:srgbClr val="E2E8F0"/>
                  </a:solidFill>
                  <a:latin typeface="Inter"/>
                  <a:ea typeface="Inter"/>
                  <a:cs typeface="Inter"/>
                  <a:sym typeface="Inter"/>
                </a:rPr>
                <a:t>1. Pre-training</a:t>
              </a:r>
              <a:endParaRPr b="1" i="0" sz="1000">
                <a:solidFill>
                  <a:srgbClr val="818CF8"/>
                </a:solidFill>
                <a:latin typeface="Inter"/>
                <a:ea typeface="Inter"/>
                <a:cs typeface="Inter"/>
                <a:sym typeface="Inter"/>
              </a:endParaRPr>
            </a:p>
            <a:p>
              <a:pPr indent="0" lvl="0" marL="0" rtl="0" algn="l">
                <a:spcBef>
                  <a:spcPts val="300"/>
                </a:spcBef>
                <a:spcAft>
                  <a:spcPts val="0"/>
                </a:spcAft>
                <a:buNone/>
              </a:pPr>
              <a:r>
                <a:rPr b="0" i="0" lang="it" sz="950">
                  <a:solidFill>
                    <a:srgbClr val="94A3B8"/>
                  </a:solidFill>
                  <a:latin typeface="Inter"/>
                  <a:ea typeface="Inter"/>
                  <a:cs typeface="Inter"/>
                  <a:sym typeface="Inter"/>
                </a:rPr>
                <a:t>Training on a base case </a:t>
              </a:r>
              <a:r>
                <a:rPr lang="it" sz="950">
                  <a:solidFill>
                    <a:srgbClr val="94A3B8"/>
                  </a:solidFill>
                  <a:latin typeface="Inter"/>
                  <a:ea typeface="Inter"/>
                  <a:cs typeface="Inter"/>
                  <a:sym typeface="Inter"/>
                </a:rPr>
                <a:t>(l</a:t>
              </a:r>
              <a:r>
                <a:rPr b="0" i="0" lang="it" sz="950">
                  <a:solidFill>
                    <a:srgbClr val="94A3B8"/>
                  </a:solidFill>
                  <a:latin typeface="Inter"/>
                  <a:ea typeface="Inter"/>
                  <a:cs typeface="Inter"/>
                  <a:sym typeface="Inter"/>
                </a:rPr>
                <a:t>ow λ</a:t>
              </a:r>
              <a:r>
                <a:rPr lang="it" sz="950">
                  <a:solidFill>
                    <a:srgbClr val="94A3B8"/>
                  </a:solidFill>
                  <a:latin typeface="Inter"/>
                  <a:ea typeface="Inter"/>
                  <a:cs typeface="Inter"/>
                  <a:sym typeface="Inter"/>
                </a:rPr>
                <a:t>)</a:t>
              </a:r>
              <a:r>
                <a:rPr b="0" i="0" lang="it" sz="950">
                  <a:solidFill>
                    <a:srgbClr val="94A3B8"/>
                  </a:solidFill>
                  <a:latin typeface="Inter"/>
                  <a:ea typeface="Inter"/>
                  <a:cs typeface="Inter"/>
                  <a:sym typeface="Inter"/>
                </a:rPr>
                <a:t> </a:t>
              </a:r>
              <a:endParaRPr b="1" i="0" sz="950">
                <a:solidFill>
                  <a:srgbClr val="818CF8"/>
                </a:solidFill>
                <a:latin typeface="Inter"/>
                <a:ea typeface="Inter"/>
                <a:cs typeface="Inter"/>
                <a:sym typeface="Inter"/>
              </a:endParaRPr>
            </a:p>
            <a:p>
              <a:pPr indent="0" lvl="0" marL="0" rtl="0" algn="l">
                <a:spcBef>
                  <a:spcPts val="900"/>
                </a:spcBef>
                <a:spcAft>
                  <a:spcPts val="0"/>
                </a:spcAft>
                <a:buNone/>
              </a:pPr>
              <a:r>
                <a:rPr b="1" i="0" lang="it" sz="1000">
                  <a:solidFill>
                    <a:srgbClr val="E2E8F0"/>
                  </a:solidFill>
                  <a:latin typeface="Inter"/>
                  <a:ea typeface="Inter"/>
                  <a:cs typeface="Inter"/>
                  <a:sym typeface="Inter"/>
                </a:rPr>
                <a:t>2. Fine-Tuning</a:t>
              </a:r>
              <a:endParaRPr b="1" i="0" sz="1000">
                <a:solidFill>
                  <a:srgbClr val="818CF8"/>
                </a:solidFill>
                <a:latin typeface="Inter"/>
                <a:ea typeface="Inter"/>
                <a:cs typeface="Inter"/>
                <a:sym typeface="Inter"/>
              </a:endParaRPr>
            </a:p>
            <a:p>
              <a:pPr indent="0" lvl="0" marL="0" rtl="0" algn="l">
                <a:spcBef>
                  <a:spcPts val="300"/>
                </a:spcBef>
                <a:spcAft>
                  <a:spcPts val="1050"/>
                </a:spcAft>
                <a:buNone/>
              </a:pPr>
              <a:r>
                <a:rPr b="0" i="0" lang="it" sz="950">
                  <a:solidFill>
                    <a:srgbClr val="94A3B8"/>
                  </a:solidFill>
                  <a:latin typeface="Inter"/>
                  <a:ea typeface="Inter"/>
                  <a:cs typeface="Inter"/>
                  <a:sym typeface="Inter"/>
                </a:rPr>
                <a:t>Weight transfer towards severe conditions (higher viscoelasticity or kinematic variations).</a:t>
              </a:r>
              <a:endParaRPr b="1" i="0" sz="950">
                <a:solidFill>
                  <a:srgbClr val="818CF8"/>
                </a:solidFill>
                <a:latin typeface="Inter"/>
                <a:ea typeface="Inter"/>
                <a:cs typeface="Inter"/>
                <a:sym typeface="Inter"/>
              </a:endParaRPr>
            </a:p>
          </p:txBody>
        </p:sp>
      </p:grpSp>
      <p:grpSp>
        <p:nvGrpSpPr>
          <p:cNvPr id="1055" name="Google Shape;1055;p62"/>
          <p:cNvGrpSpPr/>
          <p:nvPr/>
        </p:nvGrpSpPr>
        <p:grpSpPr>
          <a:xfrm>
            <a:off x="6096000" y="1000125"/>
            <a:ext cx="2667000" cy="3762300"/>
            <a:chOff x="0" y="0"/>
            <a:chExt cx="2667000" cy="3762300"/>
          </a:xfrm>
        </p:grpSpPr>
        <p:sp>
          <p:nvSpPr>
            <p:cNvPr id="1056" name="Google Shape;1056;p62"/>
            <p:cNvSpPr/>
            <p:nvPr/>
          </p:nvSpPr>
          <p:spPr>
            <a:xfrm>
              <a:off x="0" y="0"/>
              <a:ext cx="2667000" cy="3762300"/>
            </a:xfrm>
            <a:prstGeom prst="roundRect">
              <a:avLst>
                <a:gd fmla="val 4285"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7" name="Google Shape;1057;p62"/>
            <p:cNvSpPr/>
            <p:nvPr/>
          </p:nvSpPr>
          <p:spPr>
            <a:xfrm>
              <a:off x="0" y="0"/>
              <a:ext cx="2667000" cy="57300"/>
            </a:xfrm>
            <a:prstGeom prst="roundRect">
              <a:avLst>
                <a:gd fmla="val 49999" name="adj"/>
              </a:avLst>
            </a:prstGeom>
            <a:solidFill>
              <a:srgbClr val="34D3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8" name="Google Shape;1058;p62"/>
            <p:cNvSpPr txBox="1"/>
            <p:nvPr/>
          </p:nvSpPr>
          <p:spPr>
            <a:xfrm>
              <a:off x="190500" y="228600"/>
              <a:ext cx="2286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it" sz="1000">
                  <a:solidFill>
                    <a:srgbClr val="34D399"/>
                  </a:solidFill>
                  <a:latin typeface="Inter"/>
                  <a:ea typeface="Inter"/>
                  <a:cs typeface="Inter"/>
                  <a:sym typeface="Inter"/>
                </a:rPr>
                <a:t>03. RESULTS</a:t>
              </a:r>
              <a:endParaRPr b="1" i="0" sz="1000">
                <a:solidFill>
                  <a:srgbClr val="34D399"/>
                </a:solidFill>
                <a:latin typeface="Inter"/>
                <a:ea typeface="Inter"/>
                <a:cs typeface="Inter"/>
                <a:sym typeface="Inter"/>
              </a:endParaRPr>
            </a:p>
            <a:p>
              <a:pPr indent="0" lvl="0" marL="0" rtl="0" algn="l">
                <a:spcBef>
                  <a:spcPts val="1050"/>
                </a:spcBef>
                <a:spcAft>
                  <a:spcPts val="0"/>
                </a:spcAft>
                <a:buNone/>
              </a:pPr>
              <a:r>
                <a:rPr b="1" i="0" lang="it" sz="1400">
                  <a:solidFill>
                    <a:srgbClr val="F8FAFC"/>
                  </a:solidFill>
                  <a:latin typeface="Inter"/>
                  <a:ea typeface="Inter"/>
                  <a:cs typeface="Inter"/>
                  <a:sym typeface="Inter"/>
                </a:rPr>
                <a:t>Advantages and Impact</a:t>
              </a:r>
              <a:endParaRPr b="1" i="0" sz="1000">
                <a:solidFill>
                  <a:srgbClr val="34D399"/>
                </a:solidFill>
                <a:latin typeface="Inter"/>
                <a:ea typeface="Inter"/>
                <a:cs typeface="Inter"/>
                <a:sym typeface="Inter"/>
              </a:endParaRPr>
            </a:p>
            <a:p>
              <a:pPr indent="-295275" lvl="0" marL="457200" rtl="0" algn="l">
                <a:lnSpc>
                  <a:spcPct val="100000"/>
                </a:lnSpc>
                <a:spcBef>
                  <a:spcPts val="900"/>
                </a:spcBef>
                <a:spcAft>
                  <a:spcPts val="0"/>
                </a:spcAft>
                <a:buClr>
                  <a:srgbClr val="E2E8F0"/>
                </a:buClr>
                <a:buSzPts val="1050"/>
                <a:buFont typeface="Inter"/>
                <a:buChar char="●"/>
              </a:pPr>
              <a:r>
                <a:rPr b="1" i="0" lang="it" sz="1050">
                  <a:solidFill>
                    <a:srgbClr val="E2E8F0"/>
                  </a:solidFill>
                  <a:latin typeface="Inter"/>
                  <a:ea typeface="Inter"/>
                  <a:cs typeface="Inter"/>
                  <a:sym typeface="Inter"/>
                </a:rPr>
                <a:t>Convergence Acceleration</a:t>
              </a:r>
              <a:endParaRPr b="1" i="0" sz="1000">
                <a:solidFill>
                  <a:srgbClr val="34D399"/>
                </a:solidFill>
                <a:latin typeface="Inter"/>
                <a:ea typeface="Inter"/>
                <a:cs typeface="Inter"/>
                <a:sym typeface="Inter"/>
              </a:endParaRPr>
            </a:p>
            <a:p>
              <a:pPr indent="0" lvl="0" marL="0" rtl="0" algn="l">
                <a:lnSpc>
                  <a:spcPct val="100000"/>
                </a:lnSpc>
                <a:spcBef>
                  <a:spcPts val="150"/>
                </a:spcBef>
                <a:spcAft>
                  <a:spcPts val="0"/>
                </a:spcAft>
                <a:buNone/>
              </a:pPr>
              <a:r>
                <a:t/>
              </a:r>
              <a:endParaRPr b="1" i="0" sz="950">
                <a:solidFill>
                  <a:srgbClr val="34D399"/>
                </a:solidFill>
                <a:latin typeface="Inter"/>
                <a:ea typeface="Inter"/>
                <a:cs typeface="Inter"/>
                <a:sym typeface="Inter"/>
              </a:endParaRPr>
            </a:p>
            <a:p>
              <a:pPr indent="-295275" lvl="0" marL="457200" rtl="0" algn="l">
                <a:lnSpc>
                  <a:spcPct val="100000"/>
                </a:lnSpc>
                <a:spcBef>
                  <a:spcPts val="750"/>
                </a:spcBef>
                <a:spcAft>
                  <a:spcPts val="0"/>
                </a:spcAft>
                <a:buClr>
                  <a:srgbClr val="E2E8F0"/>
                </a:buClr>
                <a:buSzPts val="1050"/>
                <a:buFont typeface="Inter"/>
                <a:buChar char="●"/>
              </a:pPr>
              <a:r>
                <a:rPr b="1" i="0" lang="it" sz="1050">
                  <a:solidFill>
                    <a:srgbClr val="E2E8F0"/>
                  </a:solidFill>
                  <a:latin typeface="Inter"/>
                  <a:ea typeface="Inter"/>
                  <a:cs typeface="Inter"/>
                  <a:sym typeface="Inter"/>
                </a:rPr>
                <a:t>Numerical Stability</a:t>
              </a:r>
              <a:endParaRPr b="1" i="0" sz="1000">
                <a:solidFill>
                  <a:srgbClr val="34D399"/>
                </a:solidFill>
                <a:latin typeface="Inter"/>
                <a:ea typeface="Inter"/>
                <a:cs typeface="Inter"/>
                <a:sym typeface="Inter"/>
              </a:endParaRPr>
            </a:p>
            <a:p>
              <a:pPr indent="0" lvl="0" marL="0" rtl="0" algn="l">
                <a:lnSpc>
                  <a:spcPct val="100000"/>
                </a:lnSpc>
                <a:spcBef>
                  <a:spcPts val="150"/>
                </a:spcBef>
                <a:spcAft>
                  <a:spcPts val="0"/>
                </a:spcAft>
                <a:buNone/>
              </a:pPr>
              <a:r>
                <a:t/>
              </a:r>
              <a:endParaRPr b="1" i="0" sz="950">
                <a:solidFill>
                  <a:srgbClr val="34D399"/>
                </a:solidFill>
                <a:latin typeface="Inter"/>
                <a:ea typeface="Inter"/>
                <a:cs typeface="Inter"/>
                <a:sym typeface="Inter"/>
              </a:endParaRPr>
            </a:p>
            <a:p>
              <a:pPr indent="-295275" lvl="0" marL="457200" rtl="0" algn="l">
                <a:lnSpc>
                  <a:spcPct val="100000"/>
                </a:lnSpc>
                <a:spcBef>
                  <a:spcPts val="750"/>
                </a:spcBef>
                <a:spcAft>
                  <a:spcPts val="0"/>
                </a:spcAft>
                <a:buClr>
                  <a:srgbClr val="E2E8F0"/>
                </a:buClr>
                <a:buSzPts val="1050"/>
                <a:buFont typeface="Inter"/>
                <a:buChar char="●"/>
              </a:pPr>
              <a:r>
                <a:rPr b="1" i="0" lang="it" sz="1050">
                  <a:solidFill>
                    <a:srgbClr val="E2E8F0"/>
                  </a:solidFill>
                  <a:latin typeface="Inter"/>
                  <a:ea typeface="Inter"/>
                  <a:cs typeface="Inter"/>
                  <a:sym typeface="Inter"/>
                </a:rPr>
                <a:t>High-Efficiency Scalability</a:t>
              </a:r>
              <a:endParaRPr b="1" i="0" sz="1000">
                <a:solidFill>
                  <a:srgbClr val="34D399"/>
                </a:solidFill>
                <a:latin typeface="Inter"/>
                <a:ea typeface="Inter"/>
                <a:cs typeface="Inter"/>
                <a:sym typeface="Inter"/>
              </a:endParaRPr>
            </a:p>
            <a:p>
              <a:pPr indent="0" lvl="0" marL="0" rtl="0" algn="l">
                <a:spcBef>
                  <a:spcPts val="150"/>
                </a:spcBef>
                <a:spcAft>
                  <a:spcPts val="1050"/>
                </a:spcAft>
                <a:buNone/>
              </a:pPr>
              <a:r>
                <a:t/>
              </a:r>
              <a:endParaRPr b="1" i="0" sz="950">
                <a:solidFill>
                  <a:srgbClr val="34D399"/>
                </a:solidFill>
                <a:latin typeface="Inter"/>
                <a:ea typeface="Inter"/>
                <a:cs typeface="Inter"/>
                <a:sym typeface="Inter"/>
              </a:endParaRPr>
            </a:p>
          </p:txBody>
        </p:sp>
      </p:grpSp>
      <p:sp>
        <p:nvSpPr>
          <p:cNvPr id="1059" name="Google Shape;105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063" name="Shape 1063"/>
        <p:cNvGrpSpPr/>
        <p:nvPr/>
      </p:nvGrpSpPr>
      <p:grpSpPr>
        <a:xfrm>
          <a:off x="0" y="0"/>
          <a:ext cx="0" cy="0"/>
          <a:chOff x="0" y="0"/>
          <a:chExt cx="0" cy="0"/>
        </a:xfrm>
      </p:grpSpPr>
      <p:sp>
        <p:nvSpPr>
          <p:cNvPr id="1064" name="Google Shape;1064;p63"/>
          <p:cNvSpPr txBox="1"/>
          <p:nvPr>
            <p:ph type="title"/>
          </p:nvPr>
        </p:nvSpPr>
        <p:spPr>
          <a:xfrm>
            <a:off x="381000" y="342900"/>
            <a:ext cx="8382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it" sz="2200">
                <a:solidFill>
                  <a:srgbClr val="F8FAFC"/>
                </a:solidFill>
                <a:latin typeface="Inter ExtraBold"/>
                <a:ea typeface="Inter ExtraBold"/>
                <a:cs typeface="Inter ExtraBold"/>
                <a:sym typeface="Inter ExtraBold"/>
              </a:rPr>
              <a:t>Phase 2 Inverse Problem Limits</a:t>
            </a:r>
            <a:endParaRPr b="0" sz="2200">
              <a:solidFill>
                <a:srgbClr val="F8FAFC"/>
              </a:solidFill>
              <a:latin typeface="Inter ExtraBold"/>
              <a:ea typeface="Inter ExtraBold"/>
              <a:cs typeface="Inter ExtraBold"/>
              <a:sym typeface="Inter ExtraBold"/>
            </a:endParaRPr>
          </a:p>
        </p:txBody>
      </p:sp>
      <p:grpSp>
        <p:nvGrpSpPr>
          <p:cNvPr id="1065" name="Google Shape;1065;p63"/>
          <p:cNvGrpSpPr/>
          <p:nvPr/>
        </p:nvGrpSpPr>
        <p:grpSpPr>
          <a:xfrm>
            <a:off x="381000" y="1000125"/>
            <a:ext cx="2929166" cy="3762300"/>
            <a:chOff x="0" y="0"/>
            <a:chExt cx="4000500" cy="3762300"/>
          </a:xfrm>
        </p:grpSpPr>
        <p:sp>
          <p:nvSpPr>
            <p:cNvPr id="1066" name="Google Shape;1066;p63"/>
            <p:cNvSpPr/>
            <p:nvPr/>
          </p:nvSpPr>
          <p:spPr>
            <a:xfrm>
              <a:off x="0" y="0"/>
              <a:ext cx="4000500" cy="3762300"/>
            </a:xfrm>
            <a:prstGeom prst="roundRect">
              <a:avLst>
                <a:gd fmla="val 3037"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7" name="Google Shape;1067;p63"/>
            <p:cNvSpPr/>
            <p:nvPr/>
          </p:nvSpPr>
          <p:spPr>
            <a:xfrm>
              <a:off x="0" y="0"/>
              <a:ext cx="4000500" cy="57300"/>
            </a:xfrm>
            <a:prstGeom prst="roundRect">
              <a:avLst>
                <a:gd fmla="val 50000" name="adj"/>
              </a:avLst>
            </a:prstGeom>
            <a:solidFill>
              <a:srgbClr val="F8717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8" name="Google Shape;1068;p63"/>
            <p:cNvSpPr txBox="1"/>
            <p:nvPr/>
          </p:nvSpPr>
          <p:spPr>
            <a:xfrm>
              <a:off x="228600" y="228600"/>
              <a:ext cx="3543300" cy="3305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000">
                  <a:solidFill>
                    <a:srgbClr val="F87171"/>
                  </a:solidFill>
                  <a:latin typeface="Inter"/>
                  <a:ea typeface="Inter"/>
                  <a:cs typeface="Inter"/>
                  <a:sym typeface="Inter"/>
                </a:rPr>
                <a:t>01. IDENTIFIABILITY ISSUE</a:t>
              </a:r>
              <a:endParaRPr b="1" sz="1000">
                <a:solidFill>
                  <a:srgbClr val="F87171"/>
                </a:solidFill>
                <a:latin typeface="Inter"/>
                <a:ea typeface="Inter"/>
                <a:cs typeface="Inter"/>
                <a:sym typeface="Inter"/>
              </a:endParaRPr>
            </a:p>
            <a:p>
              <a:pPr indent="0" lvl="0" marL="0" rtl="0" algn="l">
                <a:spcBef>
                  <a:spcPts val="1050"/>
                </a:spcBef>
                <a:spcAft>
                  <a:spcPts val="0"/>
                </a:spcAft>
                <a:buNone/>
              </a:pPr>
              <a:r>
                <a:rPr b="1" lang="it" sz="1500">
                  <a:solidFill>
                    <a:srgbClr val="F8FAFC"/>
                  </a:solidFill>
                  <a:latin typeface="Inter"/>
                  <a:ea typeface="Inter"/>
                  <a:cs typeface="Inter"/>
                  <a:sym typeface="Inter"/>
                </a:rPr>
                <a:t>Identifiability Study on η</a:t>
              </a:r>
              <a:r>
                <a:rPr b="1" lang="it" sz="1100">
                  <a:solidFill>
                    <a:srgbClr val="F8FAFC"/>
                  </a:solidFill>
                  <a:latin typeface="Inter"/>
                  <a:ea typeface="Inter"/>
                  <a:cs typeface="Inter"/>
                  <a:sym typeface="Inter"/>
                </a:rPr>
                <a:t>s</a:t>
              </a:r>
              <a:endParaRPr b="1" sz="1500">
                <a:solidFill>
                  <a:srgbClr val="F8FAFC"/>
                </a:solidFill>
                <a:latin typeface="Inter"/>
                <a:ea typeface="Inter"/>
                <a:cs typeface="Inter"/>
                <a:sym typeface="Inter"/>
              </a:endParaRPr>
            </a:p>
            <a:p>
              <a:pPr indent="0" lvl="0" marL="0" rtl="0" algn="l">
                <a:spcBef>
                  <a:spcPts val="1200"/>
                </a:spcBef>
                <a:spcAft>
                  <a:spcPts val="0"/>
                </a:spcAft>
                <a:buNone/>
              </a:pPr>
              <a:r>
                <a:rPr b="0" lang="it" sz="1100">
                  <a:solidFill>
                    <a:srgbClr val="94A3B8"/>
                  </a:solidFill>
                  <a:latin typeface="Inter"/>
                  <a:ea typeface="Inter"/>
                  <a:cs typeface="Inter"/>
                  <a:sym typeface="Inter"/>
                </a:rPr>
                <a:t>Our current setup renders velocity fields insensitive to variations in solvent viscosity (η</a:t>
              </a:r>
              <a:r>
                <a:rPr b="0" lang="it" sz="800">
                  <a:solidFill>
                    <a:srgbClr val="94A3B8"/>
                  </a:solidFill>
                  <a:latin typeface="Inter"/>
                  <a:ea typeface="Inter"/>
                  <a:cs typeface="Inter"/>
                  <a:sym typeface="Inter"/>
                </a:rPr>
                <a:t>s</a:t>
              </a:r>
              <a:r>
                <a:rPr b="0" lang="it" sz="1100">
                  <a:solidFill>
                    <a:srgbClr val="94A3B8"/>
                  </a:solidFill>
                  <a:latin typeface="Inter"/>
                  <a:ea typeface="Inter"/>
                  <a:cs typeface="Inter"/>
                  <a:sym typeface="Inter"/>
                </a:rPr>
                <a:t>):</a:t>
              </a:r>
              <a:endParaRPr b="0" sz="1100">
                <a:solidFill>
                  <a:srgbClr val="94A3B8"/>
                </a:solidFill>
                <a:latin typeface="Inter"/>
                <a:ea typeface="Inter"/>
                <a:cs typeface="Inter"/>
                <a:sym typeface="Inter"/>
              </a:endParaRPr>
            </a:p>
            <a:p>
              <a:pPr indent="0" lvl="0" marL="0" rtl="0" algn="l">
                <a:spcBef>
                  <a:spcPts val="1400"/>
                </a:spcBef>
                <a:spcAft>
                  <a:spcPts val="0"/>
                </a:spcAft>
                <a:buNone/>
              </a:pPr>
              <a:r>
                <a:rPr b="1" lang="it" sz="1050">
                  <a:solidFill>
                    <a:srgbClr val="E2E8F0"/>
                  </a:solidFill>
                  <a:latin typeface="Inter"/>
                  <a:ea typeface="Inter"/>
                  <a:cs typeface="Inter"/>
                  <a:sym typeface="Inter"/>
                </a:rPr>
                <a:t>Velocity Field Invariance</a:t>
              </a:r>
              <a:endParaRPr b="1" sz="1050">
                <a:solidFill>
                  <a:srgbClr val="E2E8F0"/>
                </a:solidFill>
                <a:latin typeface="Inter"/>
                <a:ea typeface="Inter"/>
                <a:cs typeface="Inter"/>
                <a:sym typeface="Inter"/>
              </a:endParaRPr>
            </a:p>
            <a:p>
              <a:pPr indent="-295275" lvl="0" marL="457200" rtl="0" algn="l">
                <a:spcBef>
                  <a:spcPts val="1000"/>
                </a:spcBef>
                <a:spcAft>
                  <a:spcPts val="0"/>
                </a:spcAft>
                <a:buClr>
                  <a:srgbClr val="E2E8F0"/>
                </a:buClr>
                <a:buSzPts val="1050"/>
                <a:buFont typeface="Inter"/>
                <a:buChar char="●"/>
              </a:pPr>
              <a:r>
                <a:rPr b="0" lang="it" sz="950">
                  <a:solidFill>
                    <a:srgbClr val="94A3B8"/>
                  </a:solidFill>
                  <a:latin typeface="Inter"/>
                  <a:ea typeface="Inter"/>
                  <a:cs typeface="Inter"/>
                  <a:sym typeface="Inter"/>
                </a:rPr>
                <a:t>Changes in η</a:t>
              </a:r>
              <a:r>
                <a:rPr b="0" lang="it" sz="700">
                  <a:solidFill>
                    <a:srgbClr val="94A3B8"/>
                  </a:solidFill>
                  <a:latin typeface="Inter"/>
                  <a:ea typeface="Inter"/>
                  <a:cs typeface="Inter"/>
                  <a:sym typeface="Inter"/>
                </a:rPr>
                <a:t>s</a:t>
              </a:r>
              <a:r>
                <a:rPr b="0" lang="it" sz="950">
                  <a:solidFill>
                    <a:srgbClr val="94A3B8"/>
                  </a:solidFill>
                  <a:latin typeface="Inter"/>
                  <a:ea typeface="Inter"/>
                  <a:cs typeface="Inter"/>
                  <a:sym typeface="Inter"/>
                </a:rPr>
                <a:t> produce indistinguishable effects on the velocity profiles.</a:t>
              </a:r>
              <a:endParaRPr b="0" sz="950">
                <a:solidFill>
                  <a:srgbClr val="94A3B8"/>
                </a:solidFill>
                <a:latin typeface="Inter"/>
                <a:ea typeface="Inter"/>
                <a:cs typeface="Inter"/>
                <a:sym typeface="Inter"/>
              </a:endParaRPr>
            </a:p>
            <a:p>
              <a:pPr indent="0" lvl="0" marL="0" rtl="0" algn="l">
                <a:spcBef>
                  <a:spcPts val="1000"/>
                </a:spcBef>
                <a:spcAft>
                  <a:spcPts val="0"/>
                </a:spcAft>
                <a:buNone/>
              </a:pPr>
              <a:r>
                <a:rPr b="1" lang="it" sz="1050">
                  <a:solidFill>
                    <a:srgbClr val="E2E8F0"/>
                  </a:solidFill>
                  <a:latin typeface="Inter"/>
                  <a:ea typeface="Inter"/>
                  <a:cs typeface="Inter"/>
                  <a:sym typeface="Inter"/>
                </a:rPr>
                <a:t>Optimization Bottleneck</a:t>
              </a:r>
              <a:endParaRPr b="1" sz="1050">
                <a:solidFill>
                  <a:srgbClr val="E2E8F0"/>
                </a:solidFill>
                <a:latin typeface="Inter"/>
                <a:ea typeface="Inter"/>
                <a:cs typeface="Inter"/>
                <a:sym typeface="Inter"/>
              </a:endParaRPr>
            </a:p>
            <a:p>
              <a:pPr indent="-295275" lvl="0" marL="457200" rtl="0" algn="l">
                <a:spcBef>
                  <a:spcPts val="1000"/>
                </a:spcBef>
                <a:spcAft>
                  <a:spcPts val="1000"/>
                </a:spcAft>
                <a:buClr>
                  <a:srgbClr val="E2E8F0"/>
                </a:buClr>
                <a:buSzPts val="1050"/>
                <a:buFont typeface="Inter"/>
                <a:buChar char="●"/>
              </a:pPr>
              <a:r>
                <a:rPr b="0" lang="it" sz="950">
                  <a:solidFill>
                    <a:srgbClr val="94A3B8"/>
                  </a:solidFill>
                  <a:latin typeface="Inter"/>
                  <a:ea typeface="Inter"/>
                  <a:cs typeface="Inter"/>
                  <a:sym typeface="Inter"/>
                </a:rPr>
                <a:t>Loss functions struggle to compute gradients for parameter recovery.</a:t>
              </a:r>
              <a:endParaRPr b="0" sz="950">
                <a:solidFill>
                  <a:srgbClr val="94A3B8"/>
                </a:solidFill>
                <a:latin typeface="Inter"/>
                <a:ea typeface="Inter"/>
                <a:cs typeface="Inter"/>
                <a:sym typeface="Inter"/>
              </a:endParaRPr>
            </a:p>
          </p:txBody>
        </p:sp>
      </p:grpSp>
      <p:sp>
        <p:nvSpPr>
          <p:cNvPr id="1069" name="Google Shape;106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1070" name="Google Shape;1070;p63"/>
          <p:cNvGrpSpPr/>
          <p:nvPr/>
        </p:nvGrpSpPr>
        <p:grpSpPr>
          <a:xfrm>
            <a:off x="3426725" y="1000125"/>
            <a:ext cx="5336400" cy="3762300"/>
            <a:chOff x="0" y="0"/>
            <a:chExt cx="4191000" cy="3762300"/>
          </a:xfrm>
        </p:grpSpPr>
        <p:sp>
          <p:nvSpPr>
            <p:cNvPr id="1071" name="Google Shape;1071;p63"/>
            <p:cNvSpPr/>
            <p:nvPr/>
          </p:nvSpPr>
          <p:spPr>
            <a:xfrm>
              <a:off x="0" y="0"/>
              <a:ext cx="4191000" cy="3762300"/>
            </a:xfrm>
            <a:prstGeom prst="roundRect">
              <a:avLst>
                <a:gd fmla="val 3037"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2" name="Google Shape;1072;p63"/>
            <p:cNvSpPr/>
            <p:nvPr/>
          </p:nvSpPr>
          <p:spPr>
            <a:xfrm>
              <a:off x="0" y="0"/>
              <a:ext cx="4191000" cy="573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3" name="Google Shape;1073;p63"/>
            <p:cNvSpPr txBox="1"/>
            <p:nvPr/>
          </p:nvSpPr>
          <p:spPr>
            <a:xfrm>
              <a:off x="228600" y="228600"/>
              <a:ext cx="3733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it" sz="1000">
                  <a:solidFill>
                    <a:srgbClr val="38BDF8"/>
                  </a:solidFill>
                  <a:latin typeface="Inter"/>
                  <a:ea typeface="Inter"/>
                  <a:cs typeface="Inter"/>
                  <a:sym typeface="Inter"/>
                </a:rPr>
                <a:t>02. CONVERGENCE ANALYSIS</a:t>
              </a:r>
              <a:endParaRPr b="1" sz="1000">
                <a:solidFill>
                  <a:srgbClr val="38BDF8"/>
                </a:solidFill>
                <a:latin typeface="Inter"/>
                <a:ea typeface="Inter"/>
                <a:cs typeface="Inter"/>
                <a:sym typeface="Inter"/>
              </a:endParaRPr>
            </a:p>
            <a:p>
              <a:pPr indent="0" lvl="0" marL="0" rtl="0" algn="l">
                <a:spcBef>
                  <a:spcPts val="400"/>
                </a:spcBef>
                <a:spcAft>
                  <a:spcPts val="0"/>
                </a:spcAft>
                <a:buNone/>
              </a:pPr>
              <a:r>
                <a:rPr b="1" lang="it" sz="1400">
                  <a:solidFill>
                    <a:srgbClr val="F8FAFC"/>
                  </a:solidFill>
                  <a:latin typeface="Inter"/>
                  <a:ea typeface="Inter"/>
                  <a:cs typeface="Inter"/>
                  <a:sym typeface="Inter"/>
                </a:rPr>
                <a:t>Convergence Plot (η</a:t>
              </a:r>
              <a:r>
                <a:rPr b="1" lang="it" sz="1000">
                  <a:solidFill>
                    <a:srgbClr val="F8FAFC"/>
                  </a:solidFill>
                  <a:latin typeface="Inter"/>
                  <a:ea typeface="Inter"/>
                  <a:cs typeface="Inter"/>
                  <a:sym typeface="Inter"/>
                </a:rPr>
                <a:t>s</a:t>
              </a:r>
              <a:r>
                <a:rPr b="1" lang="it" sz="1400">
                  <a:solidFill>
                    <a:srgbClr val="F8FAFC"/>
                  </a:solidFill>
                  <a:latin typeface="Inter"/>
                  <a:ea typeface="Inter"/>
                  <a:cs typeface="Inter"/>
                  <a:sym typeface="Inter"/>
                </a:rPr>
                <a:t>)</a:t>
              </a:r>
              <a:endParaRPr b="1" sz="1400">
                <a:solidFill>
                  <a:srgbClr val="F8FAFC"/>
                </a:solidFill>
                <a:latin typeface="Inter"/>
                <a:ea typeface="Inter"/>
                <a:cs typeface="Inter"/>
                <a:sym typeface="Inter"/>
              </a:endParaRPr>
            </a:p>
          </p:txBody>
        </p:sp>
      </p:grpSp>
      <p:pic>
        <p:nvPicPr>
          <p:cNvPr id="1074" name="Google Shape;1074;p63"/>
          <p:cNvPicPr preferRelativeResize="0"/>
          <p:nvPr/>
        </p:nvPicPr>
        <p:blipFill>
          <a:blip r:embed="rId4">
            <a:alphaModFix/>
          </a:blip>
          <a:stretch>
            <a:fillRect/>
          </a:stretch>
        </p:blipFill>
        <p:spPr>
          <a:xfrm>
            <a:off x="3578603" y="1686872"/>
            <a:ext cx="4893840" cy="29763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0F17"/>
        </a:solidFill>
      </p:bgPr>
    </p:bg>
    <p:spTree>
      <p:nvGrpSpPr>
        <p:cNvPr id="1078" name="Shape 1078"/>
        <p:cNvGrpSpPr/>
        <p:nvPr/>
      </p:nvGrpSpPr>
      <p:grpSpPr>
        <a:xfrm>
          <a:off x="0" y="0"/>
          <a:ext cx="0" cy="0"/>
          <a:chOff x="0" y="0"/>
          <a:chExt cx="0" cy="0"/>
        </a:xfrm>
      </p:grpSpPr>
      <p:sp>
        <p:nvSpPr>
          <p:cNvPr id="1079" name="Google Shape;1079;p64"/>
          <p:cNvSpPr txBox="1"/>
          <p:nvPr/>
        </p:nvSpPr>
        <p:spPr>
          <a:xfrm>
            <a:off x="381000" y="266700"/>
            <a:ext cx="838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2000">
                <a:solidFill>
                  <a:srgbClr val="F8FAFC"/>
                </a:solidFill>
                <a:latin typeface="Inter ExtraBold"/>
                <a:ea typeface="Inter ExtraBold"/>
                <a:cs typeface="Inter ExtraBold"/>
                <a:sym typeface="Inter ExtraBold"/>
              </a:rPr>
              <a:t>PTT Inverse Problem Benchmark Results</a:t>
            </a:r>
            <a:endParaRPr b="0" sz="2000">
              <a:solidFill>
                <a:srgbClr val="F8FAFC"/>
              </a:solidFill>
              <a:latin typeface="Inter ExtraBold"/>
              <a:ea typeface="Inter ExtraBold"/>
              <a:cs typeface="Inter ExtraBold"/>
              <a:sym typeface="Inter ExtraBold"/>
            </a:endParaRPr>
          </a:p>
        </p:txBody>
      </p:sp>
      <p:sp>
        <p:nvSpPr>
          <p:cNvPr id="1080" name="Google Shape;1080;p64"/>
          <p:cNvSpPr/>
          <p:nvPr/>
        </p:nvSpPr>
        <p:spPr>
          <a:xfrm>
            <a:off x="381000" y="857250"/>
            <a:ext cx="8382000" cy="2667000"/>
          </a:xfrm>
          <a:prstGeom prst="roundRect">
            <a:avLst>
              <a:gd fmla="val 4285"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1" name="Google Shape;1081;p64"/>
          <p:cNvSpPr/>
          <p:nvPr/>
        </p:nvSpPr>
        <p:spPr>
          <a:xfrm>
            <a:off x="381000" y="857250"/>
            <a:ext cx="83820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2" name="Google Shape;1082;p64"/>
          <p:cNvSpPr/>
          <p:nvPr/>
        </p:nvSpPr>
        <p:spPr>
          <a:xfrm>
            <a:off x="523875" y="971550"/>
            <a:ext cx="8096400" cy="419100"/>
          </a:xfrm>
          <a:prstGeom prst="roundRect">
            <a:avLst>
              <a:gd fmla="val 13636"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3" name="Google Shape;1083;p64"/>
          <p:cNvSpPr txBox="1"/>
          <p:nvPr/>
        </p:nvSpPr>
        <p:spPr>
          <a:xfrm>
            <a:off x="666750" y="971550"/>
            <a:ext cx="19050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900">
                <a:solidFill>
                  <a:srgbClr val="94A3B8"/>
                </a:solidFill>
                <a:latin typeface="Inter"/>
                <a:ea typeface="Inter"/>
                <a:cs typeface="Inter"/>
                <a:sym typeface="Inter"/>
              </a:rPr>
              <a:t>Benchmark / Dataset</a:t>
            </a:r>
            <a:endParaRPr b="1" sz="900">
              <a:solidFill>
                <a:srgbClr val="94A3B8"/>
              </a:solidFill>
              <a:latin typeface="Inter"/>
              <a:ea typeface="Inter"/>
              <a:cs typeface="Inter"/>
              <a:sym typeface="Inter"/>
            </a:endParaRPr>
          </a:p>
        </p:txBody>
      </p:sp>
      <p:sp>
        <p:nvSpPr>
          <p:cNvPr id="1084" name="Google Shape;1084;p64"/>
          <p:cNvSpPr txBox="1"/>
          <p:nvPr/>
        </p:nvSpPr>
        <p:spPr>
          <a:xfrm>
            <a:off x="2667000" y="971550"/>
            <a:ext cx="13335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94A3B8"/>
                </a:solidFill>
                <a:latin typeface="Inter"/>
                <a:ea typeface="Inter"/>
                <a:cs typeface="Inter"/>
                <a:sym typeface="Inter"/>
              </a:rPr>
              <a:t>εtrue → εest</a:t>
            </a:r>
            <a:endParaRPr b="1" sz="900">
              <a:solidFill>
                <a:srgbClr val="94A3B8"/>
              </a:solidFill>
              <a:latin typeface="Inter"/>
              <a:ea typeface="Inter"/>
              <a:cs typeface="Inter"/>
              <a:sym typeface="Inter"/>
            </a:endParaRPr>
          </a:p>
          <a:p>
            <a:pPr indent="0" lvl="0" marL="0" rtl="0" algn="ctr">
              <a:spcBef>
                <a:spcPts val="0"/>
              </a:spcBef>
              <a:spcAft>
                <a:spcPts val="0"/>
              </a:spcAft>
              <a:buNone/>
            </a:pPr>
            <a:r>
              <a:rPr b="1" lang="it" sz="750">
                <a:solidFill>
                  <a:srgbClr val="64748B"/>
                </a:solidFill>
                <a:latin typeface="Inter"/>
                <a:ea typeface="Inter"/>
                <a:cs typeface="Inter"/>
                <a:sym typeface="Inter"/>
              </a:rPr>
              <a:t>(ε Error)</a:t>
            </a:r>
            <a:endParaRPr b="1" sz="750">
              <a:solidFill>
                <a:srgbClr val="64748B"/>
              </a:solidFill>
              <a:latin typeface="Inter"/>
              <a:ea typeface="Inter"/>
              <a:cs typeface="Inter"/>
              <a:sym typeface="Inter"/>
            </a:endParaRPr>
          </a:p>
        </p:txBody>
      </p:sp>
      <p:sp>
        <p:nvSpPr>
          <p:cNvPr id="1085" name="Google Shape;1085;p64"/>
          <p:cNvSpPr txBox="1"/>
          <p:nvPr/>
        </p:nvSpPr>
        <p:spPr>
          <a:xfrm>
            <a:off x="4095750" y="971550"/>
            <a:ext cx="14289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94A3B8"/>
                </a:solidFill>
                <a:latin typeface="Inter"/>
                <a:ea typeface="Inter"/>
                <a:cs typeface="Inter"/>
                <a:sym typeface="Inter"/>
              </a:rPr>
              <a:t>λtrue → λest [s]</a:t>
            </a:r>
            <a:endParaRPr b="1" sz="900">
              <a:solidFill>
                <a:srgbClr val="94A3B8"/>
              </a:solidFill>
              <a:latin typeface="Inter"/>
              <a:ea typeface="Inter"/>
              <a:cs typeface="Inter"/>
              <a:sym typeface="Inter"/>
            </a:endParaRPr>
          </a:p>
          <a:p>
            <a:pPr indent="0" lvl="0" marL="0" rtl="0" algn="ctr">
              <a:spcBef>
                <a:spcPts val="0"/>
              </a:spcBef>
              <a:spcAft>
                <a:spcPts val="0"/>
              </a:spcAft>
              <a:buNone/>
            </a:pPr>
            <a:r>
              <a:rPr b="1" lang="it" sz="750">
                <a:solidFill>
                  <a:srgbClr val="64748B"/>
                </a:solidFill>
                <a:latin typeface="Inter"/>
                <a:ea typeface="Inter"/>
                <a:cs typeface="Inter"/>
                <a:sym typeface="Inter"/>
              </a:rPr>
              <a:t>(λ Error)</a:t>
            </a:r>
            <a:endParaRPr b="1" sz="750">
              <a:solidFill>
                <a:srgbClr val="64748B"/>
              </a:solidFill>
              <a:latin typeface="Inter"/>
              <a:ea typeface="Inter"/>
              <a:cs typeface="Inter"/>
              <a:sym typeface="Inter"/>
            </a:endParaRPr>
          </a:p>
        </p:txBody>
      </p:sp>
      <p:sp>
        <p:nvSpPr>
          <p:cNvPr id="1086" name="Google Shape;1086;p64"/>
          <p:cNvSpPr txBox="1"/>
          <p:nvPr/>
        </p:nvSpPr>
        <p:spPr>
          <a:xfrm>
            <a:off x="5619750" y="971550"/>
            <a:ext cx="15240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94A3B8"/>
                </a:solidFill>
                <a:latin typeface="Inter"/>
                <a:ea typeface="Inter"/>
                <a:cs typeface="Inter"/>
                <a:sym typeface="Inter"/>
              </a:rPr>
              <a:t>μp,true → μp,est [Pa·s]</a:t>
            </a:r>
            <a:endParaRPr b="1" sz="900">
              <a:solidFill>
                <a:srgbClr val="94A3B8"/>
              </a:solidFill>
              <a:latin typeface="Inter"/>
              <a:ea typeface="Inter"/>
              <a:cs typeface="Inter"/>
              <a:sym typeface="Inter"/>
            </a:endParaRPr>
          </a:p>
          <a:p>
            <a:pPr indent="0" lvl="0" marL="0" rtl="0" algn="ctr">
              <a:spcBef>
                <a:spcPts val="0"/>
              </a:spcBef>
              <a:spcAft>
                <a:spcPts val="0"/>
              </a:spcAft>
              <a:buNone/>
            </a:pPr>
            <a:r>
              <a:rPr b="1" lang="it" sz="750">
                <a:solidFill>
                  <a:srgbClr val="64748B"/>
                </a:solidFill>
                <a:latin typeface="Inter"/>
                <a:ea typeface="Inter"/>
                <a:cs typeface="Inter"/>
                <a:sym typeface="Inter"/>
              </a:rPr>
              <a:t>(μp Error)</a:t>
            </a:r>
            <a:endParaRPr b="1" sz="750">
              <a:solidFill>
                <a:srgbClr val="64748B"/>
              </a:solidFill>
              <a:latin typeface="Inter"/>
              <a:ea typeface="Inter"/>
              <a:cs typeface="Inter"/>
              <a:sym typeface="Inter"/>
            </a:endParaRPr>
          </a:p>
        </p:txBody>
      </p:sp>
      <p:sp>
        <p:nvSpPr>
          <p:cNvPr id="1087" name="Google Shape;1087;p64"/>
          <p:cNvSpPr txBox="1"/>
          <p:nvPr/>
        </p:nvSpPr>
        <p:spPr>
          <a:xfrm>
            <a:off x="7239000" y="971550"/>
            <a:ext cx="12384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94A3B8"/>
                </a:solidFill>
                <a:latin typeface="Inter"/>
                <a:ea typeface="Inter"/>
                <a:cs typeface="Inter"/>
                <a:sym typeface="Inter"/>
              </a:rPr>
              <a:t>L2(u,v)</a:t>
            </a:r>
            <a:endParaRPr b="1" sz="900">
              <a:solidFill>
                <a:srgbClr val="94A3B8"/>
              </a:solidFill>
              <a:latin typeface="Inter"/>
              <a:ea typeface="Inter"/>
              <a:cs typeface="Inter"/>
              <a:sym typeface="Inter"/>
            </a:endParaRPr>
          </a:p>
          <a:p>
            <a:pPr indent="0" lvl="0" marL="0" rtl="0" algn="ctr">
              <a:spcBef>
                <a:spcPts val="0"/>
              </a:spcBef>
              <a:spcAft>
                <a:spcPts val="0"/>
              </a:spcAft>
              <a:buNone/>
            </a:pPr>
            <a:r>
              <a:rPr b="1" lang="it" sz="750">
                <a:solidFill>
                  <a:srgbClr val="64748B"/>
                </a:solidFill>
                <a:latin typeface="Inter"/>
                <a:ea typeface="Inter"/>
                <a:cs typeface="Inter"/>
                <a:sym typeface="Inter"/>
              </a:rPr>
              <a:t>Kinematics Error</a:t>
            </a:r>
            <a:endParaRPr b="1" sz="750">
              <a:solidFill>
                <a:srgbClr val="64748B"/>
              </a:solidFill>
              <a:latin typeface="Inter"/>
              <a:ea typeface="Inter"/>
              <a:cs typeface="Inter"/>
              <a:sym typeface="Inter"/>
            </a:endParaRPr>
          </a:p>
        </p:txBody>
      </p:sp>
      <p:sp>
        <p:nvSpPr>
          <p:cNvPr id="1088" name="Google Shape;1088;p64"/>
          <p:cNvSpPr/>
          <p:nvPr/>
        </p:nvSpPr>
        <p:spPr>
          <a:xfrm>
            <a:off x="523875" y="1466850"/>
            <a:ext cx="8096400" cy="952500"/>
          </a:xfrm>
          <a:prstGeom prst="roundRect">
            <a:avLst>
              <a:gd fmla="val 8000"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9" name="Google Shape;1089;p64"/>
          <p:cNvSpPr txBox="1"/>
          <p:nvPr/>
        </p:nvSpPr>
        <p:spPr>
          <a:xfrm>
            <a:off x="666750" y="1466850"/>
            <a:ext cx="1905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1100">
                <a:solidFill>
                  <a:srgbClr val="38BDF8"/>
                </a:solidFill>
                <a:latin typeface="Inter SemiBold"/>
                <a:ea typeface="Inter SemiBold"/>
                <a:cs typeface="Inter SemiBold"/>
                <a:sym typeface="Inter SemiBold"/>
              </a:rPr>
              <a:t>PTT (λ=1.0, ε=0.3)</a:t>
            </a:r>
            <a:endParaRPr b="0" sz="1100">
              <a:solidFill>
                <a:srgbClr val="38BDF8"/>
              </a:solidFill>
              <a:latin typeface="Inter SemiBold"/>
              <a:ea typeface="Inter SemiBold"/>
              <a:cs typeface="Inter SemiBold"/>
              <a:sym typeface="Inter SemiBold"/>
            </a:endParaRPr>
          </a:p>
          <a:p>
            <a:pPr indent="0" lvl="0" marL="0" rtl="0" algn="l">
              <a:spcBef>
                <a:spcPts val="300"/>
              </a:spcBef>
              <a:spcAft>
                <a:spcPts val="0"/>
              </a:spcAft>
              <a:buNone/>
            </a:pPr>
            <a:r>
              <a:rPr b="0" lang="it" sz="850">
                <a:solidFill>
                  <a:srgbClr val="64748B"/>
                </a:solidFill>
                <a:latin typeface="Inter"/>
                <a:ea typeface="Inter"/>
                <a:cs typeface="Inter"/>
                <a:sym typeface="Inter"/>
              </a:rPr>
              <a:t>L1-P0.5-S0.5-A0-E0.3</a:t>
            </a:r>
            <a:endParaRPr b="0" sz="850">
              <a:solidFill>
                <a:srgbClr val="64748B"/>
              </a:solidFill>
              <a:latin typeface="Inter"/>
              <a:ea typeface="Inter"/>
              <a:cs typeface="Inter"/>
              <a:sym typeface="Inter"/>
            </a:endParaRPr>
          </a:p>
        </p:txBody>
      </p:sp>
      <p:sp>
        <p:nvSpPr>
          <p:cNvPr id="1090" name="Google Shape;1090;p64"/>
          <p:cNvSpPr txBox="1"/>
          <p:nvPr/>
        </p:nvSpPr>
        <p:spPr>
          <a:xfrm>
            <a:off x="2667000" y="1466850"/>
            <a:ext cx="1333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it" sz="1050">
                <a:solidFill>
                  <a:srgbClr val="E2E8F0"/>
                </a:solidFill>
                <a:latin typeface="Inter Medium"/>
                <a:ea typeface="Inter Medium"/>
                <a:cs typeface="Inter Medium"/>
                <a:sym typeface="Inter Medium"/>
              </a:rPr>
              <a:t>0.300 → 1.7×10−4</a:t>
            </a:r>
            <a:endParaRPr b="0" sz="1050">
              <a:solidFill>
                <a:srgbClr val="E2E8F0"/>
              </a:solidFill>
              <a:latin typeface="Inter Medium"/>
              <a:ea typeface="Inter Medium"/>
              <a:cs typeface="Inter Medium"/>
              <a:sym typeface="Inter Medium"/>
            </a:endParaRPr>
          </a:p>
          <a:p>
            <a:pPr indent="0" lvl="0" marL="0" rtl="0" algn="ctr">
              <a:spcBef>
                <a:spcPts val="300"/>
              </a:spcBef>
              <a:spcAft>
                <a:spcPts val="0"/>
              </a:spcAft>
              <a:buNone/>
            </a:pPr>
            <a:r>
              <a:rPr b="1" lang="it" sz="950">
                <a:solidFill>
                  <a:srgbClr val="F87171"/>
                </a:solidFill>
                <a:latin typeface="Inter"/>
                <a:ea typeface="Inter"/>
                <a:cs typeface="Inter"/>
                <a:sym typeface="Inter"/>
              </a:rPr>
              <a:t>-99.94%</a:t>
            </a:r>
            <a:endParaRPr b="1" sz="950">
              <a:solidFill>
                <a:srgbClr val="F87171"/>
              </a:solidFill>
              <a:latin typeface="Inter"/>
              <a:ea typeface="Inter"/>
              <a:cs typeface="Inter"/>
              <a:sym typeface="Inter"/>
            </a:endParaRPr>
          </a:p>
        </p:txBody>
      </p:sp>
      <p:sp>
        <p:nvSpPr>
          <p:cNvPr id="1091" name="Google Shape;1091;p64"/>
          <p:cNvSpPr txBox="1"/>
          <p:nvPr/>
        </p:nvSpPr>
        <p:spPr>
          <a:xfrm>
            <a:off x="4095750" y="1466850"/>
            <a:ext cx="14289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it" sz="1050">
                <a:solidFill>
                  <a:srgbClr val="E2E8F0"/>
                </a:solidFill>
                <a:latin typeface="Inter Medium"/>
                <a:ea typeface="Inter Medium"/>
                <a:cs typeface="Inter Medium"/>
                <a:sym typeface="Inter Medium"/>
              </a:rPr>
              <a:t>1.000 → 0.4211</a:t>
            </a:r>
            <a:endParaRPr b="0" sz="1050">
              <a:solidFill>
                <a:srgbClr val="E2E8F0"/>
              </a:solidFill>
              <a:latin typeface="Inter Medium"/>
              <a:ea typeface="Inter Medium"/>
              <a:cs typeface="Inter Medium"/>
              <a:sym typeface="Inter Medium"/>
            </a:endParaRPr>
          </a:p>
          <a:p>
            <a:pPr indent="0" lvl="0" marL="0" rtl="0" algn="ctr">
              <a:spcBef>
                <a:spcPts val="300"/>
              </a:spcBef>
              <a:spcAft>
                <a:spcPts val="0"/>
              </a:spcAft>
              <a:buNone/>
            </a:pPr>
            <a:r>
              <a:rPr b="1" lang="it" sz="950">
                <a:solidFill>
                  <a:srgbClr val="F87171"/>
                </a:solidFill>
                <a:latin typeface="Inter"/>
                <a:ea typeface="Inter"/>
                <a:cs typeface="Inter"/>
                <a:sym typeface="Inter"/>
              </a:rPr>
              <a:t>-57.89%</a:t>
            </a:r>
            <a:endParaRPr b="1" sz="950">
              <a:solidFill>
                <a:srgbClr val="F87171"/>
              </a:solidFill>
              <a:latin typeface="Inter"/>
              <a:ea typeface="Inter"/>
              <a:cs typeface="Inter"/>
              <a:sym typeface="Inter"/>
            </a:endParaRPr>
          </a:p>
        </p:txBody>
      </p:sp>
      <p:sp>
        <p:nvSpPr>
          <p:cNvPr id="1092" name="Google Shape;1092;p64"/>
          <p:cNvSpPr txBox="1"/>
          <p:nvPr/>
        </p:nvSpPr>
        <p:spPr>
          <a:xfrm>
            <a:off x="5619750" y="1466850"/>
            <a:ext cx="1524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it" sz="1050">
                <a:solidFill>
                  <a:srgbClr val="E2E8F0"/>
                </a:solidFill>
                <a:latin typeface="Inter Medium"/>
                <a:ea typeface="Inter Medium"/>
                <a:cs typeface="Inter Medium"/>
                <a:sym typeface="Inter Medium"/>
              </a:rPr>
              <a:t>0.500 → 0.2128</a:t>
            </a:r>
            <a:endParaRPr b="0" sz="1050">
              <a:solidFill>
                <a:srgbClr val="E2E8F0"/>
              </a:solidFill>
              <a:latin typeface="Inter Medium"/>
              <a:ea typeface="Inter Medium"/>
              <a:cs typeface="Inter Medium"/>
              <a:sym typeface="Inter Medium"/>
            </a:endParaRPr>
          </a:p>
          <a:p>
            <a:pPr indent="0" lvl="0" marL="0" rtl="0" algn="ctr">
              <a:spcBef>
                <a:spcPts val="300"/>
              </a:spcBef>
              <a:spcAft>
                <a:spcPts val="0"/>
              </a:spcAft>
              <a:buNone/>
            </a:pPr>
            <a:r>
              <a:rPr b="1" lang="it" sz="950">
                <a:solidFill>
                  <a:srgbClr val="F87171"/>
                </a:solidFill>
                <a:latin typeface="Inter"/>
                <a:ea typeface="Inter"/>
                <a:cs typeface="Inter"/>
                <a:sym typeface="Inter"/>
              </a:rPr>
              <a:t>-57.44%</a:t>
            </a:r>
            <a:endParaRPr b="1" sz="950">
              <a:solidFill>
                <a:srgbClr val="F87171"/>
              </a:solidFill>
              <a:latin typeface="Inter"/>
              <a:ea typeface="Inter"/>
              <a:cs typeface="Inter"/>
              <a:sym typeface="Inter"/>
            </a:endParaRPr>
          </a:p>
        </p:txBody>
      </p:sp>
      <p:sp>
        <p:nvSpPr>
          <p:cNvPr id="1093" name="Google Shape;1093;p64"/>
          <p:cNvSpPr txBox="1"/>
          <p:nvPr/>
        </p:nvSpPr>
        <p:spPr>
          <a:xfrm>
            <a:off x="7239000" y="1466850"/>
            <a:ext cx="12384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1300">
                <a:solidFill>
                  <a:srgbClr val="34D399"/>
                </a:solidFill>
                <a:latin typeface="Inter"/>
                <a:ea typeface="Inter"/>
                <a:cs typeface="Inter"/>
                <a:sym typeface="Inter"/>
              </a:rPr>
              <a:t>0.79%</a:t>
            </a:r>
            <a:endParaRPr b="1" sz="1300">
              <a:solidFill>
                <a:srgbClr val="34D399"/>
              </a:solidFill>
              <a:latin typeface="Inter"/>
              <a:ea typeface="Inter"/>
              <a:cs typeface="Inter"/>
              <a:sym typeface="Inter"/>
            </a:endParaRPr>
          </a:p>
        </p:txBody>
      </p:sp>
      <p:sp>
        <p:nvSpPr>
          <p:cNvPr id="1094" name="Google Shape;1094;p64"/>
          <p:cNvSpPr/>
          <p:nvPr/>
        </p:nvSpPr>
        <p:spPr>
          <a:xfrm>
            <a:off x="523875" y="2495550"/>
            <a:ext cx="8096400" cy="952500"/>
          </a:xfrm>
          <a:prstGeom prst="roundRect">
            <a:avLst>
              <a:gd fmla="val 8000"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p64"/>
          <p:cNvSpPr txBox="1"/>
          <p:nvPr/>
        </p:nvSpPr>
        <p:spPr>
          <a:xfrm>
            <a:off x="666750" y="2495550"/>
            <a:ext cx="1905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1100">
                <a:solidFill>
                  <a:srgbClr val="38BDF8"/>
                </a:solidFill>
                <a:latin typeface="Inter SemiBold"/>
                <a:ea typeface="Inter SemiBold"/>
                <a:cs typeface="Inter SemiBold"/>
                <a:sym typeface="Inter SemiBold"/>
              </a:rPr>
              <a:t>PTT (λ=0.7, ε=0.5)</a:t>
            </a:r>
            <a:endParaRPr b="0" sz="1100">
              <a:solidFill>
                <a:srgbClr val="38BDF8"/>
              </a:solidFill>
              <a:latin typeface="Inter SemiBold"/>
              <a:ea typeface="Inter SemiBold"/>
              <a:cs typeface="Inter SemiBold"/>
              <a:sym typeface="Inter SemiBold"/>
            </a:endParaRPr>
          </a:p>
          <a:p>
            <a:pPr indent="0" lvl="0" marL="0" rtl="0" algn="l">
              <a:spcBef>
                <a:spcPts val="300"/>
              </a:spcBef>
              <a:spcAft>
                <a:spcPts val="0"/>
              </a:spcAft>
              <a:buNone/>
            </a:pPr>
            <a:r>
              <a:rPr b="0" lang="it" sz="850">
                <a:solidFill>
                  <a:srgbClr val="64748B"/>
                </a:solidFill>
                <a:latin typeface="Inter"/>
                <a:ea typeface="Inter"/>
                <a:cs typeface="Inter"/>
                <a:sym typeface="Inter"/>
              </a:rPr>
              <a:t>L0.7-P0.95-S0.05-A0-E0.5</a:t>
            </a:r>
            <a:endParaRPr b="0" sz="850">
              <a:solidFill>
                <a:srgbClr val="64748B"/>
              </a:solidFill>
              <a:latin typeface="Inter"/>
              <a:ea typeface="Inter"/>
              <a:cs typeface="Inter"/>
              <a:sym typeface="Inter"/>
            </a:endParaRPr>
          </a:p>
        </p:txBody>
      </p:sp>
      <p:sp>
        <p:nvSpPr>
          <p:cNvPr id="1096" name="Google Shape;1096;p64"/>
          <p:cNvSpPr txBox="1"/>
          <p:nvPr/>
        </p:nvSpPr>
        <p:spPr>
          <a:xfrm>
            <a:off x="2667000" y="2495550"/>
            <a:ext cx="1333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it" sz="1050">
                <a:solidFill>
                  <a:srgbClr val="E2E8F0"/>
                </a:solidFill>
                <a:latin typeface="Inter Medium"/>
                <a:ea typeface="Inter Medium"/>
                <a:cs typeface="Inter Medium"/>
                <a:sym typeface="Inter Medium"/>
              </a:rPr>
              <a:t>0.500 → 4.4×10−4</a:t>
            </a:r>
            <a:endParaRPr b="0" sz="1050">
              <a:solidFill>
                <a:srgbClr val="E2E8F0"/>
              </a:solidFill>
              <a:latin typeface="Inter Medium"/>
              <a:ea typeface="Inter Medium"/>
              <a:cs typeface="Inter Medium"/>
              <a:sym typeface="Inter Medium"/>
            </a:endParaRPr>
          </a:p>
          <a:p>
            <a:pPr indent="0" lvl="0" marL="0" rtl="0" algn="ctr">
              <a:spcBef>
                <a:spcPts val="300"/>
              </a:spcBef>
              <a:spcAft>
                <a:spcPts val="0"/>
              </a:spcAft>
              <a:buNone/>
            </a:pPr>
            <a:r>
              <a:rPr b="1" lang="it" sz="950">
                <a:solidFill>
                  <a:srgbClr val="F87171"/>
                </a:solidFill>
                <a:latin typeface="Inter"/>
                <a:ea typeface="Inter"/>
                <a:cs typeface="Inter"/>
                <a:sym typeface="Inter"/>
              </a:rPr>
              <a:t>-99.91%</a:t>
            </a:r>
            <a:endParaRPr b="1" sz="950">
              <a:solidFill>
                <a:srgbClr val="F87171"/>
              </a:solidFill>
              <a:latin typeface="Inter"/>
              <a:ea typeface="Inter"/>
              <a:cs typeface="Inter"/>
              <a:sym typeface="Inter"/>
            </a:endParaRPr>
          </a:p>
        </p:txBody>
      </p:sp>
      <p:sp>
        <p:nvSpPr>
          <p:cNvPr id="1097" name="Google Shape;1097;p64"/>
          <p:cNvSpPr txBox="1"/>
          <p:nvPr/>
        </p:nvSpPr>
        <p:spPr>
          <a:xfrm>
            <a:off x="4095750" y="2495550"/>
            <a:ext cx="14289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it" sz="1050">
                <a:solidFill>
                  <a:srgbClr val="E2E8F0"/>
                </a:solidFill>
                <a:latin typeface="Inter Medium"/>
                <a:ea typeface="Inter Medium"/>
                <a:cs typeface="Inter Medium"/>
                <a:sym typeface="Inter Medium"/>
              </a:rPr>
              <a:t>0.700 → 0.2700</a:t>
            </a:r>
            <a:endParaRPr b="0" sz="1050">
              <a:solidFill>
                <a:srgbClr val="E2E8F0"/>
              </a:solidFill>
              <a:latin typeface="Inter Medium"/>
              <a:ea typeface="Inter Medium"/>
              <a:cs typeface="Inter Medium"/>
              <a:sym typeface="Inter Medium"/>
            </a:endParaRPr>
          </a:p>
          <a:p>
            <a:pPr indent="0" lvl="0" marL="0" rtl="0" algn="ctr">
              <a:spcBef>
                <a:spcPts val="300"/>
              </a:spcBef>
              <a:spcAft>
                <a:spcPts val="0"/>
              </a:spcAft>
              <a:buNone/>
            </a:pPr>
            <a:r>
              <a:rPr b="1" lang="it" sz="950">
                <a:solidFill>
                  <a:srgbClr val="F87171"/>
                </a:solidFill>
                <a:latin typeface="Inter"/>
                <a:ea typeface="Inter"/>
                <a:cs typeface="Inter"/>
                <a:sym typeface="Inter"/>
              </a:rPr>
              <a:t>-61.43%</a:t>
            </a:r>
            <a:endParaRPr b="1" sz="950">
              <a:solidFill>
                <a:srgbClr val="F87171"/>
              </a:solidFill>
              <a:latin typeface="Inter"/>
              <a:ea typeface="Inter"/>
              <a:cs typeface="Inter"/>
              <a:sym typeface="Inter"/>
            </a:endParaRPr>
          </a:p>
        </p:txBody>
      </p:sp>
      <p:sp>
        <p:nvSpPr>
          <p:cNvPr id="1098" name="Google Shape;1098;p64"/>
          <p:cNvSpPr txBox="1"/>
          <p:nvPr/>
        </p:nvSpPr>
        <p:spPr>
          <a:xfrm>
            <a:off x="5619750" y="2495550"/>
            <a:ext cx="1524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it" sz="1050">
                <a:solidFill>
                  <a:srgbClr val="E2E8F0"/>
                </a:solidFill>
                <a:latin typeface="Inter Medium"/>
                <a:ea typeface="Inter Medium"/>
                <a:cs typeface="Inter Medium"/>
                <a:sym typeface="Inter Medium"/>
              </a:rPr>
              <a:t>0.950 → 0.3687</a:t>
            </a:r>
            <a:endParaRPr b="0" sz="1050">
              <a:solidFill>
                <a:srgbClr val="E2E8F0"/>
              </a:solidFill>
              <a:latin typeface="Inter Medium"/>
              <a:ea typeface="Inter Medium"/>
              <a:cs typeface="Inter Medium"/>
              <a:sym typeface="Inter Medium"/>
            </a:endParaRPr>
          </a:p>
          <a:p>
            <a:pPr indent="0" lvl="0" marL="0" rtl="0" algn="ctr">
              <a:spcBef>
                <a:spcPts val="300"/>
              </a:spcBef>
              <a:spcAft>
                <a:spcPts val="0"/>
              </a:spcAft>
              <a:buNone/>
            </a:pPr>
            <a:r>
              <a:rPr b="1" lang="it" sz="950">
                <a:solidFill>
                  <a:srgbClr val="F87171"/>
                </a:solidFill>
                <a:latin typeface="Inter"/>
                <a:ea typeface="Inter"/>
                <a:cs typeface="Inter"/>
                <a:sym typeface="Inter"/>
              </a:rPr>
              <a:t>-61.19%</a:t>
            </a:r>
            <a:endParaRPr b="1" sz="950">
              <a:solidFill>
                <a:srgbClr val="F87171"/>
              </a:solidFill>
              <a:latin typeface="Inter"/>
              <a:ea typeface="Inter"/>
              <a:cs typeface="Inter"/>
              <a:sym typeface="Inter"/>
            </a:endParaRPr>
          </a:p>
        </p:txBody>
      </p:sp>
      <p:sp>
        <p:nvSpPr>
          <p:cNvPr id="1099" name="Google Shape;1099;p64"/>
          <p:cNvSpPr txBox="1"/>
          <p:nvPr/>
        </p:nvSpPr>
        <p:spPr>
          <a:xfrm>
            <a:off x="7239000" y="2495550"/>
            <a:ext cx="12384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1300">
                <a:solidFill>
                  <a:srgbClr val="34D399"/>
                </a:solidFill>
                <a:latin typeface="Inter"/>
                <a:ea typeface="Inter"/>
                <a:cs typeface="Inter"/>
                <a:sym typeface="Inter"/>
              </a:rPr>
              <a:t>0.88%</a:t>
            </a:r>
            <a:endParaRPr b="1" sz="1300">
              <a:solidFill>
                <a:srgbClr val="34D399"/>
              </a:solidFill>
              <a:latin typeface="Inter"/>
              <a:ea typeface="Inter"/>
              <a:cs typeface="Inter"/>
              <a:sym typeface="Inter"/>
            </a:endParaRPr>
          </a:p>
        </p:txBody>
      </p:sp>
      <p:sp>
        <p:nvSpPr>
          <p:cNvPr id="1100" name="Google Shape;1100;p64"/>
          <p:cNvSpPr/>
          <p:nvPr/>
        </p:nvSpPr>
        <p:spPr>
          <a:xfrm>
            <a:off x="381000" y="3714750"/>
            <a:ext cx="8382000" cy="1095300"/>
          </a:xfrm>
          <a:prstGeom prst="roundRect">
            <a:avLst>
              <a:gd fmla="val 10434"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1" name="Google Shape;1101;p64"/>
          <p:cNvSpPr/>
          <p:nvPr/>
        </p:nvSpPr>
        <p:spPr>
          <a:xfrm>
            <a:off x="381000" y="3714750"/>
            <a:ext cx="8382000" cy="38100"/>
          </a:xfrm>
          <a:prstGeom prst="roundRect">
            <a:avLst>
              <a:gd fmla="val 50000" name="adj"/>
            </a:avLst>
          </a:prstGeom>
          <a:solidFill>
            <a:srgbClr val="34D3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2" name="Google Shape;1102;p64"/>
          <p:cNvSpPr txBox="1"/>
          <p:nvPr/>
        </p:nvSpPr>
        <p:spPr>
          <a:xfrm>
            <a:off x="571500" y="3829050"/>
            <a:ext cx="8001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1100">
                <a:solidFill>
                  <a:srgbClr val="34D399"/>
                </a:solidFill>
                <a:latin typeface="Inter"/>
                <a:ea typeface="Inter"/>
                <a:cs typeface="Inter"/>
                <a:sym typeface="Inter"/>
              </a:rPr>
              <a:t>Key Observation:</a:t>
            </a:r>
            <a:endParaRPr b="1" sz="1100">
              <a:solidFill>
                <a:srgbClr val="34D399"/>
              </a:solidFill>
              <a:latin typeface="Inter"/>
              <a:ea typeface="Inter"/>
              <a:cs typeface="Inter"/>
              <a:sym typeface="Inter"/>
            </a:endParaRPr>
          </a:p>
          <a:p>
            <a:pPr indent="0" lvl="0" marL="0" rtl="0" algn="l">
              <a:spcBef>
                <a:spcPts val="500"/>
              </a:spcBef>
              <a:spcAft>
                <a:spcPts val="0"/>
              </a:spcAft>
              <a:buNone/>
            </a:pPr>
            <a:r>
              <a:rPr b="0" lang="it" sz="950">
                <a:solidFill>
                  <a:srgbClr val="94A3B8"/>
                </a:solidFill>
                <a:latin typeface="Inter"/>
                <a:ea typeface="Inter"/>
                <a:cs typeface="Inter"/>
                <a:sym typeface="Inter"/>
              </a:rPr>
              <a:t>While individual parameters </a:t>
            </a:r>
            <a:r>
              <a:rPr b="0" lang="it" sz="950">
                <a:solidFill>
                  <a:srgbClr val="F87171"/>
                </a:solidFill>
                <a:latin typeface="Inter SemiBold"/>
                <a:ea typeface="Inter SemiBold"/>
                <a:cs typeface="Inter SemiBold"/>
                <a:sym typeface="Inter SemiBold"/>
              </a:rPr>
              <a:t>λ, μp, and ε</a:t>
            </a:r>
            <a:r>
              <a:rPr b="0" lang="it" sz="950">
                <a:solidFill>
                  <a:srgbClr val="94A3B8"/>
                </a:solidFill>
                <a:latin typeface="Inter"/>
                <a:ea typeface="Inter"/>
                <a:cs typeface="Inter"/>
                <a:sym typeface="Inter"/>
              </a:rPr>
              <a:t> show high estimation errors (systematic underestimation), the </a:t>
            </a:r>
            <a:r>
              <a:rPr b="1" lang="it" sz="950">
                <a:solidFill>
                  <a:srgbClr val="34D399"/>
                </a:solidFill>
                <a:latin typeface="Inter"/>
                <a:ea typeface="Inter"/>
                <a:cs typeface="Inter"/>
                <a:sym typeface="Inter"/>
              </a:rPr>
              <a:t>L2 kinematic error remains extremely low (&lt; 0.9%)</a:t>
            </a:r>
            <a:r>
              <a:rPr b="0" lang="it" sz="950">
                <a:solidFill>
                  <a:srgbClr val="94A3B8"/>
                </a:solidFill>
                <a:latin typeface="Inter"/>
                <a:ea typeface="Inter"/>
                <a:cs typeface="Inter"/>
                <a:sym typeface="Inter"/>
              </a:rPr>
              <a:t>, pointing directly to a parameter identifiability issue.</a:t>
            </a:r>
            <a:endParaRPr b="0" sz="950">
              <a:solidFill>
                <a:srgbClr val="94A3B8"/>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0F17"/>
        </a:solidFill>
      </p:bgPr>
    </p:bg>
    <p:spTree>
      <p:nvGrpSpPr>
        <p:cNvPr id="1106" name="Shape 1106"/>
        <p:cNvGrpSpPr/>
        <p:nvPr/>
      </p:nvGrpSpPr>
      <p:grpSpPr>
        <a:xfrm>
          <a:off x="0" y="0"/>
          <a:ext cx="0" cy="0"/>
          <a:chOff x="0" y="0"/>
          <a:chExt cx="0" cy="0"/>
        </a:xfrm>
      </p:grpSpPr>
      <p:sp>
        <p:nvSpPr>
          <p:cNvPr id="1107" name="Google Shape;1107;p65"/>
          <p:cNvSpPr txBox="1"/>
          <p:nvPr/>
        </p:nvSpPr>
        <p:spPr>
          <a:xfrm>
            <a:off x="381000" y="304800"/>
            <a:ext cx="838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2000">
                <a:solidFill>
                  <a:srgbClr val="F8FAFC"/>
                </a:solidFill>
                <a:latin typeface="Inter ExtraBold"/>
                <a:ea typeface="Inter ExtraBold"/>
                <a:cs typeface="Inter ExtraBold"/>
                <a:sym typeface="Inter ExtraBold"/>
              </a:rPr>
              <a:t>Proposals to Overcome Setup Limitations</a:t>
            </a:r>
            <a:endParaRPr b="0" sz="2000">
              <a:solidFill>
                <a:srgbClr val="F8FAFC"/>
              </a:solidFill>
              <a:latin typeface="Inter ExtraBold"/>
              <a:ea typeface="Inter ExtraBold"/>
              <a:cs typeface="Inter ExtraBold"/>
              <a:sym typeface="Inter ExtraBold"/>
            </a:endParaRPr>
          </a:p>
        </p:txBody>
      </p:sp>
      <p:grpSp>
        <p:nvGrpSpPr>
          <p:cNvPr id="1108" name="Google Shape;1108;p65"/>
          <p:cNvGrpSpPr/>
          <p:nvPr/>
        </p:nvGrpSpPr>
        <p:grpSpPr>
          <a:xfrm>
            <a:off x="381000" y="904875"/>
            <a:ext cx="4000500" cy="3762300"/>
            <a:chOff x="0" y="0"/>
            <a:chExt cx="4000500" cy="3762300"/>
          </a:xfrm>
        </p:grpSpPr>
        <p:sp>
          <p:nvSpPr>
            <p:cNvPr id="1109" name="Google Shape;1109;p65"/>
            <p:cNvSpPr/>
            <p:nvPr/>
          </p:nvSpPr>
          <p:spPr>
            <a:xfrm>
              <a:off x="0" y="0"/>
              <a:ext cx="4000500" cy="3762300"/>
            </a:xfrm>
            <a:prstGeom prst="roundRect">
              <a:avLst>
                <a:gd fmla="val 3037"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0" name="Google Shape;1110;p65"/>
            <p:cNvSpPr/>
            <p:nvPr/>
          </p:nvSpPr>
          <p:spPr>
            <a:xfrm>
              <a:off x="0" y="0"/>
              <a:ext cx="4000500" cy="38100"/>
            </a:xfrm>
            <a:prstGeom prst="roundRect">
              <a:avLst>
                <a:gd fmla="val 50000" name="adj"/>
              </a:avLst>
            </a:prstGeom>
            <a:solidFill>
              <a:srgbClr val="F8717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1" name="Google Shape;1111;p65"/>
            <p:cNvSpPr txBox="1"/>
            <p:nvPr/>
          </p:nvSpPr>
          <p:spPr>
            <a:xfrm>
              <a:off x="228600" y="228600"/>
              <a:ext cx="3543300" cy="3305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950">
                  <a:solidFill>
                    <a:srgbClr val="F87171"/>
                  </a:solidFill>
                  <a:latin typeface="Inter"/>
                  <a:ea typeface="Inter"/>
                  <a:cs typeface="Inter"/>
                  <a:sym typeface="Inter"/>
                </a:rPr>
                <a:t>01. SOLVENT VISCOSITY (η</a:t>
              </a:r>
              <a:r>
                <a:rPr b="1" lang="it" sz="750">
                  <a:solidFill>
                    <a:srgbClr val="F87171"/>
                  </a:solidFill>
                  <a:latin typeface="Inter"/>
                  <a:ea typeface="Inter"/>
                  <a:cs typeface="Inter"/>
                  <a:sym typeface="Inter"/>
                </a:rPr>
                <a:t>s</a:t>
              </a:r>
              <a:r>
                <a:rPr b="1" lang="it" sz="950">
                  <a:solidFill>
                    <a:srgbClr val="F87171"/>
                  </a:solidFill>
                  <a:latin typeface="Inter"/>
                  <a:ea typeface="Inter"/>
                  <a:cs typeface="Inter"/>
                  <a:sym typeface="Inter"/>
                </a:rPr>
                <a:t>)</a:t>
              </a:r>
              <a:endParaRPr b="1" sz="950">
                <a:solidFill>
                  <a:srgbClr val="F87171"/>
                </a:solidFill>
                <a:latin typeface="Inter"/>
                <a:ea typeface="Inter"/>
                <a:cs typeface="Inter"/>
                <a:sym typeface="Inter"/>
              </a:endParaRPr>
            </a:p>
            <a:p>
              <a:pPr indent="0" lvl="0" marL="0" rtl="0" algn="l">
                <a:spcBef>
                  <a:spcPts val="600"/>
                </a:spcBef>
                <a:spcAft>
                  <a:spcPts val="0"/>
                </a:spcAft>
                <a:buNone/>
              </a:pPr>
              <a:r>
                <a:rPr b="1" lang="it" sz="1500">
                  <a:solidFill>
                    <a:srgbClr val="F8FAFC"/>
                  </a:solidFill>
                  <a:latin typeface="Inter"/>
                  <a:ea typeface="Inter"/>
                  <a:cs typeface="Inter"/>
                  <a:sym typeface="Inter"/>
                </a:rPr>
                <a:t>Higher Reynolds Number Regime</a:t>
              </a:r>
              <a:endParaRPr b="1" sz="1500">
                <a:solidFill>
                  <a:srgbClr val="F8FAFC"/>
                </a:solidFill>
                <a:latin typeface="Inter"/>
                <a:ea typeface="Inter"/>
                <a:cs typeface="Inter"/>
                <a:sym typeface="Inter"/>
              </a:endParaRPr>
            </a:p>
            <a:p>
              <a:pPr indent="0" lvl="0" marL="0" rtl="0" algn="l">
                <a:spcBef>
                  <a:spcPts val="1050"/>
                </a:spcBef>
                <a:spcAft>
                  <a:spcPts val="0"/>
                </a:spcAft>
                <a:buNone/>
              </a:pPr>
              <a:r>
                <a:rPr b="0" lang="it" sz="1000">
                  <a:solidFill>
                    <a:srgbClr val="94A3B8"/>
                  </a:solidFill>
                  <a:latin typeface="Inter"/>
                  <a:ea typeface="Inter"/>
                  <a:cs typeface="Inter"/>
                  <a:sym typeface="Inter"/>
                </a:rPr>
                <a:t>Explore a solution space where </a:t>
              </a:r>
              <a:r>
                <a:rPr b="0" lang="it" sz="1000">
                  <a:solidFill>
                    <a:srgbClr val="E2E8F0"/>
                  </a:solidFill>
                  <a:latin typeface="Inter SemiBold"/>
                  <a:ea typeface="Inter SemiBold"/>
                  <a:cs typeface="Inter SemiBold"/>
                  <a:sym typeface="Inter SemiBold"/>
                </a:rPr>
                <a:t>inertia becomes more relevant</a:t>
              </a:r>
              <a:r>
                <a:rPr b="0" lang="it" sz="1000">
                  <a:solidFill>
                    <a:srgbClr val="94A3B8"/>
                  </a:solidFill>
                  <a:latin typeface="Inter"/>
                  <a:ea typeface="Inter"/>
                  <a:cs typeface="Inter"/>
                  <a:sym typeface="Inter"/>
                </a:rPr>
                <a:t> (higher      ).</a:t>
              </a:r>
              <a:endParaRPr b="0" sz="1000">
                <a:solidFill>
                  <a:srgbClr val="94A3B8"/>
                </a:solidFill>
                <a:latin typeface="Inter"/>
                <a:ea typeface="Inter"/>
                <a:cs typeface="Inter"/>
                <a:sym typeface="Inter"/>
              </a:endParaRPr>
            </a:p>
            <a:p>
              <a:pPr indent="0" lvl="0" marL="0" rtl="0" algn="l">
                <a:spcBef>
                  <a:spcPts val="1200"/>
                </a:spcBef>
                <a:spcAft>
                  <a:spcPts val="0"/>
                </a:spcAft>
                <a:buNone/>
              </a:pPr>
              <a:r>
                <a:rPr b="0" lang="it" sz="950">
                  <a:solidFill>
                    <a:srgbClr val="F87171"/>
                  </a:solidFill>
                  <a:latin typeface="Inter SemiBold"/>
                  <a:ea typeface="Inter SemiBold"/>
                  <a:cs typeface="Inter SemiBold"/>
                  <a:sym typeface="Inter SemiBold"/>
                </a:rPr>
                <a:t>Objective:</a:t>
              </a:r>
              <a:endParaRPr b="0" sz="950">
                <a:solidFill>
                  <a:srgbClr val="94A3B8"/>
                </a:solidFill>
                <a:latin typeface="Inter"/>
                <a:ea typeface="Inter"/>
                <a:cs typeface="Inter"/>
                <a:sym typeface="Inter"/>
              </a:endParaRPr>
            </a:p>
            <a:p>
              <a:pPr indent="0" lvl="0" marL="0" rtl="0" algn="l">
                <a:spcBef>
                  <a:spcPts val="300"/>
                </a:spcBef>
                <a:spcAft>
                  <a:spcPts val="0"/>
                </a:spcAft>
                <a:buNone/>
              </a:pPr>
              <a:r>
                <a:rPr b="0" lang="it" sz="950">
                  <a:solidFill>
                    <a:srgbClr val="E2E8F0"/>
                  </a:solidFill>
                  <a:latin typeface="Inter"/>
                  <a:ea typeface="Inter"/>
                  <a:cs typeface="Inter"/>
                  <a:sym typeface="Inter"/>
                </a:rPr>
                <a:t>Amplify the physical impact of solvent viscosity on velocity profiles to break sensitivity invariance.</a:t>
              </a:r>
              <a:endParaRPr b="0" sz="950">
                <a:solidFill>
                  <a:srgbClr val="E2E8F0"/>
                </a:solidFill>
                <a:latin typeface="Inter"/>
                <a:ea typeface="Inter"/>
                <a:cs typeface="Inter"/>
                <a:sym typeface="Inter"/>
              </a:endParaRPr>
            </a:p>
            <a:p>
              <a:pPr indent="0" lvl="0" marL="0" rtl="0" algn="l">
                <a:spcBef>
                  <a:spcPts val="900"/>
                </a:spcBef>
                <a:spcAft>
                  <a:spcPts val="0"/>
                </a:spcAft>
                <a:buNone/>
              </a:pPr>
              <a:r>
                <a:rPr b="0" lang="it" sz="950">
                  <a:solidFill>
                    <a:srgbClr val="E2E8F0"/>
                  </a:solidFill>
                  <a:latin typeface="Inter SemiBold"/>
                  <a:ea typeface="Inter SemiBold"/>
                  <a:cs typeface="Inter SemiBold"/>
                  <a:sym typeface="Inter SemiBold"/>
                </a:rPr>
                <a:t>Expected Outcome:</a:t>
              </a:r>
              <a:endParaRPr b="0" sz="950">
                <a:solidFill>
                  <a:srgbClr val="94A3B8"/>
                </a:solidFill>
                <a:latin typeface="Inter"/>
                <a:ea typeface="Inter"/>
                <a:cs typeface="Inter"/>
                <a:sym typeface="Inter"/>
              </a:endParaRPr>
            </a:p>
            <a:p>
              <a:pPr indent="0" lvl="0" marL="0" rtl="0" algn="l">
                <a:spcBef>
                  <a:spcPts val="300"/>
                </a:spcBef>
                <a:spcAft>
                  <a:spcPts val="0"/>
                </a:spcAft>
                <a:buNone/>
              </a:pPr>
              <a:r>
                <a:rPr b="0" lang="it" sz="950">
                  <a:solidFill>
                    <a:srgbClr val="94A3B8"/>
                  </a:solidFill>
                  <a:latin typeface="Inter"/>
                  <a:ea typeface="Inter"/>
                  <a:cs typeface="Inter"/>
                  <a:sym typeface="Inter"/>
                </a:rPr>
                <a:t>Sharpen loss function gradients for accurate recovery of     .</a:t>
              </a:r>
              <a:endParaRPr b="0" sz="950">
                <a:solidFill>
                  <a:srgbClr val="94A3B8"/>
                </a:solidFill>
                <a:latin typeface="Inter"/>
                <a:ea typeface="Inter"/>
                <a:cs typeface="Inter"/>
                <a:sym typeface="Inter"/>
              </a:endParaRPr>
            </a:p>
          </p:txBody>
        </p:sp>
      </p:grpSp>
      <p:grpSp>
        <p:nvGrpSpPr>
          <p:cNvPr id="1112" name="Google Shape;1112;p65"/>
          <p:cNvGrpSpPr/>
          <p:nvPr/>
        </p:nvGrpSpPr>
        <p:grpSpPr>
          <a:xfrm>
            <a:off x="4572000" y="904875"/>
            <a:ext cx="4191000" cy="3762300"/>
            <a:chOff x="0" y="0"/>
            <a:chExt cx="4191000" cy="3762300"/>
          </a:xfrm>
        </p:grpSpPr>
        <p:sp>
          <p:nvSpPr>
            <p:cNvPr id="1113" name="Google Shape;1113;p65"/>
            <p:cNvSpPr/>
            <p:nvPr/>
          </p:nvSpPr>
          <p:spPr>
            <a:xfrm>
              <a:off x="0" y="0"/>
              <a:ext cx="4191000" cy="3762300"/>
            </a:xfrm>
            <a:prstGeom prst="roundRect">
              <a:avLst>
                <a:gd fmla="val 3037" name="adj"/>
              </a:avLst>
            </a:prstGeom>
            <a:solidFill>
              <a:srgbClr val="111827"/>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4" name="Google Shape;1114;p65"/>
            <p:cNvSpPr/>
            <p:nvPr/>
          </p:nvSpPr>
          <p:spPr>
            <a:xfrm>
              <a:off x="0" y="0"/>
              <a:ext cx="41910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5" name="Google Shape;1115;p65"/>
            <p:cNvSpPr txBox="1"/>
            <p:nvPr/>
          </p:nvSpPr>
          <p:spPr>
            <a:xfrm>
              <a:off x="228600" y="228600"/>
              <a:ext cx="3733800" cy="3305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950">
                  <a:solidFill>
                    <a:srgbClr val="38BDF8"/>
                  </a:solidFill>
                  <a:latin typeface="Inter"/>
                  <a:ea typeface="Inter"/>
                  <a:cs typeface="Inter"/>
                  <a:sym typeface="Inter"/>
                </a:rPr>
                <a:t>02. VISCOELASTIC MODEL (PTT)</a:t>
              </a:r>
              <a:endParaRPr b="1" sz="950">
                <a:solidFill>
                  <a:srgbClr val="38BDF8"/>
                </a:solidFill>
                <a:latin typeface="Inter"/>
                <a:ea typeface="Inter"/>
                <a:cs typeface="Inter"/>
                <a:sym typeface="Inter"/>
              </a:endParaRPr>
            </a:p>
            <a:p>
              <a:pPr indent="0" lvl="0" marL="0" rtl="0" algn="l">
                <a:spcBef>
                  <a:spcPts val="600"/>
                </a:spcBef>
                <a:spcAft>
                  <a:spcPts val="0"/>
                </a:spcAft>
                <a:buNone/>
              </a:pPr>
              <a:r>
                <a:rPr b="1" lang="it" sz="1500">
                  <a:solidFill>
                    <a:srgbClr val="F8FAFC"/>
                  </a:solidFill>
                  <a:latin typeface="Inter"/>
                  <a:ea typeface="Inter"/>
                  <a:cs typeface="Inter"/>
                  <a:sym typeface="Inter"/>
                </a:rPr>
                <a:t>Exponential PTT Formulation</a:t>
              </a:r>
              <a:endParaRPr b="1" sz="1500">
                <a:solidFill>
                  <a:srgbClr val="F8FAFC"/>
                </a:solidFill>
                <a:latin typeface="Inter"/>
                <a:ea typeface="Inter"/>
                <a:cs typeface="Inter"/>
                <a:sym typeface="Inter"/>
              </a:endParaRPr>
            </a:p>
            <a:p>
              <a:pPr indent="0" lvl="0" marL="0" rtl="0" algn="l">
                <a:spcBef>
                  <a:spcPts val="1050"/>
                </a:spcBef>
                <a:spcAft>
                  <a:spcPts val="0"/>
                </a:spcAft>
                <a:buNone/>
              </a:pPr>
              <a:r>
                <a:rPr b="0" lang="it" sz="1000">
                  <a:solidFill>
                    <a:srgbClr val="94A3B8"/>
                  </a:solidFill>
                  <a:latin typeface="Inter"/>
                  <a:ea typeface="Inter"/>
                  <a:cs typeface="Inter"/>
                  <a:sym typeface="Inter"/>
                </a:rPr>
                <a:t>Transition to an </a:t>
              </a:r>
              <a:r>
                <a:rPr b="0" lang="it" sz="1000">
                  <a:solidFill>
                    <a:srgbClr val="E2E8F0"/>
                  </a:solidFill>
                  <a:latin typeface="Inter SemiBold"/>
                  <a:ea typeface="Inter SemiBold"/>
                  <a:cs typeface="Inter SemiBold"/>
                  <a:sym typeface="Inter SemiBold"/>
                </a:rPr>
                <a:t>exponential Phan-Thien-Tanner (PTT)</a:t>
              </a:r>
              <a:r>
                <a:rPr b="0" lang="it" sz="1000">
                  <a:solidFill>
                    <a:srgbClr val="94A3B8"/>
                  </a:solidFill>
                  <a:latin typeface="Inter"/>
                  <a:ea typeface="Inter"/>
                  <a:cs typeface="Inter"/>
                  <a:sym typeface="Inter"/>
                </a:rPr>
                <a:t> model formulation.</a:t>
              </a:r>
              <a:endParaRPr b="0" sz="1000">
                <a:solidFill>
                  <a:srgbClr val="94A3B8"/>
                </a:solidFill>
                <a:latin typeface="Inter"/>
                <a:ea typeface="Inter"/>
                <a:cs typeface="Inter"/>
                <a:sym typeface="Inter"/>
              </a:endParaRPr>
            </a:p>
            <a:p>
              <a:pPr indent="0" lvl="0" marL="0" rtl="0" algn="l">
                <a:spcBef>
                  <a:spcPts val="1200"/>
                </a:spcBef>
                <a:spcAft>
                  <a:spcPts val="0"/>
                </a:spcAft>
                <a:buNone/>
              </a:pPr>
              <a:r>
                <a:rPr b="0" lang="it" sz="950">
                  <a:solidFill>
                    <a:srgbClr val="38BDF8"/>
                  </a:solidFill>
                  <a:latin typeface="Inter SemiBold"/>
                  <a:ea typeface="Inter SemiBold"/>
                  <a:cs typeface="Inter SemiBold"/>
                  <a:sym typeface="Inter SemiBold"/>
                </a:rPr>
                <a:t>Objective:</a:t>
              </a:r>
              <a:endParaRPr b="0" sz="950">
                <a:solidFill>
                  <a:srgbClr val="94A3B8"/>
                </a:solidFill>
                <a:latin typeface="Inter"/>
                <a:ea typeface="Inter"/>
                <a:cs typeface="Inter"/>
                <a:sym typeface="Inter"/>
              </a:endParaRPr>
            </a:p>
            <a:p>
              <a:pPr indent="0" lvl="0" marL="0" rtl="0" algn="l">
                <a:spcBef>
                  <a:spcPts val="300"/>
                </a:spcBef>
                <a:spcAft>
                  <a:spcPts val="0"/>
                </a:spcAft>
                <a:buNone/>
              </a:pPr>
              <a:r>
                <a:rPr b="0" lang="it" sz="950">
                  <a:solidFill>
                    <a:srgbClr val="E2E8F0"/>
                  </a:solidFill>
                  <a:latin typeface="Inter"/>
                  <a:ea typeface="Inter"/>
                  <a:cs typeface="Inter"/>
                  <a:sym typeface="Inter"/>
                </a:rPr>
                <a:t>Overcome mathematical &amp; physical limits tied strictly to the stationary regime setup.</a:t>
              </a:r>
              <a:endParaRPr b="0" sz="950">
                <a:solidFill>
                  <a:srgbClr val="E2E8F0"/>
                </a:solidFill>
                <a:latin typeface="Inter"/>
                <a:ea typeface="Inter"/>
                <a:cs typeface="Inter"/>
                <a:sym typeface="Inter"/>
              </a:endParaRPr>
            </a:p>
            <a:p>
              <a:pPr indent="0" lvl="0" marL="0" rtl="0" algn="l">
                <a:spcBef>
                  <a:spcPts val="900"/>
                </a:spcBef>
                <a:spcAft>
                  <a:spcPts val="0"/>
                </a:spcAft>
                <a:buNone/>
              </a:pPr>
              <a:r>
                <a:rPr b="0" lang="it" sz="950">
                  <a:solidFill>
                    <a:srgbClr val="E2E8F0"/>
                  </a:solidFill>
                  <a:latin typeface="Inter SemiBold"/>
                  <a:ea typeface="Inter SemiBold"/>
                  <a:cs typeface="Inter SemiBold"/>
                  <a:sym typeface="Inter SemiBold"/>
                </a:rPr>
                <a:t>Expected Outcome:</a:t>
              </a:r>
              <a:endParaRPr b="0" sz="950">
                <a:solidFill>
                  <a:srgbClr val="94A3B8"/>
                </a:solidFill>
                <a:latin typeface="Inter"/>
                <a:ea typeface="Inter"/>
                <a:cs typeface="Inter"/>
                <a:sym typeface="Inter"/>
              </a:endParaRPr>
            </a:p>
            <a:p>
              <a:pPr indent="0" lvl="0" marL="0" rtl="0" algn="l">
                <a:spcBef>
                  <a:spcPts val="300"/>
                </a:spcBef>
                <a:spcAft>
                  <a:spcPts val="0"/>
                </a:spcAft>
                <a:buNone/>
              </a:pPr>
              <a:r>
                <a:rPr b="0" lang="it" sz="950">
                  <a:solidFill>
                    <a:srgbClr val="94A3B8"/>
                  </a:solidFill>
                  <a:latin typeface="Inter"/>
                  <a:ea typeface="Inter"/>
                  <a:cs typeface="Inter"/>
                  <a:sym typeface="Inter"/>
                </a:rPr>
                <a:t>Resolve parameter coupling between   ,     , and    for unique parameter identifiability.</a:t>
              </a:r>
              <a:endParaRPr b="0" sz="950">
                <a:solidFill>
                  <a:srgbClr val="94A3B8"/>
                </a:solidFill>
                <a:latin typeface="Inter"/>
                <a:ea typeface="Inter"/>
                <a:cs typeface="Inter"/>
                <a:sym typeface="Inter"/>
              </a:endParaRPr>
            </a:p>
          </p:txBody>
        </p:sp>
      </p:grpSp>
      <p:pic>
        <p:nvPicPr>
          <p:cNvPr id="1116" name="Google Shape;1116;p65" title="{&quot;red&quot;:148,&quot;green&quot;:163,&quot;blue&quot;:184,&quot;origURL&quot;:&quot;https://saxarona.github.io/mathjax-viewer/?input=Re#2&quot;,&quot;size&quot;:10,&quot;width&quot;:279,&quot;height&quot;:260.244094488189,&quot;slideId&quot;:&quot;h748575b512b089a0_7_960&quot;,&quot;pageElementId&quot;:&quot;h748575b512b089a0_7_964&quot;,&quot;spaceCount&quot;:5,&quot;spaceStart&quot;:126}"/>
          <p:cNvPicPr preferRelativeResize="0"/>
          <p:nvPr/>
        </p:nvPicPr>
        <p:blipFill>
          <a:blip r:embed="rId3">
            <a:alphaModFix/>
          </a:blip>
          <a:stretch>
            <a:fillRect/>
          </a:stretch>
        </p:blipFill>
        <p:spPr>
          <a:xfrm>
            <a:off x="1543847" y="1692783"/>
            <a:ext cx="168021" cy="96012"/>
          </a:xfrm>
          <a:prstGeom prst="rect">
            <a:avLst/>
          </a:prstGeom>
          <a:noFill/>
          <a:ln>
            <a:noFill/>
          </a:ln>
        </p:spPr>
      </p:pic>
      <p:pic>
        <p:nvPicPr>
          <p:cNvPr id="1117" name="Google Shape;1117;p65" title="{&quot;red&quot;:148,&quot;green&quot;:163,&quot;blue&quot;:184,&quot;origURL&quot;:&quot;https://saxarona.github.io/mathjax-viewer/?input=%5Ceta_s#2&quot;,&quot;size&quot;:9.5,&quot;width&quot;:279,&quot;height&quot;:260.244094488189,&quot;slideId&quot;:&quot;h748575b512b089a0_7_960&quot;,&quot;pageElementId&quot;:&quot;h748575b512b089a0_7_964&quot;,&quot;spaceCount&quot;:4,&quot;spaceStart&quot;:323}"/>
          <p:cNvPicPr preferRelativeResize="0"/>
          <p:nvPr/>
        </p:nvPicPr>
        <p:blipFill>
          <a:blip r:embed="rId4">
            <a:alphaModFix/>
          </a:blip>
          <a:stretch>
            <a:fillRect/>
          </a:stretch>
        </p:blipFill>
        <p:spPr>
          <a:xfrm>
            <a:off x="3959169" y="2398205"/>
            <a:ext cx="120015" cy="84010"/>
          </a:xfrm>
          <a:prstGeom prst="rect">
            <a:avLst/>
          </a:prstGeom>
          <a:noFill/>
          <a:ln>
            <a:noFill/>
          </a:ln>
        </p:spPr>
      </p:pic>
      <p:pic>
        <p:nvPicPr>
          <p:cNvPr id="1118" name="Google Shape;1118;p65" title="{&quot;red&quot;:148,&quot;green&quot;:163,&quot;blue&quot;:184,&quot;origURL&quot;:&quot;https://saxarona.github.io/mathjax-viewer/?input=%5Clambda#2&quot;,&quot;size&quot;:9.5,&quot;width&quot;:294,&quot;height&quot;:260.244094488189,&quot;slideId&quot;:&quot;h748575b512b089a0_7_960&quot;,&quot;pageElementId&quot;:&quot;h748575b512b089a0_7_968&quot;,&quot;spaceCount&quot;:2,&quot;spaceStart&quot;:279}"/>
          <p:cNvPicPr preferRelativeResize="0"/>
          <p:nvPr/>
        </p:nvPicPr>
        <p:blipFill>
          <a:blip r:embed="rId5">
            <a:alphaModFix/>
          </a:blip>
          <a:stretch>
            <a:fillRect/>
          </a:stretch>
        </p:blipFill>
        <p:spPr>
          <a:xfrm>
            <a:off x="7034771" y="2386203"/>
            <a:ext cx="84010" cy="96012"/>
          </a:xfrm>
          <a:prstGeom prst="rect">
            <a:avLst/>
          </a:prstGeom>
          <a:noFill/>
          <a:ln>
            <a:noFill/>
          </a:ln>
        </p:spPr>
      </p:pic>
      <p:pic>
        <p:nvPicPr>
          <p:cNvPr id="1119" name="Google Shape;1119;p65" title="{&quot;red&quot;:148,&quot;green&quot;:163,&quot;blue&quot;:184,&quot;origURL&quot;:&quot;https://saxarona.github.io/mathjax-viewer/?input=%5Cmu_p#2&quot;,&quot;size&quot;:9.5,&quot;width&quot;:294,&quot;height&quot;:260.244094488189,&quot;slideId&quot;:&quot;h748575b512b089a0_7_960&quot;,&quot;pageElementId&quot;:&quot;h748575b512b089a0_7_968&quot;,&quot;spaceCount&quot;:4,&quot;spaceStart&quot;:283}"/>
          <p:cNvPicPr preferRelativeResize="0"/>
          <p:nvPr/>
        </p:nvPicPr>
        <p:blipFill>
          <a:blip r:embed="rId6">
            <a:alphaModFix/>
          </a:blip>
          <a:stretch>
            <a:fillRect/>
          </a:stretch>
        </p:blipFill>
        <p:spPr>
          <a:xfrm>
            <a:off x="7171818" y="2386203"/>
            <a:ext cx="144018" cy="96012"/>
          </a:xfrm>
          <a:prstGeom prst="rect">
            <a:avLst/>
          </a:prstGeom>
          <a:noFill/>
          <a:ln>
            <a:noFill/>
          </a:ln>
        </p:spPr>
      </p:pic>
      <p:pic>
        <p:nvPicPr>
          <p:cNvPr id="1120" name="Google Shape;1120;p65" title="{&quot;red&quot;:148,&quot;green&quot;:163,&quot;blue&quot;:184,&quot;origURL&quot;:&quot;https://saxarona.github.io/mathjax-viewer/?input=%5Cvarepsilon#2&quot;,&quot;size&quot;:9.5,&quot;width&quot;:294,&quot;height&quot;:260.244094488189,&quot;slideId&quot;:&quot;h748575b512b089a0_7_960&quot;,&quot;pageElementId&quot;:&quot;h748575b512b089a0_7_968&quot;,&quot;spaceCount&quot;:2,&quot;spaceStart&quot;:293}"/>
          <p:cNvPicPr preferRelativeResize="0"/>
          <p:nvPr/>
        </p:nvPicPr>
        <p:blipFill>
          <a:blip r:embed="rId7">
            <a:alphaModFix/>
          </a:blip>
          <a:stretch>
            <a:fillRect/>
          </a:stretch>
        </p:blipFill>
        <p:spPr>
          <a:xfrm>
            <a:off x="7624716" y="2422207"/>
            <a:ext cx="60007" cy="6000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4" name="Shape 1124"/>
        <p:cNvGrpSpPr/>
        <p:nvPr/>
      </p:nvGrpSpPr>
      <p:grpSpPr>
        <a:xfrm>
          <a:off x="0" y="0"/>
          <a:ext cx="0" cy="0"/>
          <a:chOff x="0" y="0"/>
          <a:chExt cx="0" cy="0"/>
        </a:xfrm>
      </p:grpSpPr>
      <p:sp>
        <p:nvSpPr>
          <p:cNvPr id="1125" name="Google Shape;1125;p66"/>
          <p:cNvSpPr txBox="1"/>
          <p:nvPr/>
        </p:nvSpPr>
        <p:spPr>
          <a:xfrm>
            <a:off x="381000" y="238125"/>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3B82F6"/>
                </a:solidFill>
                <a:latin typeface="Inter SemiBold"/>
                <a:ea typeface="Inter SemiBold"/>
                <a:cs typeface="Inter SemiBold"/>
                <a:sym typeface="Inter SemiBold"/>
              </a:rPr>
              <a:t>Research Directions &amp; Next Steps</a:t>
            </a:r>
            <a:endParaRPr b="0" sz="675">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1" lang="it" sz="2000">
                <a:solidFill>
                  <a:srgbClr val="F8F9FA"/>
                </a:solidFill>
                <a:latin typeface="Inter"/>
                <a:ea typeface="Inter"/>
                <a:cs typeface="Inter"/>
                <a:sym typeface="Inter"/>
              </a:rPr>
              <a:t>Future Development</a:t>
            </a:r>
            <a:endParaRPr b="1" sz="2000">
              <a:solidFill>
                <a:srgbClr val="F8F9FA"/>
              </a:solidFill>
              <a:latin typeface="Inter"/>
              <a:ea typeface="Inter"/>
              <a:cs typeface="Inter"/>
              <a:sym typeface="Inter"/>
            </a:endParaRPr>
          </a:p>
        </p:txBody>
      </p:sp>
      <p:cxnSp>
        <p:nvCxnSpPr>
          <p:cNvPr id="1126" name="Google Shape;1126;p66"/>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127" name="Google Shape;112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1128" name="Google Shape;1128;p66"/>
          <p:cNvGrpSpPr/>
          <p:nvPr/>
        </p:nvGrpSpPr>
        <p:grpSpPr>
          <a:xfrm>
            <a:off x="381000" y="1000125"/>
            <a:ext cx="4048200" cy="1857300"/>
            <a:chOff x="0" y="0"/>
            <a:chExt cx="4048200" cy="1857300"/>
          </a:xfrm>
        </p:grpSpPr>
        <p:sp>
          <p:nvSpPr>
            <p:cNvPr id="1129" name="Google Shape;1129;p66"/>
            <p:cNvSpPr/>
            <p:nvPr/>
          </p:nvSpPr>
          <p:spPr>
            <a:xfrm>
              <a:off x="0" y="0"/>
              <a:ext cx="4048200" cy="1857300"/>
            </a:xfrm>
            <a:prstGeom prst="roundRect">
              <a:avLst>
                <a:gd fmla="val 205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0" name="Google Shape;1130;p66"/>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p66"/>
            <p:cNvSpPr txBox="1"/>
            <p:nvPr/>
          </p:nvSpPr>
          <p:spPr>
            <a:xfrm>
              <a:off x="190500" y="142875"/>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750">
                  <a:solidFill>
                    <a:srgbClr val="3B82F6"/>
                  </a:solidFill>
                  <a:latin typeface="Inter SemiBold"/>
                  <a:ea typeface="Inter SemiBold"/>
                  <a:cs typeface="Inter SemiBold"/>
                  <a:sym typeface="Inter SemiBold"/>
                </a:rPr>
                <a:t>01. KINEMATICS MODIFICATION</a:t>
              </a:r>
              <a:endParaRPr b="0" sz="75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Flow Field Alteration</a:t>
              </a:r>
              <a:endParaRPr b="0" sz="1200">
                <a:solidFill>
                  <a:srgbClr val="F8F9FA"/>
                </a:solidFill>
                <a:latin typeface="Inter SemiBold"/>
                <a:ea typeface="Inter SemiBold"/>
                <a:cs typeface="Inter SemiBold"/>
                <a:sym typeface="Inter SemiBold"/>
              </a:endParaRPr>
            </a:p>
            <a:p>
              <a:pPr indent="0" lvl="0" marL="0" rtl="0" algn="l">
                <a:spcBef>
                  <a:spcPts val="300"/>
                </a:spcBef>
                <a:spcAft>
                  <a:spcPts val="0"/>
                </a:spcAft>
                <a:buNone/>
              </a:pPr>
              <a:r>
                <a:rPr lang="it" sz="850">
                  <a:solidFill>
                    <a:srgbClr val="94A3B8"/>
                  </a:solidFill>
                  <a:latin typeface="Inter"/>
                  <a:ea typeface="Inter"/>
                  <a:cs typeface="Inter"/>
                  <a:sym typeface="Inter"/>
                </a:rPr>
                <a:t>Focus on changing the flow field configurations to study non-standard velocity dynamics.</a:t>
              </a:r>
              <a:endParaRPr sz="850">
                <a:solidFill>
                  <a:srgbClr val="94A3B8"/>
                </a:solidFill>
                <a:latin typeface="Inter"/>
                <a:ea typeface="Inter"/>
                <a:cs typeface="Inter"/>
                <a:sym typeface="Inter"/>
              </a:endParaRPr>
            </a:p>
            <a:p>
              <a:pPr indent="0" lvl="0" marL="0" rtl="0" algn="l">
                <a:spcBef>
                  <a:spcPts val="150"/>
                </a:spcBef>
                <a:spcAft>
                  <a:spcPts val="0"/>
                </a:spcAft>
                <a:buNone/>
              </a:pPr>
              <a:r>
                <a:t/>
              </a:r>
              <a:endParaRPr sz="900">
                <a:solidFill>
                  <a:srgbClr val="38BDF8"/>
                </a:solidFill>
                <a:latin typeface="Courier New"/>
                <a:ea typeface="Courier New"/>
                <a:cs typeface="Courier New"/>
                <a:sym typeface="Courier New"/>
              </a:endParaRPr>
            </a:p>
          </p:txBody>
        </p:sp>
      </p:grpSp>
      <p:grpSp>
        <p:nvGrpSpPr>
          <p:cNvPr id="1132" name="Google Shape;1132;p66"/>
          <p:cNvGrpSpPr/>
          <p:nvPr/>
        </p:nvGrpSpPr>
        <p:grpSpPr>
          <a:xfrm>
            <a:off x="4714875" y="1000125"/>
            <a:ext cx="4048200" cy="1857300"/>
            <a:chOff x="0" y="0"/>
            <a:chExt cx="4048200" cy="1857300"/>
          </a:xfrm>
        </p:grpSpPr>
        <p:sp>
          <p:nvSpPr>
            <p:cNvPr id="1133" name="Google Shape;1133;p66"/>
            <p:cNvSpPr/>
            <p:nvPr/>
          </p:nvSpPr>
          <p:spPr>
            <a:xfrm>
              <a:off x="0" y="0"/>
              <a:ext cx="4048200" cy="1857300"/>
            </a:xfrm>
            <a:prstGeom prst="roundRect">
              <a:avLst>
                <a:gd fmla="val 205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p66"/>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5" name="Google Shape;1135;p66"/>
            <p:cNvSpPr txBox="1"/>
            <p:nvPr/>
          </p:nvSpPr>
          <p:spPr>
            <a:xfrm>
              <a:off x="190500" y="142875"/>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750">
                  <a:solidFill>
                    <a:srgbClr val="10B981"/>
                  </a:solidFill>
                  <a:latin typeface="Inter SemiBold"/>
                  <a:ea typeface="Inter SemiBold"/>
                  <a:cs typeface="Inter SemiBold"/>
                  <a:sym typeface="Inter SemiBold"/>
                </a:rPr>
                <a:t>02. STOCHASTIC PERTURBATION</a:t>
              </a:r>
              <a:endParaRPr b="0" sz="750">
                <a:solidFill>
                  <a:srgbClr val="10B981"/>
                </a:solidFill>
                <a:latin typeface="Inter SemiBold"/>
                <a:ea typeface="Inter SemiBold"/>
                <a:cs typeface="Inter SemiBold"/>
                <a:sym typeface="Inter SemiBold"/>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Gaussian Noise Addition</a:t>
              </a:r>
              <a:endParaRPr b="0" sz="1200">
                <a:solidFill>
                  <a:srgbClr val="F8F9FA"/>
                </a:solidFill>
                <a:latin typeface="Inter SemiBold"/>
                <a:ea typeface="Inter SemiBold"/>
                <a:cs typeface="Inter SemiBold"/>
                <a:sym typeface="Inter SemiBold"/>
              </a:endParaRPr>
            </a:p>
            <a:p>
              <a:pPr indent="0" lvl="0" marL="0" rtl="0" algn="l">
                <a:spcBef>
                  <a:spcPts val="450"/>
                </a:spcBef>
                <a:spcAft>
                  <a:spcPts val="0"/>
                </a:spcAft>
                <a:buNone/>
              </a:pPr>
              <a:r>
                <a:rPr lang="it" sz="850">
                  <a:solidFill>
                    <a:srgbClr val="94A3B8"/>
                  </a:solidFill>
                  <a:latin typeface="Inter"/>
                  <a:ea typeface="Inter"/>
                  <a:cs typeface="Inter"/>
                  <a:sym typeface="Inter"/>
                </a:rPr>
                <a:t>Incorporate Gaussian noise into the synthetic datasets and flow fields to evaluate numerical robustness, regularization stability, and solver resilience under uncertainty.</a:t>
              </a:r>
              <a:endParaRPr sz="850">
                <a:solidFill>
                  <a:srgbClr val="94A3B8"/>
                </a:solidFill>
                <a:latin typeface="Inter"/>
                <a:ea typeface="Inter"/>
                <a:cs typeface="Inter"/>
                <a:sym typeface="Inter"/>
              </a:endParaRPr>
            </a:p>
          </p:txBody>
        </p:sp>
      </p:grpSp>
      <p:grpSp>
        <p:nvGrpSpPr>
          <p:cNvPr id="1136" name="Google Shape;1136;p66"/>
          <p:cNvGrpSpPr/>
          <p:nvPr/>
        </p:nvGrpSpPr>
        <p:grpSpPr>
          <a:xfrm>
            <a:off x="381000" y="3000375"/>
            <a:ext cx="4048200" cy="1857300"/>
            <a:chOff x="0" y="0"/>
            <a:chExt cx="4048200" cy="1857300"/>
          </a:xfrm>
        </p:grpSpPr>
        <p:sp>
          <p:nvSpPr>
            <p:cNvPr id="1137" name="Google Shape;1137;p66"/>
            <p:cNvSpPr/>
            <p:nvPr/>
          </p:nvSpPr>
          <p:spPr>
            <a:xfrm>
              <a:off x="0" y="0"/>
              <a:ext cx="4048200" cy="1857300"/>
            </a:xfrm>
            <a:prstGeom prst="roundRect">
              <a:avLst>
                <a:gd fmla="val 205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8" name="Google Shape;1138;p66"/>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9" name="Google Shape;1139;p66"/>
            <p:cNvSpPr txBox="1"/>
            <p:nvPr/>
          </p:nvSpPr>
          <p:spPr>
            <a:xfrm>
              <a:off x="190500" y="142875"/>
              <a:ext cx="3667200" cy="1571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750" u="none" strike="noStrike">
                  <a:solidFill>
                    <a:srgbClr val="F59E0B"/>
                  </a:solidFill>
                  <a:latin typeface="Inter SemiBold"/>
                  <a:ea typeface="Inter SemiBold"/>
                  <a:cs typeface="Inter SemiBold"/>
                  <a:sym typeface="Inter SemiBold"/>
                </a:rPr>
                <a:t>03. CONSTITUTIVE FORMULATION</a:t>
              </a:r>
              <a:endParaRPr b="0" i="0" sz="750" u="none" strike="noStrike">
                <a:solidFill>
                  <a:srgbClr val="F59E0B"/>
                </a:solidFill>
                <a:latin typeface="Inter SemiBold"/>
                <a:ea typeface="Inter SemiBold"/>
                <a:cs typeface="Inter SemiBold"/>
                <a:sym typeface="Inter SemiBold"/>
              </a:endParaRPr>
            </a:p>
            <a:p>
              <a:pPr indent="0" lvl="0" marL="0" rtl="0" algn="l">
                <a:spcBef>
                  <a:spcPts val="300"/>
                </a:spcBef>
                <a:spcAft>
                  <a:spcPts val="0"/>
                </a:spcAft>
                <a:buNone/>
              </a:pPr>
              <a:r>
                <a:rPr b="0" i="0" lang="it" sz="1200" u="none" strike="noStrike">
                  <a:solidFill>
                    <a:srgbClr val="F8F9FA"/>
                  </a:solidFill>
                  <a:latin typeface="Inter SemiBold"/>
                  <a:ea typeface="Inter SemiBold"/>
                  <a:cs typeface="Inter SemiBold"/>
                  <a:sym typeface="Inter SemiBold"/>
                </a:rPr>
                <a:t>Exponential PTT Integration</a:t>
              </a:r>
              <a:endParaRPr b="0" i="0" sz="750" u="none" strike="noStrike">
                <a:solidFill>
                  <a:srgbClr val="F59E0B"/>
                </a:solidFill>
                <a:latin typeface="Inter SemiBold"/>
                <a:ea typeface="Inter SemiBold"/>
                <a:cs typeface="Inter SemiBold"/>
                <a:sym typeface="Inter SemiBold"/>
              </a:endParaRPr>
            </a:p>
            <a:p>
              <a:pPr indent="0" lvl="0" marL="0" rtl="0" algn="l">
                <a:spcBef>
                  <a:spcPts val="450"/>
                </a:spcBef>
                <a:spcAft>
                  <a:spcPts val="0"/>
                </a:spcAft>
                <a:buNone/>
              </a:pPr>
              <a:r>
                <a:rPr b="0" i="0" lang="it" sz="850" u="none" strike="noStrike">
                  <a:solidFill>
                    <a:srgbClr val="94A3B8"/>
                  </a:solidFill>
                  <a:latin typeface="Inter"/>
                  <a:ea typeface="Inter"/>
                  <a:cs typeface="Inter"/>
                  <a:sym typeface="Inter"/>
                </a:rPr>
                <a:t>Transition to exponential PTT (ePTT) instead of linear PTT in ViscoelasticNet</a:t>
              </a:r>
              <a:r>
                <a:rPr lang="it" sz="850">
                  <a:solidFill>
                    <a:srgbClr val="94A3B8"/>
                  </a:solidFill>
                  <a:latin typeface="Inter"/>
                  <a:ea typeface="Inter"/>
                  <a:cs typeface="Inter"/>
                  <a:sym typeface="Inter"/>
                </a:rPr>
                <a:t>.</a:t>
              </a:r>
              <a:endParaRPr b="0" i="0" sz="750" u="none" strike="noStrike">
                <a:solidFill>
                  <a:srgbClr val="F59E0B"/>
                </a:solidFill>
                <a:latin typeface="Inter SemiBold"/>
                <a:ea typeface="Inter SemiBold"/>
                <a:cs typeface="Inter SemiBold"/>
                <a:sym typeface="Inter SemiBold"/>
              </a:endParaRPr>
            </a:p>
          </p:txBody>
        </p:sp>
      </p:grpSp>
      <p:grpSp>
        <p:nvGrpSpPr>
          <p:cNvPr id="1140" name="Google Shape;1140;p66"/>
          <p:cNvGrpSpPr/>
          <p:nvPr/>
        </p:nvGrpSpPr>
        <p:grpSpPr>
          <a:xfrm>
            <a:off x="4714875" y="3000375"/>
            <a:ext cx="4048200" cy="1857300"/>
            <a:chOff x="0" y="0"/>
            <a:chExt cx="4048200" cy="1857300"/>
          </a:xfrm>
        </p:grpSpPr>
        <p:sp>
          <p:nvSpPr>
            <p:cNvPr id="1141" name="Google Shape;1141;p66"/>
            <p:cNvSpPr/>
            <p:nvPr/>
          </p:nvSpPr>
          <p:spPr>
            <a:xfrm>
              <a:off x="0" y="0"/>
              <a:ext cx="4048200" cy="1857300"/>
            </a:xfrm>
            <a:prstGeom prst="roundRect">
              <a:avLst>
                <a:gd fmla="val 205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2" name="Google Shape;1142;p66"/>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A855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3" name="Google Shape;1143;p66"/>
            <p:cNvSpPr txBox="1"/>
            <p:nvPr/>
          </p:nvSpPr>
          <p:spPr>
            <a:xfrm>
              <a:off x="190500" y="142875"/>
              <a:ext cx="36672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750">
                  <a:solidFill>
                    <a:srgbClr val="A855F7"/>
                  </a:solidFill>
                  <a:latin typeface="Inter SemiBold"/>
                  <a:ea typeface="Inter SemiBold"/>
                  <a:cs typeface="Inter SemiBold"/>
                  <a:sym typeface="Inter SemiBold"/>
                </a:rPr>
                <a:t>04. NUMERICAL BOUNDS</a:t>
              </a:r>
              <a:endParaRPr b="0" sz="750">
                <a:solidFill>
                  <a:srgbClr val="A855F7"/>
                </a:solidFill>
                <a:latin typeface="Inter SemiBold"/>
                <a:ea typeface="Inter SemiBold"/>
                <a:cs typeface="Inter SemiBold"/>
                <a:sym typeface="Inter SemiBold"/>
              </a:endParaRPr>
            </a:p>
            <a:p>
              <a:pPr indent="0" lvl="0" marL="0" rtl="0" algn="l">
                <a:spcBef>
                  <a:spcPts val="300"/>
                </a:spcBef>
                <a:spcAft>
                  <a:spcPts val="0"/>
                </a:spcAft>
                <a:buNone/>
              </a:pPr>
              <a:r>
                <a:rPr b="0" lang="it" sz="1200">
                  <a:solidFill>
                    <a:srgbClr val="F8F9FA"/>
                  </a:solidFill>
                  <a:latin typeface="Inter SemiBold"/>
                  <a:ea typeface="Inter SemiBold"/>
                  <a:cs typeface="Inter SemiBold"/>
                  <a:sym typeface="Inter SemiBold"/>
                </a:rPr>
                <a:t>Convergence Range Exploration</a:t>
              </a:r>
              <a:endParaRPr b="0" sz="1200">
                <a:solidFill>
                  <a:srgbClr val="F8F9FA"/>
                </a:solidFill>
                <a:latin typeface="Inter SemiBold"/>
                <a:ea typeface="Inter SemiBold"/>
                <a:cs typeface="Inter SemiBold"/>
                <a:sym typeface="Inter SemiBold"/>
              </a:endParaRPr>
            </a:p>
            <a:p>
              <a:pPr indent="0" lvl="0" marL="0" rtl="0" algn="l">
                <a:spcBef>
                  <a:spcPts val="450"/>
                </a:spcBef>
                <a:spcAft>
                  <a:spcPts val="0"/>
                </a:spcAft>
                <a:buNone/>
              </a:pPr>
              <a:r>
                <a:rPr lang="it" sz="850">
                  <a:solidFill>
                    <a:srgbClr val="94A3B8"/>
                  </a:solidFill>
                  <a:latin typeface="Inter"/>
                  <a:ea typeface="Inter"/>
                  <a:cs typeface="Inter"/>
                  <a:sym typeface="Inter"/>
                </a:rPr>
                <a:t>Conduct thorough parameter sweeps to map out and expand the convergence envelope across varying Weissenberg numbers, Reynolds regimes, and loss weighting setups.</a:t>
              </a:r>
              <a:endParaRPr sz="850">
                <a:solidFill>
                  <a:srgbClr val="94A3B8"/>
                </a:solidFill>
                <a:latin typeface="Inter"/>
                <a:ea typeface="Inter"/>
                <a:cs typeface="Inter"/>
                <a:sym typeface="Inter"/>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147" name="Shape 1147"/>
        <p:cNvGrpSpPr/>
        <p:nvPr/>
      </p:nvGrpSpPr>
      <p:grpSpPr>
        <a:xfrm>
          <a:off x="0" y="0"/>
          <a:ext cx="0" cy="0"/>
          <a:chOff x="0" y="0"/>
          <a:chExt cx="0" cy="0"/>
        </a:xfrm>
      </p:grpSpPr>
      <p:sp>
        <p:nvSpPr>
          <p:cNvPr id="1148" name="Google Shape;1148;p67"/>
          <p:cNvSpPr txBox="1"/>
          <p:nvPr/>
        </p:nvSpPr>
        <p:spPr>
          <a:xfrm>
            <a:off x="381000" y="266700"/>
            <a:ext cx="8382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it" sz="800">
                <a:solidFill>
                  <a:srgbClr val="3B82F6"/>
                </a:solidFill>
                <a:latin typeface="Inter SemiBold"/>
                <a:ea typeface="Inter SemiBold"/>
                <a:cs typeface="Inter SemiBold"/>
                <a:sym typeface="Inter SemiBold"/>
              </a:rPr>
              <a:t>Literature Review • 2026</a:t>
            </a:r>
            <a:endParaRPr b="0" sz="800">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1" lang="it" sz="2000">
                <a:solidFill>
                  <a:srgbClr val="F8F9FA"/>
                </a:solidFill>
                <a:latin typeface="Inter"/>
                <a:ea typeface="Inter"/>
                <a:cs typeface="Inter"/>
                <a:sym typeface="Inter"/>
              </a:rPr>
              <a:t>Latest Literature Development</a:t>
            </a:r>
            <a:endParaRPr b="1" sz="2000">
              <a:solidFill>
                <a:srgbClr val="F8F9FA"/>
              </a:solidFill>
              <a:latin typeface="Inter"/>
              <a:ea typeface="Inter"/>
              <a:cs typeface="Inter"/>
              <a:sym typeface="Inter"/>
            </a:endParaRPr>
          </a:p>
        </p:txBody>
      </p:sp>
      <p:sp>
        <p:nvSpPr>
          <p:cNvPr id="1149" name="Google Shape;1149;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cxnSp>
        <p:nvCxnSpPr>
          <p:cNvPr id="1150" name="Google Shape;1150;p67"/>
          <p:cNvCxnSpPr/>
          <p:nvPr/>
        </p:nvCxnSpPr>
        <p:spPr>
          <a:xfrm>
            <a:off x="381000" y="8763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1151" name="Google Shape;1151;p67"/>
          <p:cNvGrpSpPr/>
          <p:nvPr/>
        </p:nvGrpSpPr>
        <p:grpSpPr>
          <a:xfrm>
            <a:off x="381000" y="1095375"/>
            <a:ext cx="8382000" cy="3476700"/>
            <a:chOff x="0" y="0"/>
            <a:chExt cx="8382000" cy="3476700"/>
          </a:xfrm>
        </p:grpSpPr>
        <p:sp>
          <p:nvSpPr>
            <p:cNvPr id="1152" name="Google Shape;1152;p67"/>
            <p:cNvSpPr/>
            <p:nvPr/>
          </p:nvSpPr>
          <p:spPr>
            <a:xfrm>
              <a:off x="0" y="0"/>
              <a:ext cx="8382000" cy="3476700"/>
            </a:xfrm>
            <a:prstGeom prst="roundRect">
              <a:avLst>
                <a:gd fmla="val 2191"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3" name="Google Shape;1153;p67"/>
            <p:cNvSpPr/>
            <p:nvPr/>
          </p:nvSpPr>
          <p:spPr>
            <a:xfrm>
              <a:off x="0" y="0"/>
              <a:ext cx="133500" cy="133500"/>
            </a:xfrm>
            <a:custGeom>
              <a:rect b="b" l="l" r="r" t="t"/>
              <a:pathLst>
                <a:path extrusionOk="0" h="120000" w="120000">
                  <a:moveTo>
                    <a:pt x="0" y="120000"/>
                  </a:moveTo>
                  <a:lnTo>
                    <a:pt x="0" y="0"/>
                  </a:lnTo>
                  <a:lnTo>
                    <a:pt x="120000" y="0"/>
                  </a:lnTo>
                </a:path>
              </a:pathLst>
            </a:custGeom>
            <a:solidFill>
              <a:srgbClr val="000000">
                <a:alpha val="0"/>
              </a:srgbClr>
            </a:solidFill>
            <a:ln cap="rnd" cmpd="sng" w="238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4" name="Google Shape;1154;p67"/>
            <p:cNvSpPr txBox="1"/>
            <p:nvPr/>
          </p:nvSpPr>
          <p:spPr>
            <a:xfrm>
              <a:off x="304800" y="266700"/>
              <a:ext cx="7772400" cy="2952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it" sz="900">
                  <a:solidFill>
                    <a:srgbClr val="38BDF8"/>
                  </a:solidFill>
                  <a:latin typeface="Inter SemiBold"/>
                  <a:ea typeface="Inter SemiBold"/>
                  <a:cs typeface="Inter SemiBold"/>
                  <a:sym typeface="Inter SemiBold"/>
                </a:rPr>
                <a:t>RECENT PUBLICATION (2026)</a:t>
              </a:r>
              <a:endParaRPr b="0" sz="900">
                <a:solidFill>
                  <a:srgbClr val="38BDF8"/>
                </a:solidFill>
                <a:latin typeface="Inter SemiBold"/>
                <a:ea typeface="Inter SemiBold"/>
                <a:cs typeface="Inter SemiBold"/>
                <a:sym typeface="Inter SemiBold"/>
              </a:endParaRPr>
            </a:p>
            <a:p>
              <a:pPr indent="0" lvl="0" marL="0" rtl="0" algn="l">
                <a:spcBef>
                  <a:spcPts val="900"/>
                </a:spcBef>
                <a:spcAft>
                  <a:spcPts val="0"/>
                </a:spcAft>
                <a:buNone/>
              </a:pPr>
              <a:r>
                <a:rPr b="1" lang="it" sz="2200">
                  <a:solidFill>
                    <a:srgbClr val="F8F9FA"/>
                  </a:solidFill>
                  <a:latin typeface="Inter"/>
                  <a:ea typeface="Inter"/>
                  <a:cs typeface="Inter"/>
                  <a:sym typeface="Inter"/>
                </a:rPr>
                <a:t>Simulation of Steady Viscoelastic Creeping Flows with Physics-Informed Neural Networks</a:t>
              </a:r>
              <a:endParaRPr b="1" sz="2200">
                <a:solidFill>
                  <a:srgbClr val="F8F9FA"/>
                </a:solidFill>
                <a:latin typeface="Inter"/>
                <a:ea typeface="Inter"/>
                <a:cs typeface="Inter"/>
                <a:sym typeface="Inter"/>
              </a:endParaRPr>
            </a:p>
            <a:p>
              <a:pPr indent="0" lvl="0" marL="0" rtl="0" algn="l">
                <a:spcBef>
                  <a:spcPts val="1500"/>
                </a:spcBef>
                <a:spcAft>
                  <a:spcPts val="0"/>
                </a:spcAft>
                <a:buNone/>
              </a:pPr>
              <a:r>
                <a:rPr b="0" lang="it" sz="1200">
                  <a:solidFill>
                    <a:srgbClr val="E2E8F0"/>
                  </a:solidFill>
                  <a:latin typeface="Inter SemiBold"/>
                  <a:ea typeface="Inter SemiBold"/>
                  <a:cs typeface="Inter SemiBold"/>
                  <a:sym typeface="Inter SemiBold"/>
                </a:rPr>
                <a:t>José X. Matosa, C. Fernandesa, M. A. Alvesa,*</a:t>
              </a:r>
              <a:endParaRPr b="0" sz="1200">
                <a:solidFill>
                  <a:srgbClr val="E2E8F0"/>
                </a:solidFill>
                <a:latin typeface="Inter SemiBold"/>
                <a:ea typeface="Inter SemiBold"/>
                <a:cs typeface="Inter SemiBold"/>
                <a:sym typeface="Inter SemiBold"/>
              </a:endParaRPr>
            </a:p>
            <a:p>
              <a:pPr indent="0" lvl="0" marL="0" rtl="0" algn="l">
                <a:spcBef>
                  <a:spcPts val="750"/>
                </a:spcBef>
                <a:spcAft>
                  <a:spcPts val="0"/>
                </a:spcAft>
                <a:buNone/>
              </a:pPr>
              <a:r>
                <a:rPr b="0" lang="it" sz="1050">
                  <a:solidFill>
                    <a:srgbClr val="94A3B8"/>
                  </a:solidFill>
                  <a:latin typeface="Inter"/>
                  <a:ea typeface="Inter"/>
                  <a:cs typeface="Inter"/>
                  <a:sym typeface="Inter"/>
                </a:rPr>
                <a:t>a CEFT, ALiCE, Faculty of Engineering, University of Porto, Rua Dr. Roberto Frias, s/n 4200-465 Porto, Portugal.</a:t>
              </a:r>
              <a:endParaRPr b="0" sz="1050">
                <a:solidFill>
                  <a:srgbClr val="94A3B8"/>
                </a:solidFill>
                <a:latin typeface="Inter"/>
                <a:ea typeface="Inter"/>
                <a:cs typeface="Inter"/>
                <a:sym typeface="Inter"/>
              </a:endParaRPr>
            </a:p>
          </p:txBody>
        </p:sp>
      </p:grpSp>
      <p:sp>
        <p:nvSpPr>
          <p:cNvPr id="1155" name="Google Shape;1155;p67"/>
          <p:cNvSpPr txBox="1"/>
          <p:nvPr/>
        </p:nvSpPr>
        <p:spPr>
          <a:xfrm>
            <a:off x="8572500" y="4762500"/>
            <a:ext cx="381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b="0" sz="1000">
              <a:solidFill>
                <a:srgbClr val="475569"/>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68"/>
          <p:cNvSpPr/>
          <p:nvPr/>
        </p:nvSpPr>
        <p:spPr>
          <a:xfrm>
            <a:off x="0" y="0"/>
            <a:ext cx="9144000" cy="5143500"/>
          </a:xfrm>
          <a:prstGeom prst="rect">
            <a:avLst/>
          </a:prstGeom>
          <a:solidFill>
            <a:srgbClr val="0B0D1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1" name="Google Shape;1161;p68"/>
          <p:cNvGrpSpPr/>
          <p:nvPr/>
        </p:nvGrpSpPr>
        <p:grpSpPr>
          <a:xfrm>
            <a:off x="1333500" y="1524000"/>
            <a:ext cx="6477000" cy="2095500"/>
            <a:chOff x="0" y="0"/>
            <a:chExt cx="6477000" cy="2095500"/>
          </a:xfrm>
        </p:grpSpPr>
        <p:sp>
          <p:nvSpPr>
            <p:cNvPr id="1162" name="Google Shape;1162;p68"/>
            <p:cNvSpPr/>
            <p:nvPr/>
          </p:nvSpPr>
          <p:spPr>
            <a:xfrm>
              <a:off x="0" y="0"/>
              <a:ext cx="6477000" cy="2095500"/>
            </a:xfrm>
            <a:prstGeom prst="roundRect">
              <a:avLst>
                <a:gd fmla="val 5454" name="adj"/>
              </a:avLst>
            </a:prstGeom>
            <a:solidFill>
              <a:srgbClr val="161A20"/>
            </a:solidFill>
            <a:ln cap="flat" cmpd="sng" w="14300">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3" name="Google Shape;1163;p68"/>
            <p:cNvSpPr/>
            <p:nvPr/>
          </p:nvSpPr>
          <p:spPr>
            <a:xfrm>
              <a:off x="0" y="0"/>
              <a:ext cx="152400" cy="152400"/>
            </a:xfrm>
            <a:custGeom>
              <a:rect b="b" l="l" r="r" t="t"/>
              <a:pathLst>
                <a:path extrusionOk="0" h="120000" w="120000">
                  <a:moveTo>
                    <a:pt x="0" y="120000"/>
                  </a:moveTo>
                  <a:lnTo>
                    <a:pt x="0" y="0"/>
                  </a:lnTo>
                  <a:lnTo>
                    <a:pt x="120000" y="0"/>
                  </a:lnTo>
                </a:path>
              </a:pathLst>
            </a:custGeom>
            <a:solidFill>
              <a:srgbClr val="000000">
                <a:alpha val="0"/>
              </a:srgbClr>
            </a:solidFill>
            <a:ln cap="rnd" cmpd="sng" w="333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4" name="Google Shape;1164;p68"/>
            <p:cNvSpPr/>
            <p:nvPr/>
          </p:nvSpPr>
          <p:spPr>
            <a:xfrm>
              <a:off x="6324600" y="1943100"/>
              <a:ext cx="152400" cy="152400"/>
            </a:xfrm>
            <a:custGeom>
              <a:rect b="b" l="l" r="r" t="t"/>
              <a:pathLst>
                <a:path extrusionOk="0" h="120000" w="120000">
                  <a:moveTo>
                    <a:pt x="120000" y="0"/>
                  </a:moveTo>
                  <a:lnTo>
                    <a:pt x="120000" y="120000"/>
                  </a:lnTo>
                  <a:lnTo>
                    <a:pt x="0" y="120000"/>
                  </a:lnTo>
                </a:path>
              </a:pathLst>
            </a:custGeom>
            <a:solidFill>
              <a:srgbClr val="000000">
                <a:alpha val="0"/>
              </a:srgbClr>
            </a:solidFill>
            <a:ln cap="rnd" cmpd="sng" w="333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5" name="Google Shape;1165;p68"/>
            <p:cNvSpPr/>
            <p:nvPr/>
          </p:nvSpPr>
          <p:spPr>
            <a:xfrm>
              <a:off x="2286000" y="0"/>
              <a:ext cx="1905000" cy="285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6" name="Google Shape;1166;p68"/>
            <p:cNvSpPr/>
            <p:nvPr/>
          </p:nvSpPr>
          <p:spPr>
            <a:xfrm>
              <a:off x="2286000" y="2066925"/>
              <a:ext cx="1905000" cy="28500"/>
            </a:xfrm>
            <a:prstGeom prst="roundRect">
              <a:avLst>
                <a:gd fmla="val 50000" name="adj"/>
              </a:avLst>
            </a:prstGeom>
            <a:solidFill>
              <a:srgbClr val="FBBF2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67" name="Google Shape;1167;p68"/>
          <p:cNvSpPr txBox="1"/>
          <p:nvPr/>
        </p:nvSpPr>
        <p:spPr>
          <a:xfrm>
            <a:off x="1524000" y="1619250"/>
            <a:ext cx="6096000" cy="19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it" sz="4200">
                <a:solidFill>
                  <a:srgbClr val="F8F9FA"/>
                </a:solidFill>
                <a:latin typeface="Inter ExtraBold"/>
                <a:ea typeface="Inter ExtraBold"/>
                <a:cs typeface="Inter ExtraBold"/>
                <a:sym typeface="Inter ExtraBold"/>
              </a:rPr>
              <a:t>Thank You for Your Attention</a:t>
            </a:r>
            <a:endParaRPr i="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1" name="Shape 1171"/>
        <p:cNvGrpSpPr/>
        <p:nvPr/>
      </p:nvGrpSpPr>
      <p:grpSpPr>
        <a:xfrm>
          <a:off x="0" y="0"/>
          <a:ext cx="0" cy="0"/>
          <a:chOff x="0" y="0"/>
          <a:chExt cx="0" cy="0"/>
        </a:xfrm>
      </p:grpSpPr>
      <p:sp>
        <p:nvSpPr>
          <p:cNvPr id="1172" name="Google Shape;1172;p69"/>
          <p:cNvSpPr/>
          <p:nvPr/>
        </p:nvSpPr>
        <p:spPr>
          <a:xfrm>
            <a:off x="0" y="0"/>
            <a:ext cx="9144000" cy="5143500"/>
          </a:xfrm>
          <a:prstGeom prst="rect">
            <a:avLst/>
          </a:prstGeom>
          <a:solidFill>
            <a:srgbClr val="0B0D1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3" name="Google Shape;1173;p69"/>
          <p:cNvSpPr txBox="1"/>
          <p:nvPr/>
        </p:nvSpPr>
        <p:spPr>
          <a:xfrm>
            <a:off x="381000" y="238125"/>
            <a:ext cx="83820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it" sz="1800" u="none" strike="noStrike">
                <a:solidFill>
                  <a:srgbClr val="F8F9FA"/>
                </a:solidFill>
                <a:latin typeface="Inter SemiBold"/>
                <a:ea typeface="Inter SemiBold"/>
                <a:cs typeface="Inter SemiBold"/>
                <a:sym typeface="Inter SemiBold"/>
              </a:rPr>
              <a:t>Governing Equations &amp; Viscoelastic Formulation</a:t>
            </a:r>
            <a:endParaRPr b="0" i="0" sz="1800" u="none" strike="noStrike">
              <a:solidFill>
                <a:srgbClr val="F8F9FA"/>
              </a:solidFill>
              <a:latin typeface="Inter SemiBold"/>
              <a:ea typeface="Inter SemiBold"/>
              <a:cs typeface="Inter SemiBold"/>
              <a:sym typeface="Inter SemiBold"/>
            </a:endParaRPr>
          </a:p>
          <a:p>
            <a:pPr indent="0" lvl="0" marL="0" rtl="0" algn="l">
              <a:spcBef>
                <a:spcPts val="300"/>
              </a:spcBef>
              <a:spcAft>
                <a:spcPts val="300"/>
              </a:spcAft>
              <a:buNone/>
            </a:pPr>
            <a:r>
              <a:rPr b="0" i="0" lang="it" sz="1050" u="none" strike="noStrike">
                <a:solidFill>
                  <a:srgbClr val="94A3B8"/>
                </a:solidFill>
                <a:latin typeface="Inter"/>
                <a:ea typeface="Inter"/>
                <a:cs typeface="Inter"/>
                <a:sym typeface="Inter"/>
              </a:rPr>
              <a:t>Coupling mass conservation, Cauchy momentum balance, and constitutive stress tensor relations</a:t>
            </a:r>
            <a:endParaRPr b="0" i="0" sz="1050" u="none" strike="noStrike">
              <a:solidFill>
                <a:srgbClr val="F8F9FA"/>
              </a:solidFill>
              <a:latin typeface="Inter SemiBold"/>
              <a:ea typeface="Inter SemiBold"/>
              <a:cs typeface="Inter SemiBold"/>
              <a:sym typeface="Inter SemiBold"/>
            </a:endParaRPr>
          </a:p>
        </p:txBody>
      </p:sp>
      <p:cxnSp>
        <p:nvCxnSpPr>
          <p:cNvPr id="1174" name="Google Shape;1174;p69"/>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grpSp>
        <p:nvGrpSpPr>
          <p:cNvPr id="1175" name="Google Shape;1175;p69"/>
          <p:cNvGrpSpPr/>
          <p:nvPr/>
        </p:nvGrpSpPr>
        <p:grpSpPr>
          <a:xfrm>
            <a:off x="381000" y="1000125"/>
            <a:ext cx="8382000" cy="1571700"/>
            <a:chOff x="0" y="0"/>
            <a:chExt cx="8382000" cy="1571700"/>
          </a:xfrm>
        </p:grpSpPr>
        <p:sp>
          <p:nvSpPr>
            <p:cNvPr id="1176" name="Google Shape;1176;p69"/>
            <p:cNvSpPr/>
            <p:nvPr/>
          </p:nvSpPr>
          <p:spPr>
            <a:xfrm>
              <a:off x="0" y="0"/>
              <a:ext cx="8382000" cy="1571700"/>
            </a:xfrm>
            <a:prstGeom prst="roundRect">
              <a:avLst>
                <a:gd fmla="val 242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69"/>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8" name="Google Shape;1178;p69"/>
            <p:cNvSpPr/>
            <p:nvPr/>
          </p:nvSpPr>
          <p:spPr>
            <a:xfrm rot="10800000">
              <a:off x="8286600" y="1476225"/>
              <a:ext cx="95400" cy="954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79" name="Google Shape;1179;p69"/>
            <p:cNvCxnSpPr/>
            <p:nvPr/>
          </p:nvCxnSpPr>
          <p:spPr>
            <a:xfrm>
              <a:off x="0" y="34290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180" name="Google Shape;1180;p69"/>
            <p:cNvSpPr txBox="1"/>
            <p:nvPr/>
          </p:nvSpPr>
          <p:spPr>
            <a:xfrm>
              <a:off x="190500" y="95250"/>
              <a:ext cx="8001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3B82F6"/>
                  </a:solidFill>
                  <a:latin typeface="Inter Medium"/>
                  <a:ea typeface="Inter Medium"/>
                  <a:cs typeface="Inter Medium"/>
                  <a:sym typeface="Inter Medium"/>
                </a:rPr>
                <a:t>SYSTEM OF GOVERNING PARTIAL DIFFERENTIAL EQUATIONS</a:t>
              </a:r>
              <a:endParaRPr b="0" sz="675">
                <a:solidFill>
                  <a:srgbClr val="3B82F6"/>
                </a:solidFill>
                <a:latin typeface="Inter Medium"/>
                <a:ea typeface="Inter Medium"/>
                <a:cs typeface="Inter Medium"/>
                <a:sym typeface="Inter Medium"/>
              </a:endParaRPr>
            </a:p>
          </p:txBody>
        </p:sp>
        <p:grpSp>
          <p:nvGrpSpPr>
            <p:cNvPr id="1181" name="Google Shape;1181;p69"/>
            <p:cNvGrpSpPr/>
            <p:nvPr/>
          </p:nvGrpSpPr>
          <p:grpSpPr>
            <a:xfrm>
              <a:off x="190500" y="476250"/>
              <a:ext cx="2476500" cy="933600"/>
              <a:chOff x="0" y="0"/>
              <a:chExt cx="2476500" cy="933600"/>
            </a:xfrm>
          </p:grpSpPr>
          <p:sp>
            <p:nvSpPr>
              <p:cNvPr id="1182" name="Google Shape;1182;p69"/>
              <p:cNvSpPr/>
              <p:nvPr/>
            </p:nvSpPr>
            <p:spPr>
              <a:xfrm>
                <a:off x="0" y="0"/>
                <a:ext cx="2476500" cy="933600"/>
              </a:xfrm>
              <a:prstGeom prst="roundRect">
                <a:avLst>
                  <a:gd fmla="val 2040" name="adj"/>
                </a:avLst>
              </a:prstGeom>
              <a:solidFill>
                <a:srgbClr val="0B0D1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p69"/>
              <p:cNvSpPr txBox="1"/>
              <p:nvPr/>
            </p:nvSpPr>
            <p:spPr>
              <a:xfrm>
                <a:off x="142875" y="114300"/>
                <a:ext cx="2190900" cy="7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94A3B8"/>
                    </a:solidFill>
                    <a:latin typeface="Inter Medium"/>
                    <a:ea typeface="Inter Medium"/>
                    <a:cs typeface="Inter Medium"/>
                    <a:sym typeface="Inter Medium"/>
                  </a:rPr>
                  <a:t>Mass Conservation</a:t>
                </a:r>
                <a:endParaRPr b="0" sz="675">
                  <a:solidFill>
                    <a:srgbClr val="94A3B8"/>
                  </a:solidFill>
                  <a:latin typeface="Inter Medium"/>
                  <a:ea typeface="Inter Medium"/>
                  <a:cs typeface="Inter Medium"/>
                  <a:sym typeface="Inter Medium"/>
                </a:endParaRPr>
              </a:p>
              <a:p>
                <a:pPr indent="0" lvl="0" marL="0" rtl="0" algn="l">
                  <a:spcBef>
                    <a:spcPts val="450"/>
                  </a:spcBef>
                  <a:spcAft>
                    <a:spcPts val="0"/>
                  </a:spcAft>
                  <a:buNone/>
                </a:pPr>
                <a:r>
                  <a:rPr b="0" lang="it" sz="1050">
                    <a:solidFill>
                      <a:srgbClr val="F8F9FA"/>
                    </a:solidFill>
                    <a:latin typeface="Inter"/>
                    <a:ea typeface="Inter"/>
                    <a:cs typeface="Inter"/>
                    <a:sym typeface="Inter"/>
                  </a:rPr>
                  <a:t>∇ · u = 0</a:t>
                </a:r>
                <a:endParaRPr b="0" sz="1050">
                  <a:solidFill>
                    <a:srgbClr val="F8F9FA"/>
                  </a:solidFill>
                  <a:latin typeface="Inter"/>
                  <a:ea typeface="Inter"/>
                  <a:cs typeface="Inter"/>
                  <a:sym typeface="Inter"/>
                </a:endParaRPr>
              </a:p>
              <a:p>
                <a:pPr indent="0" lvl="0" marL="0" rtl="0" algn="l">
                  <a:spcBef>
                    <a:spcPts val="450"/>
                  </a:spcBef>
                  <a:spcAft>
                    <a:spcPts val="0"/>
                  </a:spcAft>
                  <a:buNone/>
                </a:pPr>
                <a:r>
                  <a:rPr b="0" lang="it" sz="750">
                    <a:solidFill>
                      <a:srgbClr val="94A3B8"/>
                    </a:solidFill>
                    <a:latin typeface="Inter Light"/>
                    <a:ea typeface="Inter Light"/>
                    <a:cs typeface="Inter Light"/>
                    <a:sym typeface="Inter Light"/>
                  </a:rPr>
                  <a:t>Incompressible flow condition</a:t>
                </a:r>
                <a:endParaRPr b="0" sz="750">
                  <a:solidFill>
                    <a:srgbClr val="94A3B8"/>
                  </a:solidFill>
                  <a:latin typeface="Inter Light"/>
                  <a:ea typeface="Inter Light"/>
                  <a:cs typeface="Inter Light"/>
                  <a:sym typeface="Inter Light"/>
                </a:endParaRPr>
              </a:p>
            </p:txBody>
          </p:sp>
        </p:grpSp>
        <p:grpSp>
          <p:nvGrpSpPr>
            <p:cNvPr id="1184" name="Google Shape;1184;p69"/>
            <p:cNvGrpSpPr/>
            <p:nvPr/>
          </p:nvGrpSpPr>
          <p:grpSpPr>
            <a:xfrm>
              <a:off x="2809875" y="476250"/>
              <a:ext cx="2762400" cy="933600"/>
              <a:chOff x="0" y="0"/>
              <a:chExt cx="2762400" cy="933600"/>
            </a:xfrm>
          </p:grpSpPr>
          <p:sp>
            <p:nvSpPr>
              <p:cNvPr id="1185" name="Google Shape;1185;p69"/>
              <p:cNvSpPr/>
              <p:nvPr/>
            </p:nvSpPr>
            <p:spPr>
              <a:xfrm>
                <a:off x="0" y="0"/>
                <a:ext cx="2762400" cy="933600"/>
              </a:xfrm>
              <a:prstGeom prst="roundRect">
                <a:avLst>
                  <a:gd fmla="val 2040" name="adj"/>
                </a:avLst>
              </a:prstGeom>
              <a:solidFill>
                <a:srgbClr val="0B0D1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69"/>
              <p:cNvSpPr txBox="1"/>
              <p:nvPr/>
            </p:nvSpPr>
            <p:spPr>
              <a:xfrm>
                <a:off x="142875" y="114300"/>
                <a:ext cx="2476500" cy="7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94A3B8"/>
                    </a:solidFill>
                    <a:latin typeface="Inter Medium"/>
                    <a:ea typeface="Inter Medium"/>
                    <a:cs typeface="Inter Medium"/>
                    <a:sym typeface="Inter Medium"/>
                  </a:rPr>
                  <a:t>Cauchy Momentum Balance</a:t>
                </a:r>
                <a:endParaRPr b="0" sz="675">
                  <a:solidFill>
                    <a:srgbClr val="94A3B8"/>
                  </a:solidFill>
                  <a:latin typeface="Inter Medium"/>
                  <a:ea typeface="Inter Medium"/>
                  <a:cs typeface="Inter Medium"/>
                  <a:sym typeface="Inter Medium"/>
                </a:endParaRPr>
              </a:p>
              <a:p>
                <a:pPr indent="0" lvl="0" marL="0" rtl="0" algn="l">
                  <a:spcBef>
                    <a:spcPts val="450"/>
                  </a:spcBef>
                  <a:spcAft>
                    <a:spcPts val="0"/>
                  </a:spcAft>
                  <a:buNone/>
                </a:pPr>
                <a:r>
                  <a:rPr b="0" lang="it" sz="1050">
                    <a:solidFill>
                      <a:srgbClr val="F8F9FA"/>
                    </a:solidFill>
                    <a:latin typeface="Inter"/>
                    <a:ea typeface="Inter"/>
                    <a:cs typeface="Inter"/>
                    <a:sym typeface="Inter"/>
                  </a:rPr>
                  <a:t>ρ(u · ∇)u = -∇p + ∇ · τ</a:t>
                </a:r>
                <a:endParaRPr b="0" sz="1050">
                  <a:solidFill>
                    <a:srgbClr val="F8F9FA"/>
                  </a:solidFill>
                  <a:latin typeface="Inter"/>
                  <a:ea typeface="Inter"/>
                  <a:cs typeface="Inter"/>
                  <a:sym typeface="Inter"/>
                </a:endParaRPr>
              </a:p>
              <a:p>
                <a:pPr indent="0" lvl="0" marL="0" rtl="0" algn="l">
                  <a:spcBef>
                    <a:spcPts val="450"/>
                  </a:spcBef>
                  <a:spcAft>
                    <a:spcPts val="0"/>
                  </a:spcAft>
                  <a:buNone/>
                </a:pPr>
                <a:r>
                  <a:rPr b="0" lang="it" sz="750">
                    <a:solidFill>
                      <a:srgbClr val="94A3B8"/>
                    </a:solidFill>
                    <a:latin typeface="Inter Light"/>
                    <a:ea typeface="Inter Light"/>
                    <a:cs typeface="Inter Light"/>
                    <a:sym typeface="Inter Light"/>
                  </a:rPr>
                  <a:t>Steady-state momentum transport</a:t>
                </a:r>
                <a:endParaRPr b="0" sz="750">
                  <a:solidFill>
                    <a:srgbClr val="94A3B8"/>
                  </a:solidFill>
                  <a:latin typeface="Inter Light"/>
                  <a:ea typeface="Inter Light"/>
                  <a:cs typeface="Inter Light"/>
                  <a:sym typeface="Inter Light"/>
                </a:endParaRPr>
              </a:p>
            </p:txBody>
          </p:sp>
        </p:grpSp>
        <p:grpSp>
          <p:nvGrpSpPr>
            <p:cNvPr id="1187" name="Google Shape;1187;p69"/>
            <p:cNvGrpSpPr/>
            <p:nvPr/>
          </p:nvGrpSpPr>
          <p:grpSpPr>
            <a:xfrm>
              <a:off x="5715000" y="476250"/>
              <a:ext cx="2476500" cy="933600"/>
              <a:chOff x="0" y="0"/>
              <a:chExt cx="2476500" cy="933600"/>
            </a:xfrm>
          </p:grpSpPr>
          <p:sp>
            <p:nvSpPr>
              <p:cNvPr id="1188" name="Google Shape;1188;p69"/>
              <p:cNvSpPr/>
              <p:nvPr/>
            </p:nvSpPr>
            <p:spPr>
              <a:xfrm>
                <a:off x="0" y="0"/>
                <a:ext cx="2476500" cy="933600"/>
              </a:xfrm>
              <a:prstGeom prst="roundRect">
                <a:avLst>
                  <a:gd fmla="val 2040" name="adj"/>
                </a:avLst>
              </a:prstGeom>
              <a:solidFill>
                <a:srgbClr val="0B0D1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9" name="Google Shape;1189;p69"/>
              <p:cNvSpPr txBox="1"/>
              <p:nvPr/>
            </p:nvSpPr>
            <p:spPr>
              <a:xfrm>
                <a:off x="142875" y="114300"/>
                <a:ext cx="2190900" cy="7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94A3B8"/>
                    </a:solidFill>
                    <a:latin typeface="Inter Medium"/>
                    <a:ea typeface="Inter Medium"/>
                    <a:cs typeface="Inter Medium"/>
                    <a:sym typeface="Inter Medium"/>
                  </a:rPr>
                  <a:t>Constitutive Relation</a:t>
                </a:r>
                <a:endParaRPr b="0" sz="675">
                  <a:solidFill>
                    <a:srgbClr val="94A3B8"/>
                  </a:solidFill>
                  <a:latin typeface="Inter Medium"/>
                  <a:ea typeface="Inter Medium"/>
                  <a:cs typeface="Inter Medium"/>
                  <a:sym typeface="Inter Medium"/>
                </a:endParaRPr>
              </a:p>
              <a:p>
                <a:pPr indent="0" lvl="0" marL="0" rtl="0" algn="l">
                  <a:spcBef>
                    <a:spcPts val="450"/>
                  </a:spcBef>
                  <a:spcAft>
                    <a:spcPts val="0"/>
                  </a:spcAft>
                  <a:buNone/>
                </a:pPr>
                <a:r>
                  <a:rPr b="0" lang="it" sz="1050">
                    <a:solidFill>
                      <a:srgbClr val="F8F9FA"/>
                    </a:solidFill>
                    <a:latin typeface="Inter"/>
                    <a:ea typeface="Inter"/>
                    <a:cs typeface="Inter"/>
                    <a:sym typeface="Inter"/>
                  </a:rPr>
                  <a:t>τ = τs + τp</a:t>
                </a:r>
                <a:endParaRPr b="0" sz="1050">
                  <a:solidFill>
                    <a:srgbClr val="F8F9FA"/>
                  </a:solidFill>
                  <a:latin typeface="Inter"/>
                  <a:ea typeface="Inter"/>
                  <a:cs typeface="Inter"/>
                  <a:sym typeface="Inter"/>
                </a:endParaRPr>
              </a:p>
              <a:p>
                <a:pPr indent="0" lvl="0" marL="0" rtl="0" algn="l">
                  <a:spcBef>
                    <a:spcPts val="450"/>
                  </a:spcBef>
                  <a:spcAft>
                    <a:spcPts val="0"/>
                  </a:spcAft>
                  <a:buNone/>
                </a:pPr>
                <a:r>
                  <a:rPr b="0" lang="it" sz="750">
                    <a:solidFill>
                      <a:srgbClr val="94A3B8"/>
                    </a:solidFill>
                    <a:latin typeface="Inter Light"/>
                    <a:ea typeface="Inter Light"/>
                    <a:cs typeface="Inter Light"/>
                    <a:sym typeface="Inter Light"/>
                  </a:rPr>
                  <a:t>Solvent &amp; polymer stress split</a:t>
                </a:r>
                <a:endParaRPr b="0" sz="750">
                  <a:solidFill>
                    <a:srgbClr val="94A3B8"/>
                  </a:solidFill>
                  <a:latin typeface="Inter Light"/>
                  <a:ea typeface="Inter Light"/>
                  <a:cs typeface="Inter Light"/>
                  <a:sym typeface="Inter Light"/>
                </a:endParaRPr>
              </a:p>
            </p:txBody>
          </p:sp>
        </p:grpSp>
      </p:grpSp>
      <p:grpSp>
        <p:nvGrpSpPr>
          <p:cNvPr id="1190" name="Google Shape;1190;p69"/>
          <p:cNvGrpSpPr/>
          <p:nvPr/>
        </p:nvGrpSpPr>
        <p:grpSpPr>
          <a:xfrm>
            <a:off x="381000" y="2762250"/>
            <a:ext cx="4095900" cy="2000100"/>
            <a:chOff x="0" y="0"/>
            <a:chExt cx="4095900" cy="2000100"/>
          </a:xfrm>
        </p:grpSpPr>
        <p:sp>
          <p:nvSpPr>
            <p:cNvPr id="1191" name="Google Shape;1191;p69"/>
            <p:cNvSpPr/>
            <p:nvPr/>
          </p:nvSpPr>
          <p:spPr>
            <a:xfrm>
              <a:off x="0" y="0"/>
              <a:ext cx="4095900" cy="2000100"/>
            </a:xfrm>
            <a:prstGeom prst="roundRect">
              <a:avLst>
                <a:gd fmla="val 190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92" name="Google Shape;1192;p69"/>
            <p:cNvCxnSpPr/>
            <p:nvPr/>
          </p:nvCxnSpPr>
          <p:spPr>
            <a:xfrm>
              <a:off x="0" y="342900"/>
              <a:ext cx="40959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193" name="Google Shape;1193;p69"/>
            <p:cNvSpPr txBox="1"/>
            <p:nvPr/>
          </p:nvSpPr>
          <p:spPr>
            <a:xfrm>
              <a:off x="190500" y="95250"/>
              <a:ext cx="3714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3B82F6"/>
                  </a:solidFill>
                  <a:latin typeface="Inter Medium"/>
                  <a:ea typeface="Inter Medium"/>
                  <a:cs typeface="Inter Medium"/>
                  <a:sym typeface="Inter Medium"/>
                </a:rPr>
                <a:t>DIMENSIONLESS PARAMETERS &amp; REGIMES</a:t>
              </a:r>
              <a:endParaRPr b="0" sz="675">
                <a:solidFill>
                  <a:srgbClr val="3B82F6"/>
                </a:solidFill>
                <a:latin typeface="Inter Medium"/>
                <a:ea typeface="Inter Medium"/>
                <a:cs typeface="Inter Medium"/>
                <a:sym typeface="Inter Medium"/>
              </a:endParaRPr>
            </a:p>
          </p:txBody>
        </p:sp>
        <p:sp>
          <p:nvSpPr>
            <p:cNvPr id="1194" name="Google Shape;1194;p69"/>
            <p:cNvSpPr txBox="1"/>
            <p:nvPr/>
          </p:nvSpPr>
          <p:spPr>
            <a:xfrm>
              <a:off x="190500" y="476250"/>
              <a:ext cx="37149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975">
                  <a:solidFill>
                    <a:srgbClr val="3B82F6"/>
                  </a:solidFill>
                  <a:latin typeface="Inter SemiBold"/>
                  <a:ea typeface="Inter SemiBold"/>
                  <a:cs typeface="Inter SemiBold"/>
                  <a:sym typeface="Inter SemiBold"/>
                </a:rPr>
                <a:t>Re </a:t>
              </a:r>
              <a:r>
                <a:rPr b="0" lang="it" sz="900">
                  <a:solidFill>
                    <a:srgbClr val="94A3B8"/>
                  </a:solidFill>
                  <a:latin typeface="Inter Medium"/>
                  <a:ea typeface="Inter Medium"/>
                  <a:cs typeface="Inter Medium"/>
                  <a:sym typeface="Inter Medium"/>
                </a:rPr>
                <a:t>— Reynolds Number</a:t>
              </a:r>
              <a:endParaRPr b="0" sz="975">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it" sz="825">
                  <a:solidFill>
                    <a:srgbClr val="94A3B8"/>
                  </a:solidFill>
                  <a:latin typeface="Inter Light"/>
                  <a:ea typeface="Inter Light"/>
                  <a:cs typeface="Inter Light"/>
                  <a:sym typeface="Inter Light"/>
                </a:rPr>
                <a:t>Characterizes the ratio of inertial forces to viscous forces within the fluid domain, governing flow stability.</a:t>
              </a:r>
              <a:endParaRPr b="0" sz="825">
                <a:solidFill>
                  <a:srgbClr val="94A3B8"/>
                </a:solidFill>
                <a:latin typeface="Inter Light"/>
                <a:ea typeface="Inter Light"/>
                <a:cs typeface="Inter Light"/>
                <a:sym typeface="Inter Light"/>
              </a:endParaRPr>
            </a:p>
            <a:p>
              <a:pPr indent="0" lvl="0" marL="0" rtl="0" algn="l">
                <a:spcBef>
                  <a:spcPts val="1200"/>
                </a:spcBef>
                <a:spcAft>
                  <a:spcPts val="0"/>
                </a:spcAft>
                <a:buNone/>
              </a:pPr>
              <a:r>
                <a:rPr b="0" lang="it" sz="975">
                  <a:solidFill>
                    <a:srgbClr val="3B82F6"/>
                  </a:solidFill>
                  <a:latin typeface="Inter SemiBold"/>
                  <a:ea typeface="Inter SemiBold"/>
                  <a:cs typeface="Inter SemiBold"/>
                  <a:sym typeface="Inter SemiBold"/>
                </a:rPr>
                <a:t>Wi </a:t>
              </a:r>
              <a:r>
                <a:rPr b="0" lang="it" sz="900">
                  <a:solidFill>
                    <a:srgbClr val="94A3B8"/>
                  </a:solidFill>
                  <a:latin typeface="Inter Medium"/>
                  <a:ea typeface="Inter Medium"/>
                  <a:cs typeface="Inter Medium"/>
                  <a:sym typeface="Inter Medium"/>
                </a:rPr>
                <a:t>— Weissenberg Number</a:t>
              </a:r>
              <a:endParaRPr b="0" sz="975">
                <a:solidFill>
                  <a:srgbClr val="3B82F6"/>
                </a:solidFill>
                <a:latin typeface="Inter SemiBold"/>
                <a:ea typeface="Inter SemiBold"/>
                <a:cs typeface="Inter SemiBold"/>
                <a:sym typeface="Inter SemiBold"/>
              </a:endParaRPr>
            </a:p>
            <a:p>
              <a:pPr indent="0" lvl="0" marL="0" rtl="0" algn="l">
                <a:spcBef>
                  <a:spcPts val="300"/>
                </a:spcBef>
                <a:spcAft>
                  <a:spcPts val="0"/>
                </a:spcAft>
                <a:buNone/>
              </a:pPr>
              <a:r>
                <a:rPr b="0" lang="it" sz="825">
                  <a:solidFill>
                    <a:srgbClr val="94A3B8"/>
                  </a:solidFill>
                  <a:latin typeface="Inter Light"/>
                  <a:ea typeface="Inter Light"/>
                  <a:cs typeface="Inter Light"/>
                  <a:sym typeface="Inter Light"/>
                </a:rPr>
                <a:t>Quantifies fluid elasticity and polymer relaxation time relative to the characteristic rate of flow deformation.</a:t>
              </a:r>
              <a:endParaRPr b="0" sz="825">
                <a:solidFill>
                  <a:srgbClr val="94A3B8"/>
                </a:solidFill>
                <a:latin typeface="Inter Light"/>
                <a:ea typeface="Inter Light"/>
                <a:cs typeface="Inter Light"/>
                <a:sym typeface="Inter Light"/>
              </a:endParaRPr>
            </a:p>
          </p:txBody>
        </p:sp>
      </p:grpSp>
      <p:grpSp>
        <p:nvGrpSpPr>
          <p:cNvPr id="1195" name="Google Shape;1195;p69"/>
          <p:cNvGrpSpPr/>
          <p:nvPr/>
        </p:nvGrpSpPr>
        <p:grpSpPr>
          <a:xfrm>
            <a:off x="4667250" y="2762250"/>
            <a:ext cx="4095900" cy="2000100"/>
            <a:chOff x="0" y="0"/>
            <a:chExt cx="4095900" cy="2000100"/>
          </a:xfrm>
        </p:grpSpPr>
        <p:sp>
          <p:nvSpPr>
            <p:cNvPr id="1196" name="Google Shape;1196;p69"/>
            <p:cNvSpPr/>
            <p:nvPr/>
          </p:nvSpPr>
          <p:spPr>
            <a:xfrm>
              <a:off x="0" y="0"/>
              <a:ext cx="4095900" cy="2000100"/>
            </a:xfrm>
            <a:prstGeom prst="roundRect">
              <a:avLst>
                <a:gd fmla="val 1904"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97" name="Google Shape;1197;p69"/>
            <p:cNvCxnSpPr/>
            <p:nvPr/>
          </p:nvCxnSpPr>
          <p:spPr>
            <a:xfrm>
              <a:off x="0" y="342900"/>
              <a:ext cx="40959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198" name="Google Shape;1198;p69"/>
            <p:cNvSpPr txBox="1"/>
            <p:nvPr/>
          </p:nvSpPr>
          <p:spPr>
            <a:xfrm>
              <a:off x="190500" y="95250"/>
              <a:ext cx="3714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3B82F6"/>
                  </a:solidFill>
                  <a:latin typeface="Inter Medium"/>
                  <a:ea typeface="Inter Medium"/>
                  <a:cs typeface="Inter Medium"/>
                  <a:sym typeface="Inter Medium"/>
                </a:rPr>
                <a:t>PHYSICAL DOMAIN &amp; RHEOLOGICAL MODEL</a:t>
              </a:r>
              <a:endParaRPr b="0" sz="675">
                <a:solidFill>
                  <a:srgbClr val="3B82F6"/>
                </a:solidFill>
                <a:latin typeface="Inter Medium"/>
                <a:ea typeface="Inter Medium"/>
                <a:cs typeface="Inter Medium"/>
                <a:sym typeface="Inter Medium"/>
              </a:endParaRPr>
            </a:p>
          </p:txBody>
        </p:sp>
        <p:sp>
          <p:nvSpPr>
            <p:cNvPr id="1199" name="Google Shape;1199;p69"/>
            <p:cNvSpPr txBox="1"/>
            <p:nvPr/>
          </p:nvSpPr>
          <p:spPr>
            <a:xfrm>
              <a:off x="190500" y="476250"/>
              <a:ext cx="37149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900">
                  <a:solidFill>
                    <a:srgbClr val="10B981"/>
                  </a:solidFill>
                  <a:latin typeface="Inter Medium"/>
                  <a:ea typeface="Inter Medium"/>
                  <a:cs typeface="Inter Medium"/>
                  <a:sym typeface="Inter Medium"/>
                </a:rPr>
                <a:t>Flow Specification: </a:t>
              </a:r>
              <a:r>
                <a:rPr b="0" lang="it" sz="900">
                  <a:solidFill>
                    <a:srgbClr val="F8F9FA"/>
                  </a:solidFill>
                  <a:latin typeface="Inter Light"/>
                  <a:ea typeface="Inter Light"/>
                  <a:cs typeface="Inter Light"/>
                  <a:sym typeface="Inter Light"/>
                </a:rPr>
                <a:t>The physical domain models steady-state, incompressible viscoelastic flow under isothermal conditions.</a:t>
              </a:r>
              <a:endParaRPr b="0" sz="900">
                <a:solidFill>
                  <a:srgbClr val="10B981"/>
                </a:solidFill>
                <a:latin typeface="Inter Medium"/>
                <a:ea typeface="Inter Medium"/>
                <a:cs typeface="Inter Medium"/>
                <a:sym typeface="Inter Medium"/>
              </a:endParaRPr>
            </a:p>
            <a:p>
              <a:pPr indent="0" lvl="0" marL="0" rtl="0" algn="l">
                <a:spcBef>
                  <a:spcPts val="900"/>
                </a:spcBef>
                <a:spcAft>
                  <a:spcPts val="0"/>
                </a:spcAft>
                <a:buNone/>
              </a:pPr>
              <a:r>
                <a:rPr b="0" lang="it" sz="900">
                  <a:solidFill>
                    <a:srgbClr val="10B981"/>
                  </a:solidFill>
                  <a:latin typeface="Inter Medium"/>
                  <a:ea typeface="Inter Medium"/>
                  <a:cs typeface="Inter Medium"/>
                  <a:sym typeface="Inter Medium"/>
                </a:rPr>
                <a:t>Stress Response: </a:t>
              </a:r>
              <a:r>
                <a:rPr b="0" lang="it" sz="900">
                  <a:solidFill>
                    <a:srgbClr val="F8F9FA"/>
                  </a:solidFill>
                  <a:latin typeface="Inter Light"/>
                  <a:ea typeface="Inter Light"/>
                  <a:cs typeface="Inter Light"/>
                  <a:sym typeface="Inter Light"/>
                </a:rPr>
                <a:t>Defined by a viscoelastic constitutive model partitioning the total stress tensor into Newtonian solvent and elastic polymer contributions.</a:t>
              </a:r>
              <a:endParaRPr b="0" sz="900">
                <a:solidFill>
                  <a:srgbClr val="10B981"/>
                </a:solidFill>
                <a:latin typeface="Inter Medium"/>
                <a:ea typeface="Inter Medium"/>
                <a:cs typeface="Inter Medium"/>
                <a:sym typeface="Inter Medium"/>
              </a:endParaRPr>
            </a:p>
            <a:p>
              <a:pPr indent="0" lvl="0" marL="0" rtl="0" algn="l">
                <a:spcBef>
                  <a:spcPts val="900"/>
                </a:spcBef>
                <a:spcAft>
                  <a:spcPts val="0"/>
                </a:spcAft>
                <a:buNone/>
              </a:pPr>
              <a:r>
                <a:rPr b="0" lang="it" sz="900">
                  <a:solidFill>
                    <a:srgbClr val="10B981"/>
                  </a:solidFill>
                  <a:latin typeface="Inter Medium"/>
                  <a:ea typeface="Inter Medium"/>
                  <a:cs typeface="Inter Medium"/>
                  <a:sym typeface="Inter Medium"/>
                </a:rPr>
                <a:t>System Coupling: </a:t>
              </a:r>
              <a:r>
                <a:rPr b="0" lang="it" sz="900">
                  <a:solidFill>
                    <a:srgbClr val="F8F9FA"/>
                  </a:solidFill>
                  <a:latin typeface="Inter Light"/>
                  <a:ea typeface="Inter Light"/>
                  <a:cs typeface="Inter Light"/>
                  <a:sym typeface="Inter Light"/>
                </a:rPr>
                <a:t>Momentum balance and non-linear constitutive equations dictate the final flow behavior across the domain.</a:t>
              </a:r>
              <a:endParaRPr b="0" sz="900">
                <a:solidFill>
                  <a:srgbClr val="10B981"/>
                </a:solidFill>
                <a:latin typeface="Inter Medium"/>
                <a:ea typeface="Inter Medium"/>
                <a:cs typeface="Inter Medium"/>
                <a:sym typeface="Inter Medium"/>
              </a:endParaRPr>
            </a:p>
          </p:txBody>
        </p:sp>
      </p:grpSp>
      <p:sp>
        <p:nvSpPr>
          <p:cNvPr id="1200" name="Google Shape;1200;p6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B0D10"/>
        </a:solidFill>
      </p:bgPr>
    </p:bg>
    <p:spTree>
      <p:nvGrpSpPr>
        <p:cNvPr id="1204" name="Shape 1204"/>
        <p:cNvGrpSpPr/>
        <p:nvPr/>
      </p:nvGrpSpPr>
      <p:grpSpPr>
        <a:xfrm>
          <a:off x="0" y="0"/>
          <a:ext cx="0" cy="0"/>
          <a:chOff x="0" y="0"/>
          <a:chExt cx="0" cy="0"/>
        </a:xfrm>
      </p:grpSpPr>
      <p:cxnSp>
        <p:nvCxnSpPr>
          <p:cNvPr id="1205" name="Google Shape;1205;p70"/>
          <p:cNvCxnSpPr/>
          <p:nvPr/>
        </p:nvCxnSpPr>
        <p:spPr>
          <a:xfrm>
            <a:off x="381000" y="857250"/>
            <a:ext cx="8382000" cy="0"/>
          </a:xfrm>
          <a:prstGeom prst="straightConnector1">
            <a:avLst/>
          </a:prstGeom>
          <a:solidFill>
            <a:srgbClr val="FFFFFF"/>
          </a:solidFill>
          <a:ln cap="flat" cmpd="sng" w="9525">
            <a:solidFill>
              <a:srgbClr val="272D35"/>
            </a:solidFill>
            <a:prstDash val="solid"/>
            <a:round/>
            <a:headEnd len="sm" w="sm" type="none"/>
            <a:tailEnd len="sm" w="sm" type="none"/>
          </a:ln>
        </p:spPr>
      </p:cxnSp>
      <p:sp>
        <p:nvSpPr>
          <p:cNvPr id="1206" name="Google Shape;1206;p70"/>
          <p:cNvSpPr txBox="1"/>
          <p:nvPr/>
        </p:nvSpPr>
        <p:spPr>
          <a:xfrm>
            <a:off x="381000" y="238125"/>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3B82F6"/>
                </a:solidFill>
                <a:latin typeface="Inter Medium"/>
                <a:ea typeface="Inter Medium"/>
                <a:cs typeface="Inter Medium"/>
                <a:sym typeface="Inter Medium"/>
              </a:rPr>
              <a:t>High-Elasticity Flow Modeling</a:t>
            </a:r>
            <a:endParaRPr b="0" sz="675">
              <a:solidFill>
                <a:srgbClr val="3B82F6"/>
              </a:solidFill>
              <a:latin typeface="Inter Medium"/>
              <a:ea typeface="Inter Medium"/>
              <a:cs typeface="Inter Medium"/>
              <a:sym typeface="Inter Medium"/>
            </a:endParaRPr>
          </a:p>
          <a:p>
            <a:pPr indent="0" lvl="0" marL="0" rtl="0" algn="l">
              <a:spcBef>
                <a:spcPts val="300"/>
              </a:spcBef>
              <a:spcAft>
                <a:spcPts val="300"/>
              </a:spcAft>
              <a:buNone/>
            </a:pPr>
            <a:r>
              <a:rPr b="0" lang="it" sz="1800">
                <a:solidFill>
                  <a:srgbClr val="F8F9FA"/>
                </a:solidFill>
                <a:latin typeface="Inter SemiBold"/>
                <a:ea typeface="Inter SemiBold"/>
                <a:cs typeface="Inter SemiBold"/>
                <a:sym typeface="Inter SemiBold"/>
              </a:rPr>
              <a:t>High Weissenberg Number Problem Mitigation</a:t>
            </a:r>
            <a:endParaRPr b="0" sz="1800">
              <a:solidFill>
                <a:srgbClr val="F8F9FA"/>
              </a:solidFill>
              <a:latin typeface="Inter SemiBold"/>
              <a:ea typeface="Inter SemiBold"/>
              <a:cs typeface="Inter SemiBold"/>
              <a:sym typeface="Inter SemiBold"/>
            </a:endParaRPr>
          </a:p>
        </p:txBody>
      </p:sp>
      <p:grpSp>
        <p:nvGrpSpPr>
          <p:cNvPr id="1207" name="Google Shape;1207;p70"/>
          <p:cNvGrpSpPr/>
          <p:nvPr/>
        </p:nvGrpSpPr>
        <p:grpSpPr>
          <a:xfrm>
            <a:off x="381000" y="1047750"/>
            <a:ext cx="4048200" cy="3714900"/>
            <a:chOff x="0" y="0"/>
            <a:chExt cx="4048200" cy="3714900"/>
          </a:xfrm>
        </p:grpSpPr>
        <p:sp>
          <p:nvSpPr>
            <p:cNvPr id="1208" name="Google Shape;1208;p70"/>
            <p:cNvSpPr/>
            <p:nvPr/>
          </p:nvSpPr>
          <p:spPr>
            <a:xfrm>
              <a:off x="0" y="0"/>
              <a:ext cx="4048200" cy="3714900"/>
            </a:xfrm>
            <a:prstGeom prst="roundRect">
              <a:avLst>
                <a:gd fmla="val 102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9" name="Google Shape;1209;p70"/>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10" name="Google Shape;1210;p70"/>
            <p:cNvPicPr preferRelativeResize="0"/>
            <p:nvPr/>
          </p:nvPicPr>
          <p:blipFill rotWithShape="1">
            <a:blip r:embed="rId3">
              <a:alphaModFix/>
            </a:blip>
            <a:srcRect b="0" l="0" r="0" t="0"/>
            <a:stretch/>
          </p:blipFill>
          <p:spPr>
            <a:xfrm>
              <a:off x="119063" y="142875"/>
              <a:ext cx="3810000" cy="2857500"/>
            </a:xfrm>
            <a:prstGeom prst="rect">
              <a:avLst/>
            </a:prstGeom>
            <a:noFill/>
            <a:ln>
              <a:noFill/>
            </a:ln>
          </p:spPr>
        </p:pic>
        <p:sp>
          <p:nvSpPr>
            <p:cNvPr id="1211" name="Google Shape;1211;p70"/>
            <p:cNvSpPr txBox="1"/>
            <p:nvPr/>
          </p:nvSpPr>
          <p:spPr>
            <a:xfrm>
              <a:off x="119063" y="3095625"/>
              <a:ext cx="3810000" cy="476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it" sz="675">
                  <a:solidFill>
                    <a:srgbClr val="94A3B8"/>
                  </a:solidFill>
                  <a:latin typeface="Inter Medium"/>
                  <a:ea typeface="Inter Medium"/>
                  <a:cs typeface="Inter Medium"/>
                  <a:sym typeface="Inter Medium"/>
                </a:rPr>
                <a:t>Quantitative Benchmark: L2 Error vs. Weissenberg Number (Wi)</a:t>
              </a:r>
              <a:endParaRPr b="0" sz="675">
                <a:solidFill>
                  <a:srgbClr val="94A3B8"/>
                </a:solidFill>
                <a:latin typeface="Inter Medium"/>
                <a:ea typeface="Inter Medium"/>
                <a:cs typeface="Inter Medium"/>
                <a:sym typeface="Inter Medium"/>
              </a:endParaRPr>
            </a:p>
            <a:p>
              <a:pPr indent="0" lvl="0" marL="0" rtl="0" algn="ctr">
                <a:spcBef>
                  <a:spcPts val="300"/>
                </a:spcBef>
                <a:spcAft>
                  <a:spcPts val="600"/>
                </a:spcAft>
                <a:buNone/>
              </a:pPr>
              <a:r>
                <a:rPr b="0" lang="it" sz="750">
                  <a:solidFill>
                    <a:srgbClr val="94A3B8"/>
                  </a:solidFill>
                  <a:latin typeface="Inter Light"/>
                  <a:ea typeface="Inter Light"/>
                  <a:cs typeface="Inter Light"/>
                  <a:sym typeface="Inter Light"/>
                </a:rPr>
                <a:t>Comparative breakdown highlighting CFD failure thresholds against mesh-free PINN stability.</a:t>
              </a:r>
              <a:endParaRPr b="0" sz="750">
                <a:solidFill>
                  <a:srgbClr val="94A3B8"/>
                </a:solidFill>
                <a:latin typeface="Inter Light"/>
                <a:ea typeface="Inter Light"/>
                <a:cs typeface="Inter Light"/>
                <a:sym typeface="Inter Light"/>
              </a:endParaRPr>
            </a:p>
          </p:txBody>
        </p:sp>
      </p:grpSp>
      <p:grpSp>
        <p:nvGrpSpPr>
          <p:cNvPr id="1212" name="Google Shape;1212;p70"/>
          <p:cNvGrpSpPr/>
          <p:nvPr/>
        </p:nvGrpSpPr>
        <p:grpSpPr>
          <a:xfrm>
            <a:off x="4714875" y="1047750"/>
            <a:ext cx="4048200" cy="1762200"/>
            <a:chOff x="0" y="0"/>
            <a:chExt cx="4048200" cy="1762200"/>
          </a:xfrm>
        </p:grpSpPr>
        <p:sp>
          <p:nvSpPr>
            <p:cNvPr id="1213" name="Google Shape;1213;p70"/>
            <p:cNvSpPr/>
            <p:nvPr/>
          </p:nvSpPr>
          <p:spPr>
            <a:xfrm>
              <a:off x="0" y="0"/>
              <a:ext cx="4048200" cy="1762200"/>
            </a:xfrm>
            <a:prstGeom prst="roundRect">
              <a:avLst>
                <a:gd fmla="val 216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4" name="Google Shape;1214;p70"/>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5" name="Google Shape;1215;p70"/>
            <p:cNvSpPr txBox="1"/>
            <p:nvPr/>
          </p:nvSpPr>
          <p:spPr>
            <a:xfrm>
              <a:off x="190500" y="171450"/>
              <a:ext cx="36672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675">
                  <a:solidFill>
                    <a:srgbClr val="3B82F6"/>
                  </a:solidFill>
                  <a:latin typeface="Inter Medium"/>
                  <a:ea typeface="Inter Medium"/>
                  <a:cs typeface="Inter Medium"/>
                  <a:sym typeface="Inter Medium"/>
                </a:rPr>
                <a:t>Regime Stability &amp; Computational Overhead</a:t>
              </a:r>
              <a:endParaRPr b="0" sz="675">
                <a:solidFill>
                  <a:srgbClr val="3B82F6"/>
                </a:solidFill>
                <a:latin typeface="Inter Medium"/>
                <a:ea typeface="Inter Medium"/>
                <a:cs typeface="Inter Medium"/>
                <a:sym typeface="Inter Medium"/>
              </a:endParaRPr>
            </a:p>
            <a:p>
              <a:pPr indent="0" lvl="0" marL="0" rtl="0" algn="l">
                <a:spcBef>
                  <a:spcPts val="600"/>
                </a:spcBef>
                <a:spcAft>
                  <a:spcPts val="0"/>
                </a:spcAft>
                <a:buNone/>
              </a:pPr>
              <a:r>
                <a:rPr b="0" lang="it" sz="1100">
                  <a:solidFill>
                    <a:srgbClr val="F8F9FA"/>
                  </a:solidFill>
                  <a:latin typeface="Inter SemiBold"/>
                  <a:ea typeface="Inter SemiBold"/>
                  <a:cs typeface="Inter SemiBold"/>
                  <a:sym typeface="Inter SemiBold"/>
                </a:rPr>
                <a:t>Bypassing Numerical Breakdown</a:t>
              </a:r>
              <a:endParaRPr b="0" sz="1100">
                <a:solidFill>
                  <a:srgbClr val="F8F9FA"/>
                </a:solidFill>
                <a:latin typeface="Inter SemiBold"/>
                <a:ea typeface="Inter SemiBold"/>
                <a:cs typeface="Inter SemiBold"/>
                <a:sym typeface="Inter SemiBold"/>
              </a:endParaRPr>
            </a:p>
            <a:p>
              <a:pPr indent="0" lvl="0" marL="0" rtl="0" algn="l">
                <a:spcBef>
                  <a:spcPts val="800"/>
                </a:spcBef>
                <a:spcAft>
                  <a:spcPts val="0"/>
                </a:spcAft>
                <a:buNone/>
              </a:pPr>
              <a:r>
                <a:rPr b="0" lang="it" sz="825">
                  <a:solidFill>
                    <a:srgbClr val="F8F9FA"/>
                  </a:solidFill>
                  <a:latin typeface="Inter Light"/>
                  <a:ea typeface="Inter Light"/>
                  <a:cs typeface="Inter Light"/>
                  <a:sym typeface="Inter Light"/>
                </a:rPr>
                <a:t>The physics-informed framework demonstrates robust performance in complex regimes, effectively bypassing the High Weissenberg Number Problem.</a:t>
              </a:r>
              <a:endParaRPr b="0" sz="825">
                <a:solidFill>
                  <a:srgbClr val="F8F9FA"/>
                </a:solidFill>
                <a:latin typeface="Inter Light"/>
                <a:ea typeface="Inter Light"/>
                <a:cs typeface="Inter Light"/>
                <a:sym typeface="Inter Light"/>
              </a:endParaRPr>
            </a:p>
            <a:p>
              <a:pPr indent="0" lvl="0" marL="0" rtl="0" algn="l">
                <a:spcBef>
                  <a:spcPts val="600"/>
                </a:spcBef>
                <a:spcAft>
                  <a:spcPts val="600"/>
                </a:spcAft>
                <a:buNone/>
              </a:pPr>
              <a:r>
                <a:rPr b="0" lang="it" sz="825">
                  <a:solidFill>
                    <a:srgbClr val="94A3B8"/>
                  </a:solidFill>
                  <a:latin typeface="Inter Light"/>
                  <a:ea typeface="Inter Light"/>
                  <a:cs typeface="Inter Light"/>
                  <a:sym typeface="Inter Light"/>
                </a:rPr>
                <a:t>By eliminating complex meshing requirements for viscoelastic flow domains, the model maintains numerical stability and accuracy even in highly non-linear regimes.</a:t>
              </a:r>
              <a:endParaRPr b="0" sz="825">
                <a:solidFill>
                  <a:srgbClr val="94A3B8"/>
                </a:solidFill>
                <a:latin typeface="Inter Light"/>
                <a:ea typeface="Inter Light"/>
                <a:cs typeface="Inter Light"/>
                <a:sym typeface="Inter Light"/>
              </a:endParaRPr>
            </a:p>
          </p:txBody>
        </p:sp>
      </p:grpSp>
      <p:grpSp>
        <p:nvGrpSpPr>
          <p:cNvPr id="1216" name="Google Shape;1216;p70"/>
          <p:cNvGrpSpPr/>
          <p:nvPr/>
        </p:nvGrpSpPr>
        <p:grpSpPr>
          <a:xfrm>
            <a:off x="4714875" y="3000375"/>
            <a:ext cx="4048200" cy="1762200"/>
            <a:chOff x="0" y="0"/>
            <a:chExt cx="4048200" cy="1762200"/>
          </a:xfrm>
        </p:grpSpPr>
        <p:sp>
          <p:nvSpPr>
            <p:cNvPr id="1217" name="Google Shape;1217;p70"/>
            <p:cNvSpPr/>
            <p:nvPr/>
          </p:nvSpPr>
          <p:spPr>
            <a:xfrm>
              <a:off x="0" y="0"/>
              <a:ext cx="4048200" cy="1762200"/>
            </a:xfrm>
            <a:prstGeom prst="roundRect">
              <a:avLst>
                <a:gd fmla="val 2162"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8" name="Google Shape;1218;p70"/>
            <p:cNvSpPr/>
            <p:nvPr/>
          </p:nvSpPr>
          <p:spPr>
            <a:xfrm>
              <a:off x="0" y="0"/>
              <a:ext cx="95400" cy="95400"/>
            </a:xfrm>
            <a:custGeom>
              <a:rect b="b" l="l" r="r" t="t"/>
              <a:pathLst>
                <a:path extrusionOk="0" h="120000" w="120000">
                  <a:moveTo>
                    <a:pt x="0" y="120000"/>
                  </a:moveTo>
                  <a:lnTo>
                    <a:pt x="0" y="0"/>
                  </a:lnTo>
                  <a:lnTo>
                    <a:pt x="120000" y="0"/>
                  </a:lnTo>
                </a:path>
              </a:pathLst>
            </a:custGeom>
            <a:solidFill>
              <a:srgbClr val="000000"/>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9" name="Google Shape;1219;p70"/>
            <p:cNvSpPr txBox="1"/>
            <p:nvPr/>
          </p:nvSpPr>
          <p:spPr>
            <a:xfrm>
              <a:off x="190500" y="171450"/>
              <a:ext cx="36672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t" sz="900">
                  <a:solidFill>
                    <a:srgbClr val="10B981"/>
                  </a:solidFill>
                  <a:latin typeface="Inter Medium"/>
                  <a:ea typeface="Inter Medium"/>
                  <a:cs typeface="Inter Medium"/>
                  <a:sym typeface="Inter Medium"/>
                </a:rPr>
                <a:t>High-Fidelity Prediction Capability</a:t>
              </a:r>
              <a:endParaRPr b="0" sz="900">
                <a:solidFill>
                  <a:srgbClr val="10B981"/>
                </a:solidFill>
                <a:latin typeface="Inter Medium"/>
                <a:ea typeface="Inter Medium"/>
                <a:cs typeface="Inter Medium"/>
                <a:sym typeface="Inter Medium"/>
              </a:endParaRPr>
            </a:p>
            <a:p>
              <a:pPr indent="0" lvl="0" marL="0" rtl="0" algn="l">
                <a:spcBef>
                  <a:spcPts val="600"/>
                </a:spcBef>
                <a:spcAft>
                  <a:spcPts val="0"/>
                </a:spcAft>
                <a:buNone/>
              </a:pPr>
              <a:r>
                <a:rPr b="0" lang="it" sz="1100">
                  <a:solidFill>
                    <a:srgbClr val="F8F9FA"/>
                  </a:solidFill>
                  <a:latin typeface="Inter SemiBold"/>
                  <a:ea typeface="Inter SemiBold"/>
                  <a:cs typeface="Inter SemiBold"/>
                  <a:sym typeface="Inter SemiBold"/>
                </a:rPr>
                <a:t>Non-Linear Stress &amp; Velocity Kinematics</a:t>
              </a:r>
              <a:endParaRPr b="0" sz="1100">
                <a:solidFill>
                  <a:srgbClr val="F8F9FA"/>
                </a:solidFill>
                <a:latin typeface="Inter SemiBold"/>
                <a:ea typeface="Inter SemiBold"/>
                <a:cs typeface="Inter SemiBold"/>
                <a:sym typeface="Inter SemiBold"/>
              </a:endParaRPr>
            </a:p>
            <a:p>
              <a:pPr indent="0" lvl="0" marL="0" rtl="0" algn="l">
                <a:spcBef>
                  <a:spcPts val="800"/>
                </a:spcBef>
                <a:spcAft>
                  <a:spcPts val="0"/>
                </a:spcAft>
                <a:buNone/>
              </a:pPr>
              <a:r>
                <a:rPr b="0" lang="it" sz="825">
                  <a:solidFill>
                    <a:srgbClr val="F8F9FA"/>
                  </a:solidFill>
                  <a:latin typeface="Inter Light"/>
                  <a:ea typeface="Inter Light"/>
                  <a:cs typeface="Inter Light"/>
                  <a:sym typeface="Inter Light"/>
                </a:rPr>
                <a:t>The mesh-free solver achieves high-fidelity predictions of both velocity kinematics and non-linear stress tensors.</a:t>
              </a:r>
              <a:endParaRPr b="0" sz="825">
                <a:solidFill>
                  <a:srgbClr val="F8F9FA"/>
                </a:solidFill>
                <a:latin typeface="Inter Light"/>
                <a:ea typeface="Inter Light"/>
                <a:cs typeface="Inter Light"/>
                <a:sym typeface="Inter Light"/>
              </a:endParaRPr>
            </a:p>
            <a:p>
              <a:pPr indent="0" lvl="0" marL="0" rtl="0" algn="l">
                <a:spcBef>
                  <a:spcPts val="600"/>
                </a:spcBef>
                <a:spcAft>
                  <a:spcPts val="600"/>
                </a:spcAft>
                <a:buNone/>
              </a:pPr>
              <a:r>
                <a:rPr b="0" lang="it" sz="825">
                  <a:solidFill>
                    <a:srgbClr val="94A3B8"/>
                  </a:solidFill>
                  <a:latin typeface="Inter Light"/>
                  <a:ea typeface="Inter Light"/>
                  <a:cs typeface="Inter Light"/>
                  <a:sym typeface="Inter Light"/>
                </a:rPr>
                <a:t>It mitigates the numerical breakdown and steep computational overheads traditionally associated with high elasticity and complex relaxation time behaviors.</a:t>
              </a:r>
              <a:endParaRPr b="0" sz="825">
                <a:solidFill>
                  <a:srgbClr val="94A3B8"/>
                </a:solidFill>
                <a:latin typeface="Inter Light"/>
                <a:ea typeface="Inter Light"/>
                <a:cs typeface="Inter Light"/>
                <a:sym typeface="Inter Light"/>
              </a:endParaRPr>
            </a:p>
          </p:txBody>
        </p:sp>
      </p:grpSp>
      <p:sp>
        <p:nvSpPr>
          <p:cNvPr id="1220" name="Google Shape;1220;p7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4" name="Shape 1224"/>
        <p:cNvGrpSpPr/>
        <p:nvPr/>
      </p:nvGrpSpPr>
      <p:grpSpPr>
        <a:xfrm>
          <a:off x="0" y="0"/>
          <a:ext cx="0" cy="0"/>
          <a:chOff x="0" y="0"/>
          <a:chExt cx="0" cy="0"/>
        </a:xfrm>
      </p:grpSpPr>
      <p:sp>
        <p:nvSpPr>
          <p:cNvPr id="1225" name="Google Shape;1225;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Non so se aggiungere anche questo forse alla fine</a:t>
            </a:r>
            <a:endParaRPr/>
          </a:p>
        </p:txBody>
      </p:sp>
      <p:sp>
        <p:nvSpPr>
          <p:cNvPr id="1226" name="Google Shape;1226;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pSp>
        <p:nvGrpSpPr>
          <p:cNvPr id="1227" name="Google Shape;1227;p71"/>
          <p:cNvGrpSpPr/>
          <p:nvPr/>
        </p:nvGrpSpPr>
        <p:grpSpPr>
          <a:xfrm>
            <a:off x="4572000" y="1028700"/>
            <a:ext cx="4191000" cy="3848100"/>
            <a:chOff x="0" y="0"/>
            <a:chExt cx="4191000" cy="3848100"/>
          </a:xfrm>
        </p:grpSpPr>
        <p:sp>
          <p:nvSpPr>
            <p:cNvPr id="1228" name="Google Shape;1228;p71"/>
            <p:cNvSpPr/>
            <p:nvPr/>
          </p:nvSpPr>
          <p:spPr>
            <a:xfrm>
              <a:off x="0" y="0"/>
              <a:ext cx="4191000" cy="3848100"/>
            </a:xfrm>
            <a:prstGeom prst="roundRect">
              <a:avLst>
                <a:gd fmla="val 1485" name="adj"/>
              </a:avLst>
            </a:prstGeom>
            <a:solidFill>
              <a:srgbClr val="161A20"/>
            </a:solidFill>
            <a:ln cap="flat" cmpd="sng" w="9525">
              <a:solidFill>
                <a:srgbClr val="272D3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9" name="Google Shape;1229;p71"/>
            <p:cNvSpPr/>
            <p:nvPr/>
          </p:nvSpPr>
          <p:spPr>
            <a:xfrm>
              <a:off x="0" y="0"/>
              <a:ext cx="28500" cy="38481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0" name="Google Shape;1230;p71"/>
            <p:cNvSpPr txBox="1"/>
            <p:nvPr/>
          </p:nvSpPr>
          <p:spPr>
            <a:xfrm>
              <a:off x="190500" y="152400"/>
              <a:ext cx="3810000" cy="354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800">
                  <a:solidFill>
                    <a:srgbClr val="8B5CF6"/>
                  </a:solidFill>
                  <a:latin typeface="Inter"/>
                  <a:ea typeface="Inter"/>
                  <a:cs typeface="Inter"/>
                  <a:sym typeface="Inter"/>
                </a:rPr>
                <a:t>COMPUTATIONAL ENGINEERING IMPLICATIONS</a:t>
              </a:r>
              <a:endParaRPr b="1" sz="800">
                <a:solidFill>
                  <a:srgbClr val="8B5CF6"/>
                </a:solidFill>
                <a:latin typeface="Inter"/>
                <a:ea typeface="Inter"/>
                <a:cs typeface="Inter"/>
                <a:sym typeface="Inter"/>
              </a:endParaRPr>
            </a:p>
            <a:p>
              <a:pPr indent="0" lvl="0" marL="0" rtl="0" algn="l">
                <a:spcBef>
                  <a:spcPts val="200"/>
                </a:spcBef>
                <a:spcAft>
                  <a:spcPts val="0"/>
                </a:spcAft>
                <a:buNone/>
              </a:pPr>
              <a:r>
                <a:rPr b="0" lang="it" sz="1100">
                  <a:solidFill>
                    <a:srgbClr val="F8F9FA"/>
                  </a:solidFill>
                  <a:latin typeface="Inter SemiBold"/>
                  <a:ea typeface="Inter SemiBold"/>
                  <a:cs typeface="Inter SemiBold"/>
                  <a:sym typeface="Inter SemiBold"/>
                </a:rPr>
                <a:t>Take-Home Messages &amp; Method Positioning</a:t>
              </a:r>
              <a:endParaRPr b="0" sz="1100">
                <a:solidFill>
                  <a:srgbClr val="F8F9FA"/>
                </a:solidFill>
                <a:latin typeface="Inter SemiBold"/>
                <a:ea typeface="Inter SemiBold"/>
                <a:cs typeface="Inter SemiBold"/>
                <a:sym typeface="Inter SemiBold"/>
              </a:endParaRPr>
            </a:p>
            <a:p>
              <a:pPr indent="0" lvl="0" marL="0" rtl="0" algn="l">
                <a:spcBef>
                  <a:spcPts val="1200"/>
                </a:spcBef>
                <a:spcAft>
                  <a:spcPts val="0"/>
                </a:spcAft>
                <a:buNone/>
              </a:pPr>
              <a:r>
                <a:rPr b="0" lang="it" sz="900">
                  <a:solidFill>
                    <a:srgbClr val="F8F9FA"/>
                  </a:solidFill>
                  <a:latin typeface="Inter SemiBold"/>
                  <a:ea typeface="Inter SemiBold"/>
                  <a:cs typeface="Inter SemiBold"/>
                  <a:sym typeface="Inter SemiBold"/>
                </a:rPr>
                <a:t>Core Strengths</a:t>
              </a:r>
              <a:endParaRPr b="0" sz="900">
                <a:solidFill>
                  <a:srgbClr val="F8F9FA"/>
                </a:solidFill>
                <a:latin typeface="Inter SemiBold"/>
                <a:ea typeface="Inter SemiBold"/>
                <a:cs typeface="Inter SemiBold"/>
                <a:sym typeface="Inter SemiBold"/>
              </a:endParaRPr>
            </a:p>
            <a:p>
              <a:pPr indent="-282575" lvl="0" marL="457200" rtl="0" algn="l">
                <a:spcBef>
                  <a:spcPts val="400"/>
                </a:spcBef>
                <a:spcAft>
                  <a:spcPts val="0"/>
                </a:spcAft>
                <a:buClr>
                  <a:srgbClr val="94A3B8"/>
                </a:buClr>
                <a:buSzPts val="850"/>
                <a:buFont typeface="Inter"/>
                <a:buChar char="●"/>
              </a:pPr>
              <a:r>
                <a:rPr b="1" lang="it" sz="850">
                  <a:solidFill>
                    <a:srgbClr val="94A3B8"/>
                  </a:solidFill>
                  <a:latin typeface="Inter"/>
                  <a:ea typeface="Inter"/>
                  <a:cs typeface="Inter"/>
                  <a:sym typeface="Inter"/>
                </a:rPr>
                <a:t>Ideal for solving </a:t>
              </a:r>
              <a:r>
                <a:rPr b="0" lang="it" sz="850">
                  <a:solidFill>
                    <a:srgbClr val="F8F9FA"/>
                  </a:solidFill>
                  <a:latin typeface="Inter Medium"/>
                  <a:ea typeface="Inter Medium"/>
                  <a:cs typeface="Inter Medium"/>
                  <a:sym typeface="Inter Medium"/>
                </a:rPr>
                <a:t>inverse problems</a:t>
              </a:r>
              <a:r>
                <a:rPr b="1" lang="it" sz="850">
                  <a:solidFill>
                    <a:srgbClr val="94A3B8"/>
                  </a:solidFill>
                  <a:latin typeface="Inter"/>
                  <a:ea typeface="Inter"/>
                  <a:cs typeface="Inter"/>
                  <a:sym typeface="Inter"/>
                </a:rPr>
                <a:t> and parameter identification.</a:t>
              </a:r>
              <a:endParaRPr b="1" sz="850">
                <a:solidFill>
                  <a:srgbClr val="94A3B8"/>
                </a:solidFill>
                <a:latin typeface="Inter"/>
                <a:ea typeface="Inter"/>
                <a:cs typeface="Inter"/>
                <a:sym typeface="Inter"/>
              </a:endParaRPr>
            </a:p>
            <a:p>
              <a:pPr indent="-282575" lvl="0" marL="457200" rtl="0" algn="l">
                <a:spcBef>
                  <a:spcPts val="400"/>
                </a:spcBef>
                <a:spcAft>
                  <a:spcPts val="0"/>
                </a:spcAft>
                <a:buClr>
                  <a:srgbClr val="94A3B8"/>
                </a:buClr>
                <a:buSzPts val="850"/>
                <a:buFont typeface="Inter"/>
                <a:buChar char="●"/>
              </a:pPr>
              <a:r>
                <a:rPr b="1" lang="it" sz="850">
                  <a:solidFill>
                    <a:srgbClr val="94A3B8"/>
                  </a:solidFill>
                  <a:latin typeface="Inter"/>
                  <a:ea typeface="Inter"/>
                  <a:cs typeface="Inter"/>
                  <a:sym typeface="Inter"/>
                </a:rPr>
                <a:t>Seamless </a:t>
              </a:r>
              <a:r>
                <a:rPr b="0" lang="it" sz="850">
                  <a:solidFill>
                    <a:srgbClr val="F8F9FA"/>
                  </a:solidFill>
                  <a:latin typeface="Inter Medium"/>
                  <a:ea typeface="Inter Medium"/>
                  <a:cs typeface="Inter Medium"/>
                  <a:sym typeface="Inter Medium"/>
                </a:rPr>
                <a:t>sparse experimental data assimilation</a:t>
              </a:r>
              <a:r>
                <a:rPr b="1" lang="it" sz="850">
                  <a:solidFill>
                    <a:srgbClr val="94A3B8"/>
                  </a:solidFill>
                  <a:latin typeface="Inter"/>
                  <a:ea typeface="Inter"/>
                  <a:cs typeface="Inter"/>
                  <a:sym typeface="Inter"/>
                </a:rPr>
                <a:t> (e.g., PIV velocity fields).</a:t>
              </a:r>
              <a:endParaRPr b="1" sz="850">
                <a:solidFill>
                  <a:srgbClr val="94A3B8"/>
                </a:solidFill>
                <a:latin typeface="Inter"/>
                <a:ea typeface="Inter"/>
                <a:cs typeface="Inter"/>
                <a:sym typeface="Inter"/>
              </a:endParaRPr>
            </a:p>
            <a:p>
              <a:pPr indent="-282575" lvl="0" marL="457200" rtl="0" algn="l">
                <a:spcBef>
                  <a:spcPts val="400"/>
                </a:spcBef>
                <a:spcAft>
                  <a:spcPts val="0"/>
                </a:spcAft>
                <a:buClr>
                  <a:srgbClr val="94A3B8"/>
                </a:buClr>
                <a:buSzPts val="850"/>
                <a:buFont typeface="Inter"/>
                <a:buChar char="●"/>
              </a:pPr>
              <a:r>
                <a:rPr b="1" lang="it" sz="850">
                  <a:solidFill>
                    <a:srgbClr val="94A3B8"/>
                  </a:solidFill>
                  <a:latin typeface="Inter"/>
                  <a:ea typeface="Inter"/>
                  <a:cs typeface="Inter"/>
                  <a:sym typeface="Inter"/>
                </a:rPr>
                <a:t>Quantifies unmeasurable latent physical variables directly.</a:t>
              </a:r>
              <a:endParaRPr b="1" sz="850">
                <a:solidFill>
                  <a:srgbClr val="94A3B8"/>
                </a:solidFill>
                <a:latin typeface="Inter"/>
                <a:ea typeface="Inter"/>
                <a:cs typeface="Inter"/>
                <a:sym typeface="Inter"/>
              </a:endParaRPr>
            </a:p>
            <a:p>
              <a:pPr indent="0" lvl="0" marL="0" rtl="0" algn="l">
                <a:spcBef>
                  <a:spcPts val="1400"/>
                </a:spcBef>
                <a:spcAft>
                  <a:spcPts val="0"/>
                </a:spcAft>
                <a:buNone/>
              </a:pPr>
              <a:r>
                <a:rPr b="0" lang="it" sz="900">
                  <a:solidFill>
                    <a:srgbClr val="F8F9FA"/>
                  </a:solidFill>
                  <a:latin typeface="Inter SemiBold"/>
                  <a:ea typeface="Inter SemiBold"/>
                  <a:cs typeface="Inter SemiBold"/>
                  <a:sym typeface="Inter SemiBold"/>
                </a:rPr>
                <a:t>Practical CFD Positioning</a:t>
              </a:r>
              <a:endParaRPr b="0" sz="900">
                <a:solidFill>
                  <a:srgbClr val="F8F9FA"/>
                </a:solidFill>
                <a:latin typeface="Inter SemiBold"/>
                <a:ea typeface="Inter SemiBold"/>
                <a:cs typeface="Inter SemiBold"/>
                <a:sym typeface="Inter SemiBold"/>
              </a:endParaRPr>
            </a:p>
            <a:p>
              <a:pPr indent="-282575" lvl="0" marL="457200" rtl="0" algn="l">
                <a:spcBef>
                  <a:spcPts val="400"/>
                </a:spcBef>
                <a:spcAft>
                  <a:spcPts val="0"/>
                </a:spcAft>
                <a:buClr>
                  <a:srgbClr val="94A3B8"/>
                </a:buClr>
                <a:buSzPts val="850"/>
                <a:buFont typeface="Inter"/>
                <a:buChar char="●"/>
              </a:pPr>
              <a:r>
                <a:rPr b="1" lang="it" sz="850">
                  <a:solidFill>
                    <a:srgbClr val="94A3B8"/>
                  </a:solidFill>
                  <a:latin typeface="Inter"/>
                  <a:ea typeface="Inter"/>
                  <a:cs typeface="Inter"/>
                  <a:sym typeface="Inter"/>
                </a:rPr>
                <a:t>Does </a:t>
              </a:r>
              <a:r>
                <a:rPr b="0" lang="it" sz="850">
                  <a:solidFill>
                    <a:srgbClr val="EF4444"/>
                  </a:solidFill>
                  <a:latin typeface="Inter Medium"/>
                  <a:ea typeface="Inter Medium"/>
                  <a:cs typeface="Inter Medium"/>
                  <a:sym typeface="Inter Medium"/>
                </a:rPr>
                <a:t>not</a:t>
              </a:r>
              <a:r>
                <a:rPr b="1" lang="it" sz="850">
                  <a:solidFill>
                    <a:srgbClr val="94A3B8"/>
                  </a:solidFill>
                  <a:latin typeface="Inter"/>
                  <a:ea typeface="Inter"/>
                  <a:cs typeface="Inter"/>
                  <a:sym typeface="Inter"/>
                </a:rPr>
                <a:t> aim to replace mature forward CFD solvers (FVM / FEM) for high-fidelity forward predictions.</a:t>
              </a:r>
              <a:endParaRPr b="1" sz="850">
                <a:solidFill>
                  <a:srgbClr val="94A3B8"/>
                </a:solidFill>
                <a:latin typeface="Inter"/>
                <a:ea typeface="Inter"/>
                <a:cs typeface="Inter"/>
                <a:sym typeface="Inter"/>
              </a:endParaRPr>
            </a:p>
            <a:p>
              <a:pPr indent="-282575" lvl="0" marL="457200" rtl="0" algn="l">
                <a:spcBef>
                  <a:spcPts val="400"/>
                </a:spcBef>
                <a:spcAft>
                  <a:spcPts val="0"/>
                </a:spcAft>
                <a:buClr>
                  <a:srgbClr val="94A3B8"/>
                </a:buClr>
                <a:buSzPts val="850"/>
                <a:buFont typeface="Inter"/>
                <a:buChar char="●"/>
              </a:pPr>
              <a:r>
                <a:rPr b="1" lang="it" sz="850">
                  <a:solidFill>
                    <a:srgbClr val="94A3B8"/>
                  </a:solidFill>
                  <a:latin typeface="Inter"/>
                  <a:ea typeface="Inter"/>
                  <a:cs typeface="Inter"/>
                  <a:sym typeface="Inter"/>
                </a:rPr>
                <a:t>Acts as an integrative framework, </a:t>
              </a:r>
              <a:r>
                <a:rPr b="0" lang="it" sz="850">
                  <a:solidFill>
                    <a:srgbClr val="8B5CF6"/>
                  </a:solidFill>
                  <a:latin typeface="Inter Medium"/>
                  <a:ea typeface="Inter Medium"/>
                  <a:cs typeface="Inter Medium"/>
                  <a:sym typeface="Inter Medium"/>
                </a:rPr>
                <a:t>bridging real experimental data with physical models</a:t>
              </a:r>
              <a:r>
                <a:rPr b="1" lang="it" sz="850">
                  <a:solidFill>
                    <a:srgbClr val="94A3B8"/>
                  </a:solidFill>
                  <a:latin typeface="Inter"/>
                  <a:ea typeface="Inter"/>
                  <a:cs typeface="Inter"/>
                  <a:sym typeface="Inter"/>
                </a:rPr>
                <a:t>.</a:t>
              </a:r>
              <a:endParaRPr b="1" sz="850">
                <a:solidFill>
                  <a:srgbClr val="94A3B8"/>
                </a:solidFill>
                <a:latin typeface="Inter"/>
                <a:ea typeface="Inter"/>
                <a:cs typeface="Inter"/>
                <a:sym typeface="Inter"/>
              </a:endParaRPr>
            </a:p>
            <a:p>
              <a:pPr indent="0" lvl="0" marL="0" rtl="0" algn="ctr">
                <a:spcBef>
                  <a:spcPts val="0"/>
                </a:spcBef>
                <a:spcAft>
                  <a:spcPts val="0"/>
                </a:spcAft>
                <a:buNone/>
              </a:pPr>
              <a:r>
                <a:rPr b="0" lang="it" sz="800">
                  <a:solidFill>
                    <a:srgbClr val="F8F9FA"/>
                  </a:solidFill>
                  <a:highlight>
                    <a:srgbClr val="0B0D10"/>
                  </a:highlight>
                  <a:latin typeface="Inter Medium"/>
                  <a:ea typeface="Inter Medium"/>
                  <a:cs typeface="Inter Medium"/>
                  <a:sym typeface="Inter Medium"/>
                </a:rPr>
                <a:t>Experimental Data (PIV)  +  Physical Laws  ➔  </a:t>
              </a:r>
              <a:r>
                <a:rPr b="1" lang="it" sz="800">
                  <a:solidFill>
                    <a:srgbClr val="10B981"/>
                  </a:solidFill>
                  <a:highlight>
                    <a:srgbClr val="0B0D10"/>
                  </a:highlight>
                  <a:latin typeface="Inter"/>
                  <a:ea typeface="Inter"/>
                  <a:cs typeface="Inter"/>
                  <a:sym typeface="Inter"/>
                </a:rPr>
                <a:t>PINN Integration</a:t>
              </a:r>
              <a:endParaRPr b="0" sz="800">
                <a:solidFill>
                  <a:srgbClr val="F8F9FA"/>
                </a:solidFill>
                <a:highlight>
                  <a:srgbClr val="0B0D10"/>
                </a:highlight>
                <a:latin typeface="Inter Medium"/>
                <a:ea typeface="Inter Medium"/>
                <a:cs typeface="Inter Medium"/>
                <a:sym typeface="Inter Medium"/>
              </a:endParaRPr>
            </a:p>
          </p:txBody>
        </p:sp>
      </p:grpSp>
      <p:sp>
        <p:nvSpPr>
          <p:cNvPr id="1231" name="Google Shape;123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